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this issue ~</a:t>
            </a:r>
          </a:p>
          <a:p>
            <a:r>
              <a:t>tnessages</a:t>
            </a:r>
          </a:p>
          <a:p>
            <a:r>
              <a:t>-~---</a:t>
            </a:r>
          </a:p>
          <a:p>
            <a:r>
              <a:t>ESSAY</a:t>
            </a:r>
          </a:p>
          <a:p>
            <a:r>
              <a:t>That Interactive Thing You Do 3 MESSAGE FROM NACIS'</a:t>
            </a:r>
          </a:p>
          <a:p>
            <a:r>
              <a:t>Mic/we/ P. Peterso11 PRESIDENT</a:t>
            </a:r>
          </a:p>
          <a:p>
            <a:r>
              <a:t>FEATURED ARTICLES It is a pleasure to serve as the 1997-</a:t>
            </a:r>
          </a:p>
          <a:p>
            <a:r>
              <a:t>Beyond Graduated Circles: Varied Point Symbols for 6 98 president of NACIS. No, really,</a:t>
            </a:r>
          </a:p>
          <a:p>
            <a:r>
              <a:t>Representing Quantitative Data on Maps I am serious! (as Dave Barry would</a:t>
            </a:r>
          </a:p>
          <a:p>
            <a:r>
              <a:t>Cy11thia A. Brewer and A11drew /. Campbell say). After well over a decade of</a:t>
            </a:r>
          </a:p>
          <a:p>
            <a:r>
              <a:t>association with the organization,</a:t>
            </a:r>
          </a:p>
          <a:p>
            <a:r>
              <a:t>Animation-Based Map Design: The Visual Effects of 26</a:t>
            </a:r>
          </a:p>
          <a:p>
            <a:r>
              <a:t>serving now and then as a member</a:t>
            </a:r>
          </a:p>
          <a:p>
            <a:r>
              <a:t>Interpolation on the Appearance of Three-Dimensional Surfaces</a:t>
            </a:r>
          </a:p>
          <a:p>
            <a:r>
              <a:t>of the board of directors or the CP</a:t>
            </a:r>
          </a:p>
          <a:p>
            <a:r>
              <a:t>Steplre11 Lm1i11, So11ja Ross11111, a11d Slraw11 R. Slade</a:t>
            </a:r>
          </a:p>
          <a:p>
            <a:r>
              <a:t>editorial board, I finally have the</a:t>
            </a:r>
          </a:p>
          <a:p>
            <a:r>
              <a:t>pleasure of serving as NACIS' vice</a:t>
            </a:r>
          </a:p>
          <a:p>
            <a:r>
              <a:t>Decision-Making with Conflicting Cartographic Information: 35 president and now president. The</a:t>
            </a:r>
          </a:p>
          <a:p>
            <a:r>
              <a:t>The Case of Groundwater Vulnerability Maps</a:t>
            </a:r>
          </a:p>
          <a:p>
            <a:r>
              <a:t>words "pleasure" and "president"</a:t>
            </a:r>
          </a:p>
          <a:p>
            <a:r>
              <a:t>Clwr/es P. Rader and fa 111es O. f anke</a:t>
            </a:r>
          </a:p>
          <a:p>
            <a:r>
              <a:t>are seldom found together in the</a:t>
            </a:r>
          </a:p>
          <a:p>
            <a:r>
              <a:t>same sentence; let me tell you why</a:t>
            </a:r>
          </a:p>
          <a:p>
            <a:r>
              <a:t>REVIEWS I use them together.</a:t>
            </a:r>
          </a:p>
          <a:p>
            <a:r>
              <a:t>The Dartmouth Atlas of Health Care 48</a:t>
            </a:r>
          </a:p>
          <a:p>
            <a:r>
              <a:t>For one thing, I get to deliver</a:t>
            </a:r>
          </a:p>
          <a:p>
            <a:r>
              <a:t>Russell 5. Kirby</a:t>
            </a:r>
          </a:p>
          <a:p>
            <a:r>
              <a:t>some good news to NACIS mem</a:t>
            </a:r>
          </a:p>
          <a:p>
            <a:r>
              <a:t>bers and others with links to</a:t>
            </a:r>
          </a:p>
          <a:p>
            <a:r>
              <a:t>Mapping an Empire: The Geographical Construction of 49 cartography: we have a new editor</a:t>
            </a:r>
          </a:p>
          <a:p>
            <a:r>
              <a:t>British India, 1765-1843</a:t>
            </a:r>
          </a:p>
          <a:p>
            <a:r>
              <a:t>for Cartogrnplric PcrspectitJes. After a</a:t>
            </a:r>
          </a:p>
          <a:p>
            <a:r>
              <a:t>W. Eliznbetli fepson</a:t>
            </a:r>
          </a:p>
          <a:p>
            <a:r>
              <a:t>two-year search and several guest</a:t>
            </a:r>
          </a:p>
          <a:p>
            <a:r>
              <a:t>editors, we found our new editor,</a:t>
            </a:r>
          </a:p>
          <a:p>
            <a:r>
              <a:t>Atlas of Oregon Wildlife: Distribution, Habitat, and Natural 51 Dr. Michael Peterson of the Uni</a:t>
            </a:r>
          </a:p>
          <a:p>
            <a:r>
              <a:t>History versity of Nebraska-Omaha, right</a:t>
            </a:r>
          </a:p>
          <a:p>
            <a:r>
              <a:t>James E. Meacl1m11 at the-head of our own editorial</a:t>
            </a:r>
          </a:p>
          <a:p>
            <a:r>
              <a:t>CARTOGRAPHIC TECHNIQUES 53 (conti1111ed Oil page 61)</a:t>
            </a:r>
          </a:p>
          <a:p>
            <a:r>
              <a:t>MAP LIBRARY BULLETIN BOARD 57</a:t>
            </a:r>
          </a:p>
          <a:p>
            <a:r>
              <a:t>NEW NACIS WEB SITE</a:t>
            </a:r>
          </a:p>
          <a:p>
            <a:r>
              <a:t>NACISNEWS 59</a:t>
            </a:r>
          </a:p>
          <a:p>
            <a:r>
              <a:t>www. nacis.org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cartographic perspectives</a:t>
            </a:r>
          </a:p>
          <a:p>
            <a:r>
              <a:t>journal of the</a:t>
            </a:r>
          </a:p>
          <a:p>
            <a:r>
              <a:t>North American Cartographic Information Society</a:t>
            </a:r>
          </a:p>
          <a:p>
            <a:r>
              <a:t>Editor Hook Rcuic&lt;t' [ditor i\!111p Library H11/lcti11 Hc111nl</a:t>
            </a:r>
          </a:p>
          <a:p>
            <a:r>
              <a:t>Dr. Miclwel P. Peterson Joanne M. Perry [di/or</a:t>
            </a:r>
          </a:p>
          <a:p>
            <a:r>
              <a:t>Dept. of Geography &amp; Ceo logy Map Librarian Melissa L.amont</a:t>
            </a:r>
          </a:p>
          <a:p>
            <a:r>
              <a:t>Universitv of \Jebraska-Omaha Information Services Data Libran·</a:t>
            </a:r>
          </a:p>
          <a:p>
            <a:r>
              <a:t>Omaha, NE 68182-0199 Oregon State University l'vlclean I .,1boratorv</a:t>
            </a:r>
          </a:p>
          <a:p>
            <a:r>
              <a:t>(4 02) 554-4805 121 Tlw Valley Library Woods Hole ( kL•anographic</a:t>
            </a:r>
          </a:p>
          <a:p>
            <a:r>
              <a:t>fax: (402) 554-3518 Corvallis, OR 97:Bl-4501 Institution</a:t>
            </a:r>
          </a:p>
          <a:p>
            <a:r>
              <a:t>email: geolib@n-vis.unomaha.edu (541)737-2971 fax: (541 )737-3433 WHO! \fail Stop 8</a:t>
            </a:r>
          </a:p>
          <a:p>
            <a:r>
              <a:t>perryj@ccmai l .orst .ed u Woods Holl', MA 02:143</a:t>
            </a:r>
          </a:p>
          <a:p>
            <a:r>
              <a:t>Assist1111t Editor (508)289-3396 fax: (508)457-2183</a:t>
            </a:r>
          </a:p>
          <a:p>
            <a:r>
              <a:t>Tames R. Anderson, Jr. Cartogmpltic Tcclt11iq11c~ Editor mlamont@whoi.edu</a:t>
            </a:r>
          </a:p>
          <a:p>
            <a:r>
              <a:t>FREAC James E. Meaclrnm</a:t>
            </a:r>
          </a:p>
          <a:p>
            <a:r>
              <a:t>Florida State University Director, lnfoGraphics Lab</a:t>
            </a:r>
          </a:p>
          <a:p>
            <a:r>
              <a:t>Tallahassee, FL 32306-2641 Departnwnt of Geography ISSN I 048-9085</a:t>
            </a:r>
          </a:p>
          <a:p>
            <a:r>
              <a:t>(850) 644-2883 Cnivcrsity of Oregon Cartographic f'erspecti Vl'S</a:t>
            </a:r>
          </a:p>
          <a:p>
            <a:r>
              <a:t>fax: (850) 644-7360 Eugene, OR 97403-1251 is pub Ii slwd t ri an nu a 11 ~·</a:t>
            </a:r>
          </a:p>
          <a:p>
            <a:r>
              <a:t>e-mail: jandcrso@maikr.fsu.edu (541 )346-4870 fax: (541 )346-2067</a:t>
            </a:r>
          </a:p>
          <a:p>
            <a:r>
              <a:t>jmeacham@tiregon.uoregon.edu</a:t>
            </a:r>
          </a:p>
          <a:p>
            <a:r>
              <a:t>about the cover</a:t>
            </a:r>
          </a:p>
          <a:p>
            <a:r>
              <a:t>Cartographic Perspectives</a:t>
            </a:r>
          </a:p>
          <a:p>
            <a:r>
              <a:t>EDITORIAL BOARD</a:t>
            </a:r>
          </a:p>
          <a:p>
            <a:r>
              <a:t>Barbara Buttenfield Jim Merchant</a:t>
            </a:r>
          </a:p>
          <a:p>
            <a:r>
              <a:t>University of Colorado Univ. of Nebraska -Lincoln</a:t>
            </a:r>
          </a:p>
          <a:p>
            <a:r>
              <a:t>About the Cover:</a:t>
            </a:r>
          </a:p>
          <a:p>
            <a:r>
              <a:t>Gregory Chu Mark Monmonier</a:t>
            </a:r>
          </a:p>
          <a:p>
            <a:r>
              <a:t>Univ. of Wisconsin -La Crosse Syracuse University The cover was designed by James</a:t>
            </a:r>
          </a:p>
          <a:p>
            <a:r>
              <a:t>Swanson using Adobe Photoshop on a</a:t>
            </a:r>
          </a:p>
          <a:p>
            <a:r>
              <a:t>Power Macintosh. James is currently</a:t>
            </a:r>
          </a:p>
          <a:p>
            <a:r>
              <a:t>Jeremy Crampton Judy Olson</a:t>
            </a:r>
          </a:p>
          <a:p>
            <a:r>
              <a:t>finishing his master's degree at the</a:t>
            </a:r>
          </a:p>
          <a:p>
            <a:r>
              <a:t>George Mason University Michigan State University</a:t>
            </a:r>
          </a:p>
          <a:p>
            <a:r>
              <a:t>University of Nebraska at Omaha. His</a:t>
            </a:r>
          </a:p>
          <a:p>
            <a:r>
              <a:t>thesis concerns the cartographic</a:t>
            </a:r>
          </a:p>
          <a:p>
            <a:r>
              <a:t>Borden Dent Jeffrey Patton applications of the Virtual Reality</a:t>
            </a:r>
          </a:p>
          <a:p>
            <a:r>
              <a:t>Georgia State University Univ. of N. Carolina -Greensboro Modeling Language (VRML). VRML is</a:t>
            </a:r>
          </a:p>
          <a:p>
            <a:r>
              <a:t>the Internet standard for the description</a:t>
            </a:r>
          </a:p>
          <a:p>
            <a:r>
              <a:t>of interactive 30 objects and scenes.</a:t>
            </a:r>
          </a:p>
          <a:p>
            <a:r>
              <a:t>Scott Freundschuh Joe Poracsky Across the top of the cover, a series</a:t>
            </a:r>
          </a:p>
          <a:p>
            <a:r>
              <a:t>Univ. of Minnesota -Duluth Portland State University of prism maps show the change in US</a:t>
            </a:r>
          </a:p>
          <a:p>
            <a:r>
              <a:t>income per capita from 1948 to 1970. In</a:t>
            </a:r>
          </a:p>
          <a:p>
            <a:r>
              <a:t>the lower-right is a wire-frame of the</a:t>
            </a:r>
          </a:p>
          <a:p>
            <a:r>
              <a:t>Melissa Lamont Ren Va siliev</a:t>
            </a:r>
          </a:p>
          <a:p>
            <a:r>
              <a:t>extruded states from the VRML map.</a:t>
            </a:r>
          </a:p>
          <a:p>
            <a:r>
              <a:t>Woods Hole Oceanographic State Univ. of New York College The stripe down the middle of the page</a:t>
            </a:r>
          </a:p>
          <a:p>
            <a:r>
              <a:t>Institution at Geneseo represents a binary data stream with</a:t>
            </a:r>
          </a:p>
          <a:p>
            <a:r>
              <a:t>ones and zeroes. Towards the bottom</a:t>
            </a:r>
          </a:p>
          <a:p>
            <a:r>
              <a:t>I</a:t>
            </a:r>
          </a:p>
          <a:p>
            <a:r>
              <a:t>I left is a portion of the source code for the</a:t>
            </a:r>
          </a:p>
          <a:p>
            <a:r>
              <a:t>Matthew McGranagha11 Carolyn Weiss VRML map. Th.is VRML 'world' can be</a:t>
            </a:r>
          </a:p>
          <a:p>
            <a:r>
              <a:t>University of Hawaii -Manoa Statistics Canada accessed at</a:t>
            </a:r>
          </a:p>
          <a:p>
            <a:r>
              <a:t>----- http:/ / osprey.itd.sterling.com I vrml. J</a:t>
            </a:r>
          </a:p>
          <a:p>
            <a:r>
              <a:t>--- ---- -------- ----- --- - - - ~ J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cartographic perspectives 3</a:t>
            </a:r>
          </a:p>
          <a:p>
            <a:r>
              <a:t>essay</a:t>
            </a:r>
          </a:p>
          <a:p>
            <a:r>
              <a:t>That Interactive Thing You Do</a:t>
            </a:r>
          </a:p>
          <a:p>
            <a:r>
              <a:t>The incorporation of interaction in the display of maps may be viewed Michael P Peterson</a:t>
            </a:r>
          </a:p>
          <a:p>
            <a:r>
              <a:t>as a major accomplishment of the computer-era in cartography.</a:t>
            </a:r>
          </a:p>
          <a:p>
            <a:r>
              <a:t>Dept. of Geography/Geology</a:t>
            </a:r>
          </a:p>
          <a:p>
            <a:r>
              <a:t>Certainly, interaction has pervaded all forms of mapping, whether it is</a:t>
            </a:r>
          </a:p>
          <a:p>
            <a:r>
              <a:t>Univ. of Nebraska at Omaha</a:t>
            </a:r>
          </a:p>
          <a:p>
            <a:r>
              <a:t>with a database of a geographic information system, a multimedia atlas on</a:t>
            </a:r>
          </a:p>
          <a:p>
            <a:r>
              <a:t>a CD-RO:vt:, or street maps on the World Wide Web. A characteristic Omaha, NE 68182</a:t>
            </a:r>
          </a:p>
          <a:p>
            <a:r>
              <a:t>shared by all of these forms of mapping is the control that the user has</a:t>
            </a:r>
          </a:p>
          <a:p>
            <a:r>
              <a:t>over the resultant map.</a:t>
            </a:r>
          </a:p>
          <a:p>
            <a:r>
              <a:t>However, interactivity is not new in cartography. In fact, it may be as</a:t>
            </a:r>
          </a:p>
          <a:p>
            <a:r>
              <a:t>old as cartography itself. While \.Ve don't know when the first map was</a:t>
            </a:r>
          </a:p>
          <a:p>
            <a:r>
              <a:t>made, it was very likely a product of an interaction between two individu</a:t>
            </a:r>
          </a:p>
          <a:p>
            <a:r>
              <a:t>als. It may have been much like the "paper-napkin map" of today-the</a:t>
            </a:r>
          </a:p>
          <a:p>
            <a:r>
              <a:t>kind of map that is drawn on any piece of scrap paper when words fail as</a:t>
            </a:r>
          </a:p>
          <a:p>
            <a:r>
              <a:t>one tries to explain where something is located. A common characteristic</a:t>
            </a:r>
          </a:p>
          <a:p>
            <a:r>
              <a:t>of these maps is that the person for whom the map is being made will ask</a:t>
            </a:r>
          </a:p>
          <a:p>
            <a:r>
              <a:t>questions that affect how the map is drawn. For example, the person</a:t>
            </a:r>
          </a:p>
          <a:p>
            <a:r>
              <a:t>might ask where a particular landmark is located to provide a point of</a:t>
            </a:r>
          </a:p>
          <a:p>
            <a:r>
              <a:t>reference. The map becomes a product of interaction when the maker of</a:t>
            </a:r>
          </a:p>
          <a:p>
            <a:r>
              <a:t>the map includes the landmark. It is likely that the first map was a product</a:t>
            </a:r>
          </a:p>
          <a:p>
            <a:r>
              <a:t>of this type of interaction.</a:t>
            </a:r>
          </a:p>
          <a:p>
            <a:r>
              <a:t>If the first maps were interactive, what does this mean about cartogra</a:t>
            </a:r>
          </a:p>
          <a:p>
            <a:r>
              <a:t>phy now? One way to answer this is to view the progression of cartogra</a:t>
            </a:r>
          </a:p>
          <a:p>
            <a:r>
              <a:t>phy in three stages. The initial maps were interactive, perhaps drawn in</a:t>
            </a:r>
          </a:p>
          <a:p>
            <a:r>
              <a:t>sand \Vith a stick. A major shift occurred long ago as a more stable me</a:t>
            </a:r>
          </a:p>
          <a:p>
            <a:r>
              <a:t>dium was used and maps were transformed into static objects, first on clay</a:t>
            </a:r>
          </a:p>
          <a:p>
            <a:r>
              <a:t>and later on paper. This was an important transition because it made the</a:t>
            </a:r>
          </a:p>
          <a:p>
            <a:r>
              <a:t>communication of spatial information possible without the mapmaker</a:t>
            </a:r>
          </a:p>
          <a:p>
            <a:r>
              <a:t>having to be present. However, it removed the interactive component.</a:t>
            </a:r>
          </a:p>
          <a:p>
            <a:r>
              <a:t>With the help of GIS, multimedia and the web, cartography, now in its</a:t>
            </a:r>
          </a:p>
          <a:p>
            <a:r>
              <a:t>third stage, is becoming interactive again.</a:t>
            </a:r>
          </a:p>
          <a:p>
            <a:r>
              <a:t>The first and third stages are both interactive, but differ in how the</a:t>
            </a:r>
          </a:p>
          <a:p>
            <a:r>
              <a:t>interaction is achieved - human vs. computer. What do we call the inter</a:t>
            </a:r>
          </a:p>
          <a:p>
            <a:r>
              <a:t>vening period? In geology, the time period in which we live is commonly</a:t>
            </a:r>
          </a:p>
          <a:p>
            <a:r>
              <a:t>referred to as an "interglacial," i.e., the time between major glacial events.</a:t>
            </a:r>
          </a:p>
          <a:p>
            <a:r>
              <a:t>In a similar sense, cartography may be seen as having been in an</a:t>
            </a:r>
          </a:p>
          <a:p>
            <a:r>
              <a:t>"interinteractive" period - a period when static maps were the norm. The</a:t>
            </a:r>
          </a:p>
          <a:p>
            <a:r>
              <a:t>ice is still melting from this period.</a:t>
            </a:r>
          </a:p>
          <a:p>
            <a:r>
              <a:t>The transition to interactive maps is a difficult one for those accus</a:t>
            </a:r>
          </a:p>
          <a:p>
            <a:r>
              <a:t>tomed to static representations. A "paper-thinking" envelopes us. It is a</a:t>
            </a:r>
          </a:p>
          <a:p>
            <a:r>
              <a:t>type of thinking that is difficult to overcome because we have been</a:t>
            </a:r>
          </a:p>
          <a:p>
            <a:r>
              <a:t>influenced by static maps for such a long period. It is the way we think</a:t>
            </a:r>
          </a:p>
          <a:p>
            <a:r>
              <a:t>maps should be. It is the way we have come to know the world.</a:t>
            </a:r>
          </a:p>
          <a:p>
            <a:r>
              <a:t>We should remember that while we have adapted to static maps, many</a:t>
            </a:r>
          </a:p>
          <a:p>
            <a:r>
              <a:t>people have not. A large percentage of the population cannot effectively</a:t>
            </a:r>
          </a:p>
          <a:p>
            <a:r>
              <a:t>use these maps. They apparently do not find that the information is</a:t>
            </a:r>
          </a:p>
          <a:p>
            <a:r>
              <a:t>presented in a usable form. The one million daily hits on interactive</a:t>
            </a:r>
          </a:p>
          <a:p>
            <a:r>
              <a:t>mapping services like MapQuest are an indication that interactive maps</a:t>
            </a:r>
          </a:p>
          <a:p>
            <a:r>
              <a:t>are much more accessible to many people. While we might criticize the</a:t>
            </a:r>
          </a:p>
          <a:p>
            <a:r>
              <a:t>poor graphic quality of these maps, people seem to use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 cartographic perspectives Number 29, Winter 1998</a:t>
            </a:r>
          </a:p>
          <a:p>
            <a:r>
              <a:t>How can interactive maps be made better? A conversation is a good</a:t>
            </a:r>
          </a:p>
          <a:p>
            <a:r>
              <a:t>metaphor to use in understanding what interaction means with a map. An</a:t>
            </a:r>
          </a:p>
          <a:p>
            <a:r>
              <a:t>important aspect of a good conversation is that each participant responds</a:t>
            </a:r>
          </a:p>
          <a:p>
            <a:r>
              <a:t>in some way to what the other has said. A bad conversation is character</a:t>
            </a:r>
          </a:p>
          <a:p>
            <a:r>
              <a:t>ized by no response, a response that has nothing to do with the topic of the</a:t>
            </a:r>
          </a:p>
          <a:p>
            <a:r>
              <a:t>conversation, or does not relate to the previous point that was made.</a:t>
            </a:r>
          </a:p>
          <a:p>
            <a:r>
              <a:t>An additional and important aspect of a conversation is that each</a:t>
            </a:r>
          </a:p>
          <a:p>
            <a:r>
              <a:t>participant is building up a database of what the other has said. The</a:t>
            </a:r>
          </a:p>
          <a:p>
            <a:r>
              <a:t>database can be fairly sophisticated at times. For example, I can remember</a:t>
            </a:r>
          </a:p>
          <a:p>
            <a:r>
              <a:t>stories that people have told me several years ago (although they have</a:t>
            </a:r>
          </a:p>
          <a:p>
            <a:r>
              <a:t>sometimes forgotten that they have already told me these stories -a flaw</a:t>
            </a:r>
          </a:p>
          <a:p>
            <a:r>
              <a:t>in their 'who-have-I-told-this-to' database). We have not reached this</a:t>
            </a:r>
          </a:p>
          <a:p>
            <a:r>
              <a:t>stage of sophistication in interactive cartography. The system rarely</a:t>
            </a:r>
          </a:p>
          <a:p>
            <a:r>
              <a:t>remembers what it has already shown. (The closest we get to this is the</a:t>
            </a:r>
          </a:p>
          <a:p>
            <a:r>
              <a:t>short-term caching structure of a World Wide Web browser.)</a:t>
            </a:r>
          </a:p>
          <a:p>
            <a:r>
              <a:t>Viewed in the perspective of a conversation, the type of interaction that</a:t>
            </a:r>
          </a:p>
          <a:p>
            <a:r>
              <a:t>we have with maps on the computer is simplistic. It is somewhat like</a:t>
            </a:r>
          </a:p>
          <a:p>
            <a:r>
              <a:t>talking to a person for the first time over and over again. There is no</a:t>
            </a:r>
          </a:p>
          <a:p>
            <a:r>
              <a:t>database of the interaction. The computer doesn't remember anything.</a:t>
            </a:r>
          </a:p>
          <a:p>
            <a:r>
              <a:t>Because it doesn't remember, it cannot raise the sophistication of the</a:t>
            </a:r>
          </a:p>
          <a:p>
            <a:r>
              <a:t>interaction.</a:t>
            </a:r>
          </a:p>
          <a:p>
            <a:r>
              <a:t>Perhaps the conversational form of interaction with maps is not we</a:t>
            </a:r>
          </a:p>
          <a:p>
            <a:r>
              <a:t>want. Imagine if the computer responded with messages like:</a:t>
            </a:r>
          </a:p>
          <a:p>
            <a:r>
              <a:t>• I've made this map for you before!</a:t>
            </a:r>
          </a:p>
          <a:p>
            <a:r>
              <a:t>• Don't you remember where that feature is located!</a:t>
            </a:r>
          </a:p>
          <a:p>
            <a:r>
              <a:t>• Can we move to a more intelligent level of interaction, please?</a:t>
            </a:r>
          </a:p>
          <a:p>
            <a:r>
              <a:t>We apparently prefer a more shallovv form of interaction with the</a:t>
            </a:r>
          </a:p>
          <a:p>
            <a:r>
              <a:t>computer. Perhaps we want to maintain the status of a master. We cer</a:t>
            </a:r>
          </a:p>
          <a:p>
            <a:r>
              <a:t>tainly don't want the computer to challenge us as another person might</a:t>
            </a:r>
          </a:p>
          <a:p>
            <a:r>
              <a:t>do.</a:t>
            </a:r>
          </a:p>
          <a:p>
            <a:r>
              <a:t>Some computer games incorporate varying levels of sophistication.</a:t>
            </a:r>
          </a:p>
          <a:p>
            <a:r>
              <a:t>They adapt to a particular user and move them forward to more compli</a:t>
            </a:r>
          </a:p>
          <a:p>
            <a:r>
              <a:t>cated tasks with rewards along the way. This, and the very high level of</a:t>
            </a:r>
          </a:p>
          <a:p>
            <a:r>
              <a:t>interaction that characterizes these games, maintain the interest of the</a:t>
            </a:r>
          </a:p>
          <a:p>
            <a:r>
              <a:t>user. The user is made to feel part of the game. The interactive map can</a:t>
            </a:r>
          </a:p>
          <a:p>
            <a:r>
              <a:t>create the same feeling on the part of the user.</a:t>
            </a:r>
          </a:p>
          <a:p>
            <a:r>
              <a:t>How far we have come from that first interactive map? It might be said</a:t>
            </a:r>
          </a:p>
          <a:p>
            <a:r>
              <a:t>that with all of our computers and technology, we still cannot simulate the</a:t>
            </a:r>
          </a:p>
          <a:p>
            <a:r>
              <a:t>interaction in a "paper-napkin" map. We may be making more accurate</a:t>
            </a:r>
          </a:p>
          <a:p>
            <a:r>
              <a:t>maps and maps that are the result of greater analytical thought, but they</a:t>
            </a:r>
          </a:p>
          <a:p>
            <a:r>
              <a:t>may not be as interactive as that first map in the sand.</a:t>
            </a:r>
          </a:p>
          <a:p>
            <a:r>
              <a:t>Contact for information</a:t>
            </a:r>
          </a:p>
          <a:p>
            <a:r>
              <a:t>concerning:</a:t>
            </a:r>
          </a:p>
          <a:p>
            <a:r>
              <a:t>The Society NACIS XVIII Program Poster Session</a:t>
            </a:r>
          </a:p>
          <a:p>
            <a:r>
              <a:t>North American Cartogaphic Cynthia Brewer Donna Schenstrom</a:t>
            </a:r>
          </a:p>
          <a:p>
            <a:r>
              <a:t>Information Society Department of Geography Dept. of Geography</a:t>
            </a:r>
          </a:p>
          <a:p>
            <a:r>
              <a:t>AGS Collection, P.O. 399 302 Walker Building Univ. of Wisconsin-Milwaukee</a:t>
            </a:r>
          </a:p>
          <a:p>
            <a:r>
              <a:t>Milwaukee, WI 53201 Pennsylvania State Univ. Milwaukee, WI 53201</a:t>
            </a:r>
          </a:p>
          <a:p>
            <a:r>
              <a:t>voke: 414-229-6282 University Park, PA 16802 voice: 414-229-4865</a:t>
            </a:r>
          </a:p>
          <a:p>
            <a:r>
              <a:t>voice: 800-558-8993 voice: 814-865-5072 fax: 414-229-3981</a:t>
            </a:r>
          </a:p>
          <a:p>
            <a:r>
              <a:t>fax: 414-229-3624 fax: 814-863-7943 dgs@uwm.edu</a:t>
            </a:r>
          </a:p>
          <a:p>
            <a:r>
              <a:t>cmb@uwm.edu c brewer@essc.psu.edu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cartographic perspectives 5</a:t>
            </a:r>
          </a:p>
          <a:p>
            <a:r>
              <a:t>The NACIS Program Committee invites you to participate in this</a:t>
            </a:r>
          </a:p>
          <a:p>
            <a:r>
              <a:t>meeting by presenting a paper, poster or exhibit. Plan to organize a</a:t>
            </a:r>
          </a:p>
          <a:p>
            <a:r>
              <a:t>session, panel discussion, or workshop. A full range of computing</a:t>
            </a:r>
          </a:p>
          <a:p>
            <a:r>
              <a:t>facilities at the University of Wisconsin-Milwaukee will be available</a:t>
            </a:r>
          </a:p>
          <a:p>
            <a:r>
              <a:t>for workshops. We look. forward to featuring the current challenges</a:t>
            </a:r>
          </a:p>
          <a:p>
            <a:r>
              <a:t>confronting map librarians and cartographers.</a:t>
            </a:r>
          </a:p>
          <a:p>
            <a:r>
              <a:t>Potential topics include:</a:t>
            </a:r>
          </a:p>
          <a:p>
            <a:r>
              <a:t>handling digital map-library data</a:t>
            </a:r>
          </a:p>
          <a:p>
            <a:r>
              <a:t>-7</a:t>
            </a:r>
          </a:p>
          <a:p>
            <a:r>
              <a:t>compiling metadata</a:t>
            </a:r>
          </a:p>
          <a:p>
            <a:r>
              <a:t>-7</a:t>
            </a:r>
          </a:p>
          <a:p>
            <a:r>
              <a:t>managing the practical constraints of budgets</a:t>
            </a:r>
          </a:p>
          <a:p>
            <a:r>
              <a:t>-7</a:t>
            </a:r>
          </a:p>
          <a:p>
            <a:r>
              <a:t>-7 exploring data using visualization &amp; virtual</a:t>
            </a:r>
          </a:p>
          <a:p>
            <a:r>
              <a:t>XVIII reality</a:t>
            </a:r>
          </a:p>
          <a:p>
            <a:r>
              <a:t>integrating diverse data sources for map</a:t>
            </a:r>
          </a:p>
          <a:p>
            <a:r>
              <a:t>ANNUAL MEETING -7</a:t>
            </a:r>
          </a:p>
          <a:p>
            <a:r>
              <a:t>production</a:t>
            </a:r>
          </a:p>
          <a:p>
            <a:r>
              <a:t>marketing cartography services</a:t>
            </a:r>
          </a:p>
          <a:p>
            <a:r>
              <a:t>-7</a:t>
            </a:r>
          </a:p>
          <a:p>
            <a:r>
              <a:t>developing educational materials</a:t>
            </a:r>
          </a:p>
          <a:p>
            <a:r>
              <a:t>-7</a:t>
            </a:r>
          </a:p>
          <a:p>
            <a:r>
              <a:t>We also encourage presentations that will complement the sympo</a:t>
            </a:r>
          </a:p>
          <a:p>
            <a:r>
              <a:t>NORTH</a:t>
            </a:r>
          </a:p>
          <a:p>
            <a:r>
              <a:t>sium Maps a11d Mi11ds: A History of Cartography i11 Geography</a:t>
            </a:r>
          </a:p>
          <a:p>
            <a:r>
              <a:t>Ed11catio11, which has been organized by the Hermon Dunlap Smith</a:t>
            </a:r>
          </a:p>
          <a:p>
            <a:r>
              <a:t>Center for the History of Cartography, :\lewberry Library. This</a:t>
            </a:r>
          </a:p>
          <a:p>
            <a:r>
              <a:t>AMERICAN</a:t>
            </a:r>
          </a:p>
          <a:p>
            <a:r>
              <a:t>symposium is co-sponsored by NACIS and will be held in</a:t>
            </a:r>
          </a:p>
          <a:p>
            <a:r>
              <a:t>Milwaukee on Wednesday, October 7. To continue themes from the</a:t>
            </a:r>
          </a:p>
          <a:p>
            <a:r>
              <a:t>CARTOGRAPHIC symposium at l'\ACIS, we welcome presentations on maps in</a:t>
            </a:r>
          </a:p>
          <a:p>
            <a:r>
              <a:t>education and on cartographic education from historical, current</a:t>
            </a:r>
          </a:p>
          <a:p>
            <a:r>
              <a:t>and speculative perspectives. Challenges that reflect the practical</a:t>
            </a:r>
          </a:p>
          <a:p>
            <a:r>
              <a:t>INFORMATION side of this topic include production of maps for educational media</a:t>
            </a:r>
          </a:p>
          <a:p>
            <a:r>
              <a:t>and collaboration with authors. Topics on maps and society will</a:t>
            </a:r>
          </a:p>
          <a:p>
            <a:r>
              <a:t>also mesh with the symposium themes.</a:t>
            </a:r>
          </a:p>
          <a:p>
            <a:r>
              <a:t>SOCIETY</a:t>
            </a:r>
          </a:p>
          <a:p>
            <a:r>
              <a:t>Email your 250-word abstract or proposal to the program chair,</a:t>
            </a:r>
          </a:p>
          <a:p>
            <a:r>
              <a:t>Cynthia Brewer, by May 1. List names and affiliations of all authors,</a:t>
            </a:r>
          </a:p>
          <a:p>
            <a:r>
              <a:t>and include phone and email for the presenting author. We encour</a:t>
            </a:r>
          </a:p>
          <a:p>
            <a:r>
              <a:t>age student participation.</a:t>
            </a:r>
          </a:p>
          <a:p>
            <a:r>
              <a:t>Email proposals and abstracts to:</a:t>
            </a:r>
          </a:p>
          <a:p>
            <a:r>
              <a:t>7-10, 1998 cb rewer@essc.ps u.edu</a:t>
            </a:r>
          </a:p>
          <a:p>
            <a:r>
              <a:t>OCTOBER</a:t>
            </a:r>
          </a:p>
          <a:p>
            <a:r>
              <a:t>The deadline is May 1 (Space may still be</a:t>
            </a:r>
          </a:p>
          <a:p>
            <a:r>
              <a:t>available after the deadline).</a:t>
            </a:r>
          </a:p>
          <a:p>
            <a:r>
              <a:t>MILWAUKEE,</a:t>
            </a:r>
          </a:p>
          <a:p>
            <a:r>
              <a:t>Participants will be notified by June 15, 1998,</a:t>
            </a:r>
          </a:p>
          <a:p>
            <a:r>
              <a:t>WISCONSIN</a:t>
            </a:r>
          </a:p>
          <a:p>
            <a:r>
              <a:t>of acceptance of their abstract or proposal.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 cartographic perspectives Number 29, Winter 1998</a:t>
            </a:r>
          </a:p>
          <a:p>
            <a:r>
              <a:t>Beyond Graduated Circles:</a:t>
            </a:r>
          </a:p>
          <a:p>
            <a:r>
              <a:t>Varied Point Symbols for Representing</a:t>
            </a:r>
          </a:p>
          <a:p>
            <a:r>
              <a:t>Quantitative Data on Maps</a:t>
            </a:r>
          </a:p>
          <a:p>
            <a:r>
              <a:t>Cynthia A. Brewer</a:t>
            </a:r>
          </a:p>
          <a:p>
            <a:r>
              <a:t>Graduated point symbols are viewed as an appropriate choice for many</a:t>
            </a:r>
          </a:p>
          <a:p>
            <a:r>
              <a:t>Department of Geography thematic maps of data associated with point locations. Areal quantitative</a:t>
            </a:r>
          </a:p>
          <a:p>
            <a:r>
              <a:t>data, reported by such enumeration units as countries, are frequently</a:t>
            </a:r>
          </a:p>
          <a:p>
            <a:r>
              <a:t>Pe11nsylz1a11ia State University</a:t>
            </a:r>
          </a:p>
          <a:p>
            <a:r>
              <a:t>presented with choropleth maps but are also well suited to point symbol</a:t>
            </a:r>
          </a:p>
          <a:p>
            <a:r>
              <a:t>U11iversity Park, PA 16802</a:t>
            </a:r>
          </a:p>
          <a:p>
            <a:r>
              <a:t>representations. Our objective is to provide an ordered set of examples</a:t>
            </a:r>
          </a:p>
          <a:p>
            <a:r>
              <a:t>of the many point-symbol forms used on maps by showing symbols with</a:t>
            </a:r>
          </a:p>
          <a:p>
            <a:r>
              <a:t>Andrew J. Campbell linear, areal, and volumetric scaling on repeated small maps of the same</a:t>
            </a:r>
          </a:p>
          <a:p>
            <a:r>
              <a:t>Vance Air Force Base data set. Bivariate point symbols are also demonstrated with emphasis</a:t>
            </a:r>
          </a:p>
          <a:p>
            <a:r>
              <a:t>on the distinction between symbols appropriate for comparison (sepa</a:t>
            </a:r>
          </a:p>
          <a:p>
            <a:r>
              <a:t>E11id, OK 73705</a:t>
            </a:r>
          </a:p>
          <a:p>
            <a:r>
              <a:t>rate symbols) and those appropriate for proportional relationships</a:t>
            </a:r>
          </a:p>
          <a:p>
            <a:r>
              <a:t>(segmented symbols). In this paper, the variety of point symbol use is</a:t>
            </a:r>
          </a:p>
          <a:p>
            <a:r>
              <a:t>described, organized, and encourage, as is research on these varied</a:t>
            </a:r>
          </a:p>
          <a:p>
            <a:r>
              <a:t>symbols and their multivariate forms.</a:t>
            </a:r>
          </a:p>
          <a:p>
            <a:r>
              <a:t>INTRODUCTION M uch cartographic research has been conducted on apparent-value</a:t>
            </a:r>
          </a:p>
          <a:p>
            <a:r>
              <a:t>scaling and perceptions of graduated point symbols. However,</a:t>
            </a:r>
          </a:p>
          <a:p>
            <a:r>
              <a:t>discussion of practical subjective elements of point symbol design and</a:t>
            </a:r>
          </a:p>
          <a:p>
            <a:r>
              <a:t>construction is limited, especially for the wide variety of point symbols for</a:t>
            </a:r>
          </a:p>
          <a:p>
            <a:r>
              <a:t>representing multivariate relationships that are now feasible with modern</a:t>
            </a:r>
          </a:p>
          <a:p>
            <a:r>
              <a:t>computing and output. The primary purpose of the paper is to suggest</a:t>
            </a:r>
          </a:p>
          <a:p>
            <a:r>
              <a:t>innovative graduated symbol designs and to examine useful combinations</a:t>
            </a:r>
          </a:p>
          <a:p>
            <a:r>
              <a:t>for comparing variables and representing proportional relationships. This</a:t>
            </a:r>
          </a:p>
          <a:p>
            <a:r>
              <a:t>paper was inspired by the bivariate symbol designs of hundreds of</a:t>
            </a:r>
          </a:p>
          <a:p>
            <a:r>
              <a:t>students that have taken introductory cartography courses with Cindy</a:t>
            </a:r>
          </a:p>
          <a:p>
            <a:r>
              <a:t>Brewer (at San Diego State and Penn State). These students have been</a:t>
            </a:r>
          </a:p>
          <a:p>
            <a:r>
              <a:t>creative and thoughtful in the many ways they have found to represent</a:t>
            </a:r>
          </a:p>
          <a:p>
            <a:r>
              <a:t>multivariate map data, with few choosing the old standby of graduated</a:t>
            </a:r>
          </a:p>
          <a:p>
            <a:r>
              <a:t>circles when given the flexible design capabilities of the illustration</a:t>
            </a:r>
          </a:p>
          <a:p>
            <a:r>
              <a:t>software.</a:t>
            </a:r>
          </a:p>
          <a:p>
            <a:r>
              <a:t>". .. graduated point symbols Although thematic atlases have long made use of a wide variety of</a:t>
            </a:r>
          </a:p>
          <a:p>
            <a:r>
              <a:t>were the most co111111on point symbols, cartography textbooks emphasize use of graduated circles.</a:t>
            </a:r>
          </a:p>
          <a:p>
            <a:r>
              <a:t>quantitative sy111bolizntio11 Mersey (1996) surveyed the qualitative and quantitative point symbols</a:t>
            </a:r>
          </a:p>
          <a:p>
            <a:r>
              <a:t>used in eight recently published atlases and found that graduated point</a:t>
            </a:r>
          </a:p>
          <a:p>
            <a:r>
              <a:t>choice."</a:t>
            </a:r>
          </a:p>
          <a:p>
            <a:r>
              <a:t>symbols were the most common quantitative symbolization choice (36</a:t>
            </a:r>
          </a:p>
          <a:p>
            <a:r>
              <a:t>percent; \·vi th 59 percent of 36 being circles or sectored circles). In compari</a:t>
            </a:r>
          </a:p>
          <a:p>
            <a:r>
              <a:t>son, choropleth maps were used for 24 percent of the quantitative repre</a:t>
            </a:r>
          </a:p>
          <a:p>
            <a:r>
              <a:t>sentations. Mersey notes that, despite the prevalence of point symbol</a:t>
            </a:r>
          </a:p>
          <a:p>
            <a:r>
              <a:t>mapping, choropleth maps are the mainstay of most microcomputer</a:t>
            </a:r>
          </a:p>
          <a:p>
            <a:r>
              <a:t>bascd GIS programs. All of the 13 she reviewed offered choropleth map</a:t>
            </a:r>
          </a:p>
          <a:p>
            <a:r>
              <a:t>ping, with four of the 13 not able to produce graduated symbol representa</a:t>
            </a:r>
          </a:p>
          <a:p>
            <a:r>
              <a:t>tions. Muehrcke (1996), citing Abler (1987), refers to choropleth mapping</a:t>
            </a:r>
          </a:p>
          <a:p>
            <a:r>
              <a:t>as "a cartographic abomination that GIS will sv:iftly kill off" (p. 272) and</a:t>
            </a:r>
          </a:p>
          <a:p>
            <a:r>
              <a:t>then bemoans its continued use. Although GIS has enabled production of</a:t>
            </a:r>
          </a:p>
          <a:p>
            <a:r>
              <a:t>more sophisticated representations, it has also made it easier (for far more</a:t>
            </a:r>
          </a:p>
          <a:p>
            <a:r>
              <a:t>people) to produce choropleth maps as well.</a:t>
            </a:r>
          </a:p>
          <a:p>
            <a:r>
              <a:t>Cartograms and dasymetric mapping offer alternatives to choropleth</a:t>
            </a:r>
          </a:p>
          <a:p>
            <a:r>
              <a:t>mapping, but here the more popular point symbol representations will be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7</a:t>
            </a:r>
          </a:p>
          <a:p>
            <a:r>
              <a:t>examined. Point symbols are appropriate for quantitative data at point</a:t>
            </a:r>
          </a:p>
          <a:p>
            <a:r>
              <a:t>locations and for areal units. They are not affected by the physical size of</a:t>
            </a:r>
          </a:p>
          <a:p>
            <a:r>
              <a:t>enumeration units (large units produce large symbols on choropleth</a:t>
            </a:r>
          </a:p>
          <a:p>
            <a:r>
              <a:t>maps) and can be used to illustrate a spatial distribution while maintain</a:t>
            </a:r>
          </a:p>
          <a:p>
            <a:r>
              <a:t>ing recognizable geographic boundaries (unlike contiguous cartograms).</a:t>
            </a:r>
          </a:p>
          <a:p>
            <a:r>
              <a:t>Widely spaced point symbols in regions of large enumeration units (such</a:t>
            </a:r>
          </a:p>
          <a:p>
            <a:r>
              <a:t>as counties of the western U.S.) produce the appropriate sense of sparse</a:t>
            </a:r>
          </a:p>
          <a:p>
            <a:r>
              <a:t>data and they contrast well with dense clusters of symbols in areas of</a:t>
            </a:r>
          </a:p>
          <a:p>
            <a:r>
              <a:t>small units (such as eastern U.S. counties). Thus, point symbols preserve</a:t>
            </a:r>
          </a:p>
          <a:p>
            <a:r>
              <a:t>the spatial structure of the entire map without the problems associated</a:t>
            </a:r>
          </a:p>
          <a:p>
            <a:r>
              <a:t>vv·ith choropleth maps or cartograms.</a:t>
            </a:r>
          </a:p>
          <a:p>
            <a:r>
              <a:t>The paper begins with a review of literature on graduated symbols to</a:t>
            </a:r>
          </a:p>
          <a:p>
            <a:r>
              <a:t>update the reader on this long research tradition in cartography and</a:t>
            </a:r>
          </a:p>
          <a:p>
            <a:r>
              <a:t>psychology. The remainder of the paper is devoted to a description of the</a:t>
            </a:r>
          </a:p>
          <a:p>
            <a:r>
              <a:t>v&lt;iriety of symbol designs possible and the nuances in symbol designs that</a:t>
            </a:r>
          </a:p>
          <a:p>
            <a:r>
              <a:t>make them appropriate for different types of bi\'ariate map data. A wide</a:t>
            </a:r>
          </a:p>
          <a:p>
            <a:r>
              <a:t>\'ariety of symbols are illustrated with the hope that these examples •.vill</a:t>
            </a:r>
          </a:p>
          <a:p>
            <a:r>
              <a:t>inspire and encourage the authors of maps and GIS displavs to produce a</a:t>
            </a:r>
          </a:p>
          <a:p>
            <a:r>
              <a:t>wider ,·ariety of engaging and enlightening data displays well-suited to</a:t>
            </a:r>
          </a:p>
          <a:p>
            <a:r>
              <a:t>communicating and exploring their geographic information.</a:t>
            </a:r>
          </a:p>
          <a:p>
            <a:r>
              <a:t>Psychopl1ysicnl Study of Grad1wted Circles LITERATURE REVIEW</a:t>
            </a:r>
          </a:p>
          <a:p>
            <a:r>
              <a:t>Apparent-\·alue scaling and graduated circles ha,·e received a great deal of</a:t>
            </a:r>
          </a:p>
          <a:p>
            <a:r>
              <a:t>attention from cartographic researchers. The circle was, and still is, the</a:t>
            </a:r>
          </a:p>
          <a:p>
            <a:r>
              <a:t>most widely used graduated point symbol. Flannery's 1956 and 1971 '"·ork</a:t>
            </a:r>
          </a:p>
          <a:p>
            <a:r>
              <a:t>firmly established apparent-value scaling as a topic of research and</a:t>
            </a:r>
          </a:p>
          <a:p>
            <a:r>
              <a:t>discussion for the cartographic community.</a:t>
            </a:r>
          </a:p>
          <a:p>
            <a:r>
              <a:t>Co' (1976) concluded that apparent \'alue sc,1ling " ... turned out to be</a:t>
            </a:r>
          </a:p>
          <a:p>
            <a:r>
              <a:t>inadequate as a remedy for the underestimation of symbol size ratios" (p.</a:t>
            </a:r>
          </a:p>
          <a:p>
            <a:r>
              <a:t>73). His research examined legend construction and anchor effects associ</a:t>
            </a:r>
          </a:p>
          <a:p>
            <a:r>
              <a:t>ated with circle and square size estimation. He found that using a legend</a:t>
            </a:r>
          </a:p>
          <a:p>
            <a:r>
              <a:t>containing a small, mid-size, and large symbol (relative to the mapped</a:t>
            </a:r>
          </a:p>
          <a:p>
            <a:r>
              <a:t>data) led to the most accurate estimates. His findings supported Dobson</a:t>
            </a:r>
          </a:p>
          <a:p>
            <a:r>
              <a:t>( 197.+ ), who stated "a review of psychophysical research on proportional "Appnrrnt-value scnli11g and</a:t>
            </a:r>
          </a:p>
          <a:p>
            <a:r>
              <a:t>circle symbols indicates that readers can interpolate between circle sizes</a:t>
            </a:r>
          </a:p>
          <a:p>
            <a:r>
              <a:t>graduated circles /rnpe received a</a:t>
            </a:r>
          </a:p>
          <a:p>
            <a:r>
              <a:t>but that extrapolation is quite difficult" (p. 53). Chang (!977) confirmed</a:t>
            </a:r>
          </a:p>
          <a:p>
            <a:r>
              <a:t>great deal of atte11tio11 fro111</a:t>
            </a:r>
          </a:p>
          <a:p>
            <a:r>
              <a:t>Co,'s findings with the results of a similar study comparing size estima</a:t>
            </a:r>
          </a:p>
          <a:p>
            <a:r>
              <a:t>tion using ratio and magnitude estimation methods. cartographic researchers."</a:t>
            </a:r>
          </a:p>
          <a:p>
            <a:r>
              <a:t>Macmillan et al. (197-1), Teghtsoonian (1965), Maddock and Crassini</a:t>
            </a:r>
          </a:p>
          <a:p>
            <a:r>
              <a:t>(1980), and Shortridge and Welch (1980) examined the effects of the</a:t>
            </a:r>
          </a:p>
          <a:p>
            <a:r>
              <a:t>specific wording of the request that subjects estimate circle magnitudes.</a:t>
            </a:r>
          </a:p>
          <a:p>
            <a:r>
              <a:t>The latter three e'periments were not entirely applicable to cartography</a:t>
            </a:r>
          </a:p>
          <a:p>
            <a:r>
              <a:t>because the standard for comparison needed to be remembered when</a:t>
            </a:r>
          </a:p>
          <a:p>
            <a:r>
              <a:t>estimations were made; \·vhereas normally the "standard'' would be</a:t>
            </a:r>
          </a:p>
          <a:p>
            <a:r>
              <a:t>simultaneously available in a map legend . .\.1acmillan et al. tested the use</a:t>
            </a:r>
          </a:p>
          <a:p>
            <a:r>
              <a:t>of instructions to subjects with a standard present during estimations.</a:t>
            </a:r>
          </a:p>
          <a:p>
            <a:r>
              <a:t>They found that instructions for use of a fitting strategy improved the</a:t>
            </a:r>
          </a:p>
          <a:p>
            <a:r>
              <a:t>accuracy of subjects' size judgments.</a:t>
            </a:r>
          </a:p>
          <a:p>
            <a:r>
              <a:t>By the mid-1980s, authors became increasingly skeptical about the</a:t>
            </a:r>
          </a:p>
          <a:p>
            <a:r>
              <a:t>usefulness of apparent-value scaling and shifted research away from</a:t>
            </a:r>
          </a:p>
          <a:p>
            <a:r>
              <a:t>correction by exponent. Griffin (1985) was particularly critical of its</a:t>
            </a:r>
          </a:p>
          <a:p>
            <a:r>
              <a:t>usefulness, stating:</a:t>
            </a:r>
          </a:p>
          <a:p>
            <a:r>
              <a:t>Perceptual rescaling may ha,·e merits for particular types of map user,</a:t>
            </a:r>
          </a:p>
          <a:p>
            <a:r>
              <a:t>or for the generation of immediate visual impressions, though both</a:t>
            </a:r>
          </a:p>
          <a:p>
            <a:r>
              <a:t>cases remain to be proven. Such rescaling pl&lt;1ces increased demands 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 cartographic perspectives Number 29, Winter 1998</a:t>
            </a:r>
          </a:p>
          <a:p>
            <a:r>
              <a:t>map space and, in the experimental context, promotes an increase in</a:t>
            </a:r>
          </a:p>
          <a:p>
            <a:r>
              <a:t>the variability of subject responses. (p. 35)</a:t>
            </a:r>
          </a:p>
          <a:p>
            <a:r>
              <a:t>In analyzing intra-versus inter-subject variation in circle size estima</a:t>
            </a:r>
          </a:p>
          <a:p>
            <a:r>
              <a:t>tion, Griffin pointed out the ineffectiveness of apparent-value scaling for</a:t>
            </a:r>
          </a:p>
          <a:p>
            <a:r>
              <a:t>increasing the estimation accuracy of subjects who performed poorly. He</a:t>
            </a:r>
          </a:p>
          <a:p>
            <a:r>
              <a:t>also noted that apparent-value scaling impaired those subjects whose</a:t>
            </a:r>
          </a:p>
          <a:p>
            <a:r>
              <a:t>estimates were most accurate. In contrast to Griffin's results, Olson's</a:t>
            </a:r>
          </a:p>
          <a:p>
            <a:r>
              <a:t>(1975) earlier work with circle-size and dot-density estimation examined</a:t>
            </a:r>
          </a:p>
          <a:p>
            <a:r>
              <a:t>the interaction between apparent-value scaling and training in the form of</a:t>
            </a:r>
          </a:p>
          <a:p>
            <a:r>
              <a:t>practice and feedback about correct answers (for commentary see Will</a:t>
            </a:r>
          </a:p>
          <a:p>
            <a:r>
              <a:t>iams, 1977, and Olson, 1978). She concluded that the combination im</a:t>
            </a:r>
          </a:p>
          <a:p>
            <a:r>
              <a:t>proves both the accuracy and dispersion of subject estimates, unlike</a:t>
            </a:r>
          </a:p>
          <a:p>
            <a:r>
              <a:t>results for either scaling or training alone. Assuming that a map legend</a:t>
            </a:r>
          </a:p>
          <a:p>
            <a:r>
              <a:t>functions as training in a limited way by providing example sizes with</a:t>
            </a:r>
          </a:p>
          <a:p>
            <a:r>
              <a:t>associated data values, apparent-value scaling may produce improvement</a:t>
            </a:r>
          </a:p>
          <a:p>
            <a:r>
              <a:t>in graduated-circle estimation for complete map-reading contexts that is</a:t>
            </a:r>
          </a:p>
          <a:p>
            <a:r>
              <a:t>not seen in simpler experimental contexts.</a:t>
            </a:r>
          </a:p>
          <a:p>
            <a:r>
              <a:t>Interactive and animated mapping facilitates examination of multiple</a:t>
            </a:r>
          </a:p>
          <a:p>
            <a:r>
              <a:t>symbol scalings. Slocum and Yoder (1996) described student use of Visual</a:t>
            </a:r>
          </a:p>
          <a:p>
            <a:r>
              <a:t>Basic to animate series of graduated-circle maps. One approach was to</a:t>
            </a:r>
          </a:p>
          <a:p>
            <a:r>
              <a:t>permit interactive selection of scaling values from square-root areal</a:t>
            </a:r>
          </a:p>
          <a:p>
            <a:r>
              <a:t>scaling to linear scaling of diameters, which enhanced spatial pattern by</a:t>
            </a:r>
          </a:p>
          <a:p>
            <a:r>
              <a:t>greatly exaggerating relative circle areas.</a:t>
            </a:r>
          </a:p>
          <a:p>
            <a:r>
              <a:t>Heino (1991) noted that graded rather than graduated symbols may be</a:t>
            </a:r>
          </a:p>
          <a:p>
            <a:r>
              <a:t>the best method of displaying quantitative data on a map. Heino argued</a:t>
            </a:r>
          </a:p>
          <a:p>
            <a:r>
              <a:t>that since graduated point symbols were meant as visual abstractions,</a:t>
            </a:r>
          </a:p>
          <a:p>
            <a:r>
              <a:t>graded symbols sufficiently convey the intended message without creating</a:t>
            </a:r>
          </a:p>
          <a:p>
            <a:r>
              <a:t>the problems associated with graduated symbol perception. Dent (1996)</a:t>
            </a:r>
          </a:p>
          <a:p>
            <a:r>
              <a:t>also discussed range-graded circles in his textbook. His discussion in</a:t>
            </a:r>
          </a:p>
          <a:p>
            <a:r>
              <a:t>cluded Meihoefer's (1969) ten circle sizes that were "consistently discrimi</a:t>
            </a:r>
          </a:p>
          <a:p>
            <a:r>
              <a:t>nated by his subjects" (Dent, p. 174) as well as his own untested set of</a:t>
            </a:r>
          </a:p>
          <a:p>
            <a:r>
              <a:t>graded circles. Similarly, Monmonier ( 1977) recommended a regression</a:t>
            </a:r>
          </a:p>
          <a:p>
            <a:r>
              <a:t>based method of circle scaling intended to improve visual correlations</a:t>
            </a:r>
          </a:p>
          <a:p>
            <a:r>
              <a:t>between maps by essentially imposing a shared minimum and maximum</a:t>
            </a:r>
          </a:p>
          <a:p>
            <a:r>
              <a:t>circle size on the data representations of two (or more) maps to be com</a:t>
            </a:r>
          </a:p>
          <a:p>
            <a:r>
              <a:t>pared. His approach to scaling permitted accurate value estimations from</a:t>
            </a:r>
          </a:p>
          <a:p>
            <a:r>
              <a:t>legend examples, but correct size ratios between symbols were not main</a:t>
            </a:r>
          </a:p>
          <a:p>
            <a:r>
              <a:t>tained.</a:t>
            </a:r>
          </a:p>
          <a:p>
            <a:r>
              <a:t>This shift in research away from apparent scaling was supported by</a:t>
            </a:r>
          </a:p>
          <a:p>
            <a:r>
              <a:t>authors such as Worth (1989) who discussed, as Flannery had, some of the</a:t>
            </a:r>
          </a:p>
          <a:p>
            <a:r>
              <a:t>problems with approaching cartographic research as a pure science. He</a:t>
            </a:r>
          </a:p>
          <a:p>
            <a:r>
              <a:t>noted that much cartographic research borrows from psychology because</a:t>
            </a:r>
          </a:p>
          <a:p>
            <a:r>
              <a:t>both fields are highly subjective, and stated that, "By their very nature,</a:t>
            </a:r>
          </a:p>
          <a:p>
            <a:r>
              <a:t>experimental tests in cartography must involve many subjective decisions,</a:t>
            </a:r>
          </a:p>
          <a:p>
            <a:r>
              <a:t>and although we must do our best to apply the scientific method, subjec</a:t>
            </a:r>
          </a:p>
          <a:p>
            <a:r>
              <a:t>". .. 111uch psychophysical study</a:t>
            </a:r>
          </a:p>
          <a:p>
            <a:r>
              <a:t>tivity will always be invoh·ed" (p. 152).</a:t>
            </a:r>
          </a:p>
          <a:p>
            <a:r>
              <a:t>eliminates spatial structllre</a:t>
            </a:r>
          </a:p>
          <a:p>
            <a:r>
              <a:t>Petchenik (1983) offered an in-depth discussion of cartographic research</a:t>
            </a:r>
          </a:p>
          <a:p>
            <a:r>
              <a:t>from our perception of thematic</a:t>
            </a:r>
          </a:p>
          <a:p>
            <a:r>
              <a:t>and the problems associated with limiting ourselves to psychophysical</a:t>
            </a:r>
          </a:p>
          <a:p>
            <a:r>
              <a:t>figures .. . " study. She explained that much psychophysical study eliminates spatial</a:t>
            </a:r>
          </a:p>
          <a:p>
            <a:r>
              <a:t>structure from our perception of thematic figures, and quoted Chang</a:t>
            </a:r>
          </a:p>
          <a:p>
            <a:r>
              <a:t>(1980) who stated, "The stimulus-response relationship for circles is fairly</a:t>
            </a:r>
          </a:p>
          <a:p>
            <a:r>
              <a:t>complex, and any correction in map design based on one psychophysical</a:t>
            </a:r>
          </a:p>
          <a:p>
            <a:r>
              <a:t>study alone is of limited value, especially given the incomparability</a:t>
            </a:r>
          </a:p>
          <a:p>
            <a:r>
              <a:t>between the conditions of the experiment and of real map use" (p. 161 ).</a:t>
            </a:r>
          </a:p>
          <a:p>
            <a:r>
              <a:t>There have been calls for more cognitive research to counter the limita-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9</a:t>
            </a:r>
          </a:p>
          <a:p>
            <a:r>
              <a:t>tions of psychophysical research in cartography (Olson 1979; Fraczek</a:t>
            </a:r>
          </a:p>
          <a:p>
            <a:r>
              <a:t>1984), and Gilmartin (1981a) discussed the inextricable link between</a:t>
            </a:r>
          </a:p>
          <a:p>
            <a:r>
              <a:t>cognitive and psychophysical study. Peterson (1985, 1987) examined</a:t>
            </a:r>
          </a:p>
          <a:p>
            <a:r>
              <a:t>mental images of maps and comparison of pattterns on point symbol</a:t>
            </a:r>
          </a:p>
          <a:p>
            <a:r>
              <a:t>maps, rather than comparison of symbols. MacEachren's How Maps Work</a:t>
            </a:r>
          </a:p>
          <a:p>
            <a:r>
              <a:t>(1995) is a current, in-depth analysis of human cognitive processes used to</a:t>
            </a:r>
          </a:p>
          <a:p>
            <a:r>
              <a:t>understand map symbols and map patterns.</a:t>
            </a:r>
          </a:p>
          <a:p>
            <a:r>
              <a:t>Beyond Circle Size Estimation</a:t>
            </a:r>
          </a:p>
          <a:p>
            <a:r>
              <a:t>Groop and Cole (1978) studied the relative effectiveness of cut-out</a:t>
            </a:r>
          </a:p>
          <a:p>
            <a:r>
              <a:t>versus overlapping graduated circles, since many graduated circle maps</a:t>
            </a:r>
          </a:p>
          <a:p>
            <a:r>
              <a:t>include dense clusters of circles. Their analysis showed that estimation</a:t>
            </a:r>
          </a:p>
          <a:p>
            <a:r>
              <a:t>errors associated with cut-out circles were significantly greater than those</a:t>
            </a:r>
          </a:p>
          <a:p>
            <a:r>
              <a:t>associated \vi th overlapping circles. Cut-out circles are seldom used today</a:t>
            </a:r>
          </a:p>
          <a:p>
            <a:r>
              <a:t>because of the ease of constructing overlapping circles with the computer.</a:t>
            </a:r>
          </a:p>
          <a:p>
            <a:r>
              <a:t>However, Dent (1996) noted that they "add a three-dimensional (plastic)</a:t>
            </a:r>
          </a:p>
          <a:p>
            <a:r>
              <a:t>quality to the map" (p. 177). Groop and Cole also questioned the effects of</a:t>
            </a:r>
          </a:p>
          <a:p>
            <a:r>
              <a:t>clustering on the accuracy of size estimation. Gilmartin (198lb) found that</a:t>
            </a:r>
          </a:p>
          <a:p>
            <a:r>
              <a:t>circle size estimation was affected by neighboring circles and that the</a:t>
            </a:r>
          </a:p>
          <a:p>
            <a:r>
              <a:t>effect can be minimized by including intervening linework such as bound</a:t>
            </a:r>
          </a:p>
          <a:p>
            <a:r>
              <a:t>aries separating enumeration units. Dent noted the current lack of a</a:t>
            </a:r>
          </a:p>
          <a:p>
            <a:r>
              <a:t>solution to this problem.</a:t>
            </a:r>
          </a:p>
          <a:p>
            <a:r>
              <a:t>Researchers have examined the effects of both lightness and hue on</a:t>
            </a:r>
          </a:p>
          <a:p>
            <a:r>
              <a:t>symbol-size estimation. Meihoefer (1973) studied the effect of transparent,</a:t>
            </a:r>
          </a:p>
          <a:p>
            <a:r>
              <a:t>gray, and black circles on size estimation with his l 969 set of graded</a:t>
            </a:r>
          </a:p>
          <a:p>
            <a:r>
              <a:t>circles. He found no difference in subject perception with these three fill</a:t>
            </a:r>
          </a:p>
          <a:p>
            <a:r>
              <a:t>variations. Crawford (1971) concluded that the perception of circle size</a:t>
            </a:r>
          </a:p>
          <a:p>
            <a:r>
              <a:t>was the same whether the circles were represented in black or gray. Patton</a:t>
            </a:r>
          </a:p>
          <a:p>
            <a:r>
              <a:t>and Slocum (1985) conducted a study to assess the effect that aesthetic use</a:t>
            </a:r>
          </a:p>
          <a:p>
            <a:r>
              <a:t>of color had on pattern recall of graduated circles. Lindenberg (1986)</a:t>
            </a:r>
          </a:p>
          <a:p>
            <a:r>
              <a:t>examined the effect of color on size estimation for graduated circles.</a:t>
            </a:r>
          </a:p>
          <a:p>
            <a:r>
              <a:t>Neither Patton and Slocum nor Lindenberg found differences associated</a:t>
            </a:r>
          </a:p>
          <a:p>
            <a:r>
              <a:t>with color, substantiating Meihoefer's and Crawford's studies. In contrast,</a:t>
            </a:r>
          </a:p>
          <a:p>
            <a:r>
              <a:t>Williams (1956) found small differences in size estimates between colored</a:t>
            </a:r>
          </a:p>
          <a:p>
            <a:r>
              <a:t>symbols (circles, squares, triangles) and black symbols of the same size,</a:t>
            </a:r>
          </a:p>
          <a:p>
            <a:r>
              <a:t>with the largest difference of six percent between equivalent yellow and</a:t>
            </a:r>
          </a:p>
          <a:p>
            <a:r>
              <a:t>black symbols.</a:t>
            </a:r>
          </a:p>
          <a:p>
            <a:r>
              <a:t>Griffin (] 990) recognized the increase in cognitive study of graduated</a:t>
            </a:r>
          </a:p>
          <a:p>
            <a:r>
              <a:t>symbol use, but suggested continued research using the stimulus-response</a:t>
            </a:r>
          </a:p>
          <a:p>
            <a:r>
              <a:t>" .. . color vnrintio11 wns shown</a:t>
            </a:r>
          </a:p>
          <a:p>
            <a:r>
              <a:t>approach. He investigated visual contrast between graduated circles and</a:t>
            </a:r>
          </a:p>
          <a:p>
            <a:r>
              <a:t>to have 110 effect 011 size</a:t>
            </a:r>
          </a:p>
          <a:p>
            <a:r>
              <a:t>their map background, user preference for opaque versus transparent</a:t>
            </a:r>
          </a:p>
          <a:p>
            <a:r>
              <a:t>estimation."</a:t>
            </a:r>
          </a:p>
          <a:p>
            <a:r>
              <a:t>circles, and the effect of varying circle fill color on size estimation. His</a:t>
            </a:r>
          </a:p>
          <a:p>
            <a:r>
              <a:t>subjects disliked a white fill most and showed a strong preference for</a:t>
            </a:r>
          </a:p>
          <a:p>
            <a:r>
              <a:t>black figures. Preference results for opacity depended on a subject's</a:t>
            </a:r>
          </a:p>
          <a:p>
            <a:r>
              <a:t>preference for clarity of the figure or detail of the background. As in</a:t>
            </a:r>
          </a:p>
          <a:p>
            <a:r>
              <a:t>Crawford (1971), Meihoefer (1973), Patton and Slocum (1985), and</a:t>
            </a:r>
          </a:p>
          <a:p>
            <a:r>
              <a:t>Lindenberg ( 1986), color variation was shmvn to have no effect on size</a:t>
            </a:r>
          </a:p>
          <a:p>
            <a:r>
              <a:t>estimation.</a:t>
            </a:r>
          </a:p>
          <a:p>
            <a:r>
              <a:t>Comparisons ofT ypes of Graduated Symbols</a:t>
            </a:r>
          </a:p>
          <a:p>
            <a:r>
              <a:t>Unfortunately, little has been written by cartographers comparing the</a:t>
            </a:r>
          </a:p>
          <a:p>
            <a:r>
              <a:t>relative usefulness of different types of graduated point symbols. This lack</a:t>
            </a:r>
          </a:p>
          <a:p>
            <a:r>
              <a:t>stems, in part, from the historical difficulty of manually constructing</a:t>
            </a:r>
          </a:p>
          <a:p>
            <a:r>
              <a:t>graduated symbols. Graduated circles were versatile and easy to construct</a:t>
            </a:r>
          </a:p>
          <a:p>
            <a:r>
              <a:t>through both manual and automated means, and have, therefore, received</a:t>
            </a:r>
          </a:p>
          <a:p>
            <a:r>
              <a:t>greater attention. In addition, few researchers have investigated the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 cartographic perspectives Number 29, Winter 1998</a:t>
            </a:r>
          </a:p>
          <a:p>
            <a:r>
              <a:t>representation of comparison and proportional relationships within</a:t>
            </a:r>
          </a:p>
          <a:p>
            <a:r>
              <a:t>multivariate graduated symbols.</a:t>
            </a:r>
          </a:p>
          <a:p>
            <a:r>
              <a:t>In 1926, Eells examined "The Relative Merits of Circles and Bars for</a:t>
            </a:r>
          </a:p>
          <a:p>
            <a:r>
              <a:t>Representing Component Parts." He noted commonly held criticisms of</a:t>
            </a:r>
          </a:p>
          <a:p>
            <a:r>
              <a:t>using circles to illustrate component parts (what we refer to as propor</a:t>
            </a:r>
          </a:p>
          <a:p>
            <a:r>
              <a:t>tional relationships) including: difficulty in rapid and accurate estimation</a:t>
            </a:r>
          </a:p>
          <a:p>
            <a:r>
              <a:t>of values, inaccuracy of estimation due to their areal nature, and the</a:t>
            </a:r>
          </a:p>
          <a:p>
            <a:r>
              <a:t>suggestion that "while their popularity and psychological appeal are</a:t>
            </a:r>
          </a:p>
          <a:p>
            <a:r>
              <a:t>grudgingly admitted their use is 'an insult to man's intelligence'" (p. 122).</a:t>
            </a:r>
          </a:p>
          <a:p>
            <a:r>
              <a:t>However, Eells' study concluded that circle diagrams divided into compo</a:t>
            </a:r>
          </a:p>
          <a:p>
            <a:r>
              <a:t>"while their popularity and nent parts were easily and accurately read, that accuracy increased with</a:t>
            </a:r>
          </a:p>
          <a:p>
            <a:r>
              <a:t>the number of subdivisions of circles but decreased for subdivided bars,</a:t>
            </a:r>
          </a:p>
          <a:p>
            <a:r>
              <a:t>psychological nppeal are</a:t>
            </a:r>
          </a:p>
          <a:p>
            <a:r>
              <a:t>and that the use of circle diagrams was "worthy of encouragement" (p.</a:t>
            </a:r>
          </a:p>
          <a:p>
            <a:r>
              <a:t>grudgingly ndmitted their use is</a:t>
            </a:r>
          </a:p>
          <a:p>
            <a:r>
              <a:t>132). Croxton and Stryker's 1927 follow-up study supported Eells's</a:t>
            </a:r>
          </a:p>
          <a:p>
            <a:r>
              <a:t>'rm insult to mnn 's findings and suggested that for illustrating 25, 50, and 75 percent relation</a:t>
            </a:r>
          </a:p>
          <a:p>
            <a:r>
              <a:t>intelligence'" ships, circles worked significantly better than bars. Croxton and Stein</a:t>
            </a:r>
          </a:p>
          <a:p>
            <a:r>
              <a:t>(1932) further examined the accuracy of size estimates using bars, squares,</a:t>
            </a:r>
          </a:p>
          <a:p>
            <a:r>
              <a:t>circles, and cubes. They concluded that scaled bars yielded more accurate</a:t>
            </a:r>
          </a:p>
          <a:p>
            <a:r>
              <a:t>results compared to area or volume symbols. Furthermore, they found</a:t>
            </a:r>
          </a:p>
          <a:p>
            <a:r>
              <a:t>that performance with both circles and squares was better than with cubes.</a:t>
            </a:r>
          </a:p>
          <a:p>
            <a:r>
              <a:t>Their study supported the commonly held belief that the fewer dimen</a:t>
            </a:r>
          </a:p>
          <a:p>
            <a:r>
              <a:t>sions a graduated symbol possesses, the more accurately its size is esti</a:t>
            </a:r>
          </a:p>
          <a:p>
            <a:r>
              <a:t>mated (a general rule strongly supported by Cleveland, 1985, p. 254).</a:t>
            </a:r>
          </a:p>
          <a:p>
            <a:r>
              <a:t>Neither Croxton's studies nor Eells' study was performed in a carto</a:t>
            </a:r>
          </a:p>
          <a:p>
            <a:r>
              <a:t>graphic context. Their results offered basic comparisons of graduated</a:t>
            </a:r>
          </a:p>
          <a:p>
            <a:r>
              <a:t>symbols without the complications of spatially registered data.</a:t>
            </a:r>
          </a:p>
          <a:p>
            <a:r>
              <a:t>Clarke (1959) examined the relative accuracy of size estimation for lines,</a:t>
            </a:r>
          </a:p>
          <a:p>
            <a:r>
              <a:t>circles, squares, spheres, and cubes. His data ~ere collected using three</a:t>
            </a:r>
          </a:p>
          <a:p>
            <a:r>
              <a:t>symbol sizes in each trial. Subjects were asked to estimate the sizes of the</a:t>
            </a:r>
          </a:p>
          <a:p>
            <a:r>
              <a:t>small and large symbols using a middle-size symbol. Greater errors in</a:t>
            </a:r>
          </a:p>
          <a:p>
            <a:r>
              <a:t>estimations of size occurred as the number of dimensions increased and as</a:t>
            </a:r>
          </a:p>
          <a:p>
            <a:r>
              <a:t>the difference between the symbol and the standard increased. Ekman and</a:t>
            </a:r>
          </a:p>
          <a:p>
            <a:r>
              <a:t>Junge (1961) elaborated on this conclusion by generating power functions</a:t>
            </a:r>
          </a:p>
          <a:p>
            <a:r>
              <a:t>for symbol types.</a:t>
            </a:r>
          </a:p>
          <a:p>
            <a:r>
              <a:t>Flannery (1971) included examination of the relative effectiveness of</a:t>
            </a:r>
          </a:p>
          <a:p>
            <a:r>
              <a:t>wedges and bars compared to circles in his research. Although he con</a:t>
            </a:r>
          </a:p>
          <a:p>
            <a:r>
              <a:t>cluded that wedges were not estimated as accurately as circles, he noted</a:t>
            </a:r>
          </a:p>
          <a:p>
            <a:r>
              <a:t>their usefulness for showing proportions for specific locations (cities,</a:t>
            </a:r>
          </a:p>
          <a:p>
            <a:r>
              <a:t>ports, and intersections, for example) because the vertex naturally points</a:t>
            </a:r>
          </a:p>
          <a:p>
            <a:r>
              <a:t>to the place to which the value belongs. He also noted the relatively high</a:t>
            </a:r>
          </a:p>
          <a:p>
            <a:r>
              <a:t>accuracy of estimations with linearly scaled bars.</a:t>
            </a:r>
          </a:p>
          <a:p>
            <a:r>
              <a:t>Crawford (1973) examined perceptions of graduated squares. Specifi</a:t>
            </a:r>
          </a:p>
          <a:p>
            <a:r>
              <a:t>cally, he studied the potential for linear rather than areal estimation of</a:t>
            </a:r>
          </a:p>
          <a:p>
            <a:r>
              <a:t>square size and whether squares were correctly, under-, or over-estimated.</a:t>
            </a:r>
          </a:p>
          <a:p>
            <a:r>
              <a:t>His regression model clearly indicated that square sizes were estimated</a:t>
            </a:r>
          </a:p>
          <a:p>
            <a:r>
              <a:t>a really, not linearly, and he showed that square sizes were more accurately</a:t>
            </a:r>
          </a:p>
          <a:p>
            <a:r>
              <a:t>estimated than circles. Likewise, Heino (1991) recommended the use of</a:t>
            </a:r>
          </a:p>
          <a:p>
            <a:r>
              <a:t>squares and cubes, instead of circles and spheres, for accurate estimation</a:t>
            </a:r>
          </a:p>
          <a:p>
            <a:r>
              <a:t>of data sets with large ranges.</a:t>
            </a:r>
          </a:p>
          <a:p>
            <a:r>
              <a:t>In addition to comparing types of symbols, multivariate symbols would</a:t>
            </a:r>
          </a:p>
          <a:p>
            <a:r>
              <a:t>seem a logical topic of research in thematic cartography. Both MacEachren</a:t>
            </a:r>
          </a:p>
          <a:p>
            <a:r>
              <a:t>(1995) and Nelson and Gilmartin (1996), however, note that very little of</a:t>
            </a:r>
          </a:p>
          <a:p>
            <a:r>
              <a:t>this research has been done. One theme in their reviews of the topic is the</a:t>
            </a:r>
          </a:p>
          <a:p>
            <a:r>
              <a:t>link between the design of multivariate symbols and whether symbol</a:t>
            </a:r>
          </a:p>
          <a:p>
            <a:r>
              <a:t>dimensions representing each variable remain separable or are combined in</a:t>
            </a:r>
          </a:p>
          <a:p>
            <a:r>
              <a:t>a more holistic symbol with i11tegrnl dimensions (Shortridge 1982). Nelson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11</a:t>
            </a:r>
          </a:p>
          <a:p>
            <a:r>
              <a:t>and Gilmartin examine symbols representing sets of four variables with</a:t>
            </a:r>
          </a:p>
          <a:p>
            <a:r>
              <a:t>attention to the multiple purposes of multivariate map symbols: from</a:t>
            </a:r>
          </a:p>
          <a:p>
            <a:r>
              <a:t>'what' and 'how much' at the local level (which may be better represented</a:t>
            </a:r>
          </a:p>
          <a:p>
            <a:r>
              <a:t>with separable dimensions) to regional patterns and correlations between</a:t>
            </a:r>
          </a:p>
          <a:p>
            <a:r>
              <a:t>variables (which may be better represented with integral dimensions).</a:t>
            </a:r>
          </a:p>
          <a:p>
            <a:r>
              <a:t>As an example of multivariate symbol research, Slocum (1981) exam</a:t>
            </a:r>
          </a:p>
          <a:p>
            <a:r>
              <a:t>ined two-sectored pie graphs. Specifically, he measured the just-noticeable</a:t>
            </a:r>
          </a:p>
          <a:p>
            <a:r>
              <a:t>difference for sector size and accuracy of sector size estimation. He found</a:t>
            </a:r>
          </a:p>
          <a:p>
            <a:r>
              <a:t>that subjects could not discriminate between sector size differences of less</a:t>
            </a:r>
          </a:p>
          <a:p>
            <a:r>
              <a:t>than nine degrees, and that sector sizes were estimated within a three</a:t>
            </a:r>
          </a:p>
          <a:p>
            <a:r>
              <a:t>percent margin of error. He suggested rounding data to the nearest five</a:t>
            </a:r>
          </a:p>
          <a:p>
            <a:r>
              <a:t>percent, rather than one percent, before drawing sectors. His study was, in</a:t>
            </a:r>
          </a:p>
          <a:p>
            <a:r>
              <a:t>part, a response to Balogun (1978), who suggested the use of decagraphs</a:t>
            </a:r>
          </a:p>
          <a:p>
            <a:r>
              <a:t>(ten-sided polygons) for representing proportions. Examples of decagraph</a:t>
            </a:r>
          </a:p>
          <a:p>
            <a:r>
              <a:t>use can be found in the Atlas c~f Ncufo1111dla11d a11d La/1rador, ·where they are</a:t>
            </a:r>
          </a:p>
          <a:p>
            <a:r>
              <a:t>used to represent economic data (McManus et al. 1991, plates 10 and 19).</a:t>
            </a:r>
          </a:p>
          <a:p>
            <a:r>
              <a:t>Point Symbol Discussion in Cartographic Textbooks</a:t>
            </a:r>
          </a:p>
          <a:p>
            <a:r>
              <a:t>Cnrtosrnphy: Tlre111atic Map Design by Dent (1996) and Elements of Cartog</a:t>
            </a:r>
          </a:p>
          <a:p>
            <a:r>
              <a:t>raphy by Robinson et al. (1995) are two widely used collegiate texts.</a:t>
            </a:r>
          </a:p>
          <a:p>
            <a:r>
              <a:t>Chapter 8 of Dent's book offers a concise survey of the research that has</a:t>
            </a:r>
          </a:p>
          <a:p>
            <a:r>
              <a:t>been conducted over the past twenty-fi,·e years, including apparent</a:t>
            </a:r>
          </a:p>
          <a:p>
            <a:r>
              <a:t>.scaling (Flannery 1971 ), effects of symbol clustering on size perception</a:t>
            </a:r>
          </a:p>
          <a:p>
            <a:r>
              <a:t>(Gilmartin L98lb), anchor effects (Cox 1976), range grading (Meihoefer</a:t>
            </a:r>
          </a:p>
          <a:p>
            <a:r>
              <a:t>1969), and open and cut-out circles (Groop and Cole J978). Dent also</a:t>
            </a:r>
          </a:p>
          <a:p>
            <a:r>
              <a:t>directs attention to multivariate graduated point symbols, the use of</a:t>
            </a:r>
          </a:p>
          <a:p>
            <a:r>
              <a:t>graduated ~qua res and triangles, and the use of volumetric symbols.</a:t>
            </a:r>
          </a:p>
          <a:p>
            <a:r>
              <a:t>Robinson et al. briefly discuss the use of variations in symbol shape and</a:t>
            </a:r>
          </a:p>
          <a:p>
            <a:r>
              <a:t>orientation to represent classes of graded data. They offer an in-depth</a:t>
            </a:r>
          </a:p>
          <a:p>
            <a:r>
              <a:t>discussion of graduated circle use in representing univariate data with the</a:t>
            </a:r>
          </a:p>
          <a:p>
            <a:r>
              <a:t>addition of a color sequence for a second map variable. Their coverage of</a:t>
            </a:r>
          </a:p>
          <a:p>
            <a:r>
              <a:t>multivariate mapping is divided into four types, in their words: superim</a:t>
            </a:r>
          </a:p>
          <a:p>
            <a:r>
              <a:t>position of features (different symbols), segmented symbols (sectored pie</a:t>
            </a:r>
          </a:p>
          <a:p>
            <a:r>
              <a:t>graphs), cross-variable mapping (bivariate choropleth), and composite</a:t>
            </a:r>
          </a:p>
          <a:p>
            <a:r>
              <a:t>indexes (cartographic modeling). They warn students that "supermaps"</a:t>
            </a:r>
          </a:p>
          <a:p>
            <a:r>
              <a:t>illustrating too many variables often hinder the clear communication</a:t>
            </a:r>
          </a:p>
          <a:p>
            <a:r>
              <a:t>intended by the mapmaker.</a:t>
            </a:r>
          </a:p>
          <a:p>
            <a:r>
              <a:t>Issues for Future Research</a:t>
            </a:r>
          </a:p>
          <a:p>
            <a:r>
              <a:t>Point symbol maps may be designed with multiple objectives, such as</a:t>
            </a:r>
          </a:p>
          <a:p>
            <a:r>
              <a:t>encourging accurate symbol-size estimation, easing legend matching, "Further experimental testing</a:t>
            </a:r>
          </a:p>
          <a:p>
            <a:r>
              <a:t>attracting attention, representing patterns across a map, and showing</a:t>
            </a:r>
          </a:p>
          <a:p>
            <a:r>
              <a:t>and other i11vestigatio11s s'1011ld</a:t>
            </a:r>
          </a:p>
          <a:p>
            <a:r>
              <a:t>spatial relationships between ,·ariables. Success for one design objective</a:t>
            </a:r>
          </a:p>
          <a:p>
            <a:r>
              <a:t>be structured to account for the</a:t>
            </a:r>
          </a:p>
          <a:p>
            <a:r>
              <a:t>often necessitates failure for competing objectives (Petchenik 1983),</a:t>
            </a:r>
          </a:p>
          <a:p>
            <a:r>
              <a:t>though interacti,·e environments that encourage multiple representations multiple tasks for which maps</a:t>
            </a:r>
          </a:p>
          <a:p>
            <a:r>
              <a:t>improve on this discouraging reality. Further experimental testing and are designed."</a:t>
            </a:r>
          </a:p>
          <a:p>
            <a:r>
              <a:t>other investigations should be structured to account for the multiple tasks</a:t>
            </a:r>
          </a:p>
          <a:p>
            <a:r>
              <a:t>for which maps are designed.</a:t>
            </a:r>
          </a:p>
          <a:p>
            <a:r>
              <a:t>Examples of competing objectives can be found for varied aspects of</a:t>
            </a:r>
          </a:p>
          <a:p>
            <a:r>
              <a:t>point symbol mapping, such as range grading, symbol dimensionality,</a:t>
            </a:r>
          </a:p>
          <a:p>
            <a:r>
              <a:t>map comparison, and multivariate symbols. The literature reveals a</a:t>
            </a:r>
          </a:p>
          <a:p>
            <a:r>
              <a:t>tension between accurate estimation of indi\'idual svmbols and the</a:t>
            </a:r>
          </a:p>
          <a:p>
            <a:r>
              <a:t>alternati\·e of range-graded symbols, for which data values are classed and</a:t>
            </a:r>
          </a:p>
          <a:p>
            <a:r>
              <a:t>assigned to ordered but arbitrarily scaled symbol sizes. Range-graded</a:t>
            </a:r>
          </a:p>
          <a:p>
            <a:r>
              <a:t>symbols are selected to be obviously different in size and easily identified</a:t>
            </a:r>
          </a:p>
          <a:p>
            <a:r>
              <a:t>in a legend. A hybrid approach with symbols scaled to means of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 cartographic perspectives Number 29, Winter 1998</a:t>
            </a:r>
          </a:p>
          <a:p>
            <a:r>
              <a:t>classes, for example, may be a useful compromise between the comfort of</a:t>
            </a:r>
          </a:p>
          <a:p>
            <a:r>
              <a:t>easy identification and an accurate overview of relative magnitudes across</a:t>
            </a:r>
          </a:p>
          <a:p>
            <a:r>
              <a:t>a map. Similarly, low symbol dimensionality improves symbol-size</a:t>
            </a:r>
          </a:p>
          <a:p>
            <a:r>
              <a:t>"A hybrid approach with estimation but may hinder map pattern interpretation. The larger range in</a:t>
            </a:r>
          </a:p>
          <a:p>
            <a:r>
              <a:t>symbols scaled to means of data sizes of linearly-scaled symbols (bars, for example) causes symbols to</a:t>
            </a:r>
          </a:p>
          <a:p>
            <a:r>
              <a:t>extend farther across the map than higher-dimension and more compact</a:t>
            </a:r>
          </a:p>
          <a:p>
            <a:r>
              <a:t>classes, for example, 111ay be a</a:t>
            </a:r>
          </a:p>
          <a:p>
            <a:r>
              <a:t>symbol forms (areal and volumetric symbols such as squares or cubes)</a:t>
            </a:r>
          </a:p>
          <a:p>
            <a:r>
              <a:t>useful compromise ... "</a:t>
            </a:r>
          </a:p>
          <a:p>
            <a:r>
              <a:t>representing the same data. Adjustments within a map series, such as</a:t>
            </a:r>
          </a:p>
          <a:p>
            <a:r>
              <a:t>equalizing symbol areas among maps before comparison (Peterson 1985)</a:t>
            </a:r>
          </a:p>
          <a:p>
            <a:r>
              <a:t>or using constant symbol sizes for minimum and maximum data values</a:t>
            </a:r>
          </a:p>
          <a:p>
            <a:r>
              <a:t>(Monmonier 1977), assist pattern comparison but interfere with compari</a:t>
            </a:r>
          </a:p>
          <a:p>
            <a:r>
              <a:t>son of data magnitudes between maps. Another challenge is choice of</a:t>
            </a:r>
          </a:p>
          <a:p>
            <a:r>
              <a:t>multivariate mappings with separable symbol dimensions (which may</a:t>
            </a:r>
          </a:p>
          <a:p>
            <a:r>
              <a:t>encourage comparisons within symbols and within variables) versus</a:t>
            </a:r>
          </a:p>
          <a:p>
            <a:r>
              <a:t>integral dimensions (which may improve understanding of patterns in</a:t>
            </a:r>
          </a:p>
          <a:p>
            <a:r>
              <a:t>correlations between variables). Although researching the endless variety</a:t>
            </a:r>
          </a:p>
          <a:p>
            <a:r>
              <a:t>of multivariate point symbols is a daunting prospect, it would be useful to</a:t>
            </a:r>
          </a:p>
          <a:p>
            <a:r>
              <a:t>see work on how people use and understand these types of representa</a:t>
            </a:r>
          </a:p>
          <a:p>
            <a:r>
              <a:t>tions.</a:t>
            </a:r>
          </a:p>
          <a:p>
            <a:r>
              <a:t>The next sections summarize many possibilities for point symbol</a:t>
            </a:r>
          </a:p>
          <a:p>
            <a:r>
              <a:t>mapping. In addition to the theoretical research issues that are reviewed,</a:t>
            </a:r>
          </a:p>
          <a:p>
            <a:r>
              <a:t>interest in these symbols also invites practical research on how point</a:t>
            </a:r>
          </a:p>
          <a:p>
            <a:r>
              <a:t>symbols can be effectively implemented in mapping, GIS, and visualiza</a:t>
            </a:r>
          </a:p>
          <a:p>
            <a:r>
              <a:t>tion software environments.</a:t>
            </a:r>
          </a:p>
          <a:p>
            <a:r>
              <a:t>GRADUATED POINT SYMBOL Figures 2 through 8 illustrate both common and innovative ways to</a:t>
            </a:r>
          </a:p>
          <a:p>
            <a:r>
              <a:t>EXAMPLES AND SOURCES OF illustrate quantitative univariate and bivariate data with graduated point</a:t>
            </a:r>
          </a:p>
          <a:p>
            <a:r>
              <a:t>INI\'OV A TION symbols, and Figure lb presents a choropleth version of the map for</a:t>
            </a:r>
          </a:p>
          <a:p>
            <a:r>
              <a:t>comparison. In addition to univariate representations, this discussion</a:t>
            </a:r>
          </a:p>
          <a:p>
            <a:r>
              <a:t>concentrates on basic ways of representing proportional and comparison</a:t>
            </a:r>
          </a:p>
          <a:p>
            <a:r>
              <a:t>relationships on bivariate maps. These terms require some explanation.</a:t>
            </a:r>
          </a:p>
          <a:p>
            <a:r>
              <a:t>'Proportional' data refers to relationships in which one data set is part of</a:t>
            </a:r>
          </a:p>
          <a:p>
            <a:r>
              <a:t>the other data set being mapped. Similarly, Eells (1926) referred to repre</a:t>
            </a:r>
          </a:p>
          <a:p>
            <a:r>
              <a:t>senting proportional relationships as illustrating component parts. 'Com</a:t>
            </a:r>
          </a:p>
          <a:p>
            <a:r>
              <a:t>parison' data refers to those data that are two separate measures but the</a:t>
            </a:r>
          </a:p>
          <a:p>
            <a:r>
              <a:t>relationship between them (correlation) is of interest. One data set is not a</a:t>
            </a:r>
          </a:p>
          <a:p>
            <a:r>
              <a:t>part of the other. The data on loan disbursements that was used for the</a:t>
            </a:r>
          </a:p>
          <a:p>
            <a:r>
              <a:t>maps in this paper, for example, may be divided into public and private</a:t>
            </a:r>
          </a:p>
          <a:p>
            <a:r>
              <a:t>proportions or it may be co111pared to principal repayments for the same</a:t>
            </a:r>
          </a:p>
          <a:p>
            <a:r>
              <a:t>year.</a:t>
            </a:r>
          </a:p>
          <a:p>
            <a:r>
              <a:t>Our mapped data (Table 1) were taken from a World Bank report</a:t>
            </a:r>
          </a:p>
          <a:p>
            <a:r>
              <a:t>(1994). The same data are mapped in each of the figures to aid comparison</a:t>
            </a:r>
          </a:p>
          <a:p>
            <a:r>
              <a:t>of the symbol types, though the small extent of the maps does not foster</a:t>
            </a:r>
          </a:p>
          <a:p>
            <a:r>
              <a:t>regional comparisons and does not allow evaluation of the symbols with</a:t>
            </a:r>
          </a:p>
          <a:p>
            <a:r>
              <a:t>more numerous enumeration units. All data are for countries in northern</a:t>
            </a:r>
          </a:p>
          <a:p>
            <a:r>
              <a:t>South America. Point symbols are used for country data in these maps to</a:t>
            </a:r>
          </a:p>
          <a:p>
            <a:r>
              <a:t>emphasize that point symbols are appropriate for areal data, even though</a:t>
            </a:r>
          </a:p>
          <a:p>
            <a:r>
              <a:t>some authors restrict their representations to choropleth mapping (Figure</a:t>
            </a:r>
          </a:p>
          <a:p>
            <a:r>
              <a:t>1 b ). All data are for 1993 debt levels: total loan disbursements, principal</a:t>
            </a:r>
          </a:p>
          <a:p>
            <a:r>
              <a:t>repayments, and the proportions of total disbursements for public versus</a:t>
            </a:r>
          </a:p>
          <a:p>
            <a:r>
              <a:t>private loans. Table 1 notes provide further explanation of the variables.</a:t>
            </a:r>
          </a:p>
          <a:p>
            <a:r>
              <a:t>Univariate Data: Total 1993 Disbursements</a:t>
            </a:r>
          </a:p>
          <a:p>
            <a:r>
              <a:t>Figures 1 through 4 illustrate a variety of methods for mapping</a:t>
            </a:r>
          </a:p>
          <a:p>
            <a:r>
              <a:t>univariate data. Figure la lists disbursement values as an areal table.</a:t>
            </a:r>
          </a:p>
          <a:p>
            <a:r>
              <a:t>Figure lb is a choropleth map of these data, which is shown for compari-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13</a:t>
            </a:r>
          </a:p>
          <a:p>
            <a:r>
              <a:t>a. Areal Table b. Choropleth</a:t>
            </a:r>
          </a:p>
          <a:p>
            <a:r>
              <a:t>1993</a:t>
            </a:r>
          </a:p>
          <a:p>
            <a:r>
              <a:t>VENEZUELA</a:t>
            </a:r>
          </a:p>
          <a:p>
            <a:r>
              <a:t>Disbursements</a:t>
            </a:r>
          </a:p>
          <a:p>
            <a:r>
              <a:t>2137</a:t>
            </a:r>
          </a:p>
          <a:p>
            <a:r>
              <a:t>D</a:t>
            </a:r>
          </a:p>
          <a:p>
            <a:r>
              <a:t>GUYANA 69</a:t>
            </a:r>
          </a:p>
          <a:p>
            <a:r>
              <a:t>69 Disbursements •</a:t>
            </a:r>
          </a:p>
          <a:p>
            <a:r>
              <a:t>mapped are the</a:t>
            </a:r>
          </a:p>
          <a:p>
            <a:r>
              <a:t>COLOMBIA</a:t>
            </a:r>
          </a:p>
          <a:p>
            <a:r>
              <a:t>amount of each</a:t>
            </a:r>
          </a:p>
          <a:p>
            <a:r>
              <a:t>1697 country's 1993 debt 662</a:t>
            </a:r>
          </a:p>
          <a:p>
            <a:r>
              <a:t>•</a:t>
            </a:r>
          </a:p>
          <a:p>
            <a:r>
              <a:t>flow that is drawn on</a:t>
            </a:r>
          </a:p>
          <a:p>
            <a:r>
              <a:t>loan commitments.</a:t>
            </a:r>
          </a:p>
          <a:p>
            <a:r>
              <a:t>ECUADOR Reported in millions 1551 -2137</a:t>
            </a:r>
          </a:p>
          <a:p>
            <a:r>
              <a:t>662 I BRAZIL of U.S. dollars •</a:t>
            </a:r>
          </a:p>
          <a:p>
            <a:r>
              <a:t>12195</a:t>
            </a:r>
          </a:p>
          <a:p>
            <a:r>
              <a:t>~ Source: 12195</a:t>
            </a:r>
          </a:p>
          <a:p>
            <a:r>
              <a:t>PERU World Bank 1994</a:t>
            </a:r>
          </a:p>
          <a:p>
            <a:r>
              <a:t>1551</a:t>
            </a:r>
          </a:p>
          <a:p>
            <a:r>
              <a:t>c.Shaded</a:t>
            </a:r>
          </a:p>
          <a:p>
            <a:r>
              <a:t>• Squares</a:t>
            </a:r>
          </a:p>
          <a:p>
            <a:r>
              <a:t>Fi:;:11n• 1. Are,1l t,1blc (a), d1ornplcth (b), ,111d ~haded ~quarc (c)</a:t>
            </a:r>
          </a:p>
          <a:p>
            <a:r>
              <a:t>representation-; of 111,111 di'iburscment dat,1. The• many point symbol'&gt; • =:J =1</a:t>
            </a:r>
          </a:p>
          <a:p>
            <a:r>
              <a:t>dc'icribcd in th1s paper arc allcrnati\ c~ t&lt;1 the flawed reprcscnt,1tion-. 69</a:t>
            </a:r>
          </a:p>
          <a:p>
            <a:r>
              <a:t>in a and b. Number.., (,1) d11 not provide ,1 vi'&gt;ual rL'prL' ...e ntation of</a:t>
            </a:r>
          </a:p>
          <a:p>
            <a:r>
              <a:t>rel a ti\ e magn1tudt'' 11t data\ alues. Thl' ..,1/e' ot the gray fil], of thl' • 662</a:t>
            </a:r>
          </a:p>
          <a:p>
            <a:r>
              <a:t>choropleth m.1p (b) ilrl' controlled by the si/C'i nf the· cnuntril''&gt; ratl1L'r •</a:t>
            </a:r>
          </a:p>
          <a:p>
            <a:r>
              <a:t>th,111 the data\ alu.~'· Cnuntr~ siLl' ha!-&gt; a large visual impact nn tlw</a:t>
            </a:r>
          </a:p>
          <a:p>
            <a:r>
              <a:t>data rcprc'"·'ntal1on but it i' not dircctlv related to the ecom&gt;mlC • • 1551-2137</a:t>
            </a:r>
          </a:p>
          <a:p>
            <a:r>
              <a:t>•</a:t>
            </a:r>
          </a:p>
          <a:p>
            <a:r>
              <a:t>\'ariablc ot 111terc•-.t. h1r this rca5on, Cil1:tngr.1phc•r-. gl'nerally</a:t>
            </a:r>
          </a:p>
          <a:p>
            <a:r>
              <a:t>admoni!-&gt;h ,1g.1in&lt;.1 rq&gt;rc,enting total value~ with a choroplcth map. • 12195</a:t>
            </a:r>
          </a:p>
          <a:p>
            <a:r>
              <a:t>Shaded point svmbob ol a ~onstnnt ,i/L', such a'&gt; squares (c), arl' one</a:t>
            </a:r>
          </a:p>
          <a:p>
            <a:r>
              <a:t>way of rcnw\ ing the effect 11f enumer,1tion-un1I -;i/l' 1111 a grn,v-~calc</a:t>
            </a:r>
          </a:p>
          <a:p>
            <a:r>
              <a:t>-.\'mb11li/ation</a:t>
            </a:r>
          </a:p>
          <a:p>
            <a:r>
              <a:t>Countrv Loan Principal Disbursements</a:t>
            </a:r>
          </a:p>
          <a:p>
            <a:r>
              <a:t>Disbursements·• Repayments" to Public Entities'</a:t>
            </a:r>
          </a:p>
          <a:p>
            <a:r>
              <a:t>Brazil 12195 6212 3265</a:t>
            </a:r>
          </a:p>
          <a:p>
            <a:r>
              <a:t>Colombia 1697 2083 15-t?</a:t>
            </a:r>
          </a:p>
          <a:p>
            <a:r>
              <a:t>Ecuador 66:2 488 .+97</a:t>
            </a:r>
          </a:p>
          <a:p>
            <a:r>
              <a:t>Guvana 69 46 69</a:t>
            </a:r>
          </a:p>
          <a:p>
            <a:r>
              <a:t>Peru 1551 1007 1.+92</a:t>
            </a:r>
          </a:p>
          <a:p>
            <a:r>
              <a:t>Venezuela 2137 1515 1877</a:t>
            </a:r>
          </a:p>
          <a:p>
            <a:r>
              <a:t>\.oh_..,</a:t>
            </a:r>
          </a:p>
          <a:p>
            <a:r>
              <a:t>All d,11,1 .ire• t11r 199:&gt; ,111d arc• rq&gt;ortcd 111 milho1v. . ol L.S. d1,ll.ir,. Till' d,1t,1 source io; a 199-1</a:t>
            </a:r>
          </a:p>
          <a:p>
            <a:r>
              <a:t>\\nrld B.111l-. pubh.:at1on titk'd l\'&lt;11/d De/it T,1/·lc-. I \l.'111t1l £1111111\1' 1,:r Oci'l'/1•1'111:\</a:t>
            </a:r>
          </a:p>
          <a:p>
            <a:r>
              <a:t>c{litJI!r:r·.:.. \ ,1/rrn:t" ~</a:t>
            </a:r>
          </a:p>
          <a:p>
            <a:r>
              <a:t>L11,111 di,bur,c•nwnh ML· dl'tined ,,, .. dr.i\\ 111g' tln lnan commilml'nh during till' \'ear</a:t>
            </a:r>
          </a:p>
          <a:p>
            <a:r>
              <a:t>'pec1hl'd .. (p. r«). h~un·' I thr11ugh -I ,]io\\' uni\',1ri,1te m.1ps 1&gt;1 di,bur~l'nh.'nt~.</a:t>
            </a:r>
          </a:p>
          <a:p>
            <a:r>
              <a:t>l'rincip,1! rep.n men I' .ire• .. the amounts 1&gt;t principal (amorti/ation) paid in foreign currenc\'.</a:t>
            </a:r>
          </a:p>
          <a:p>
            <a:r>
              <a:t>good,, or 'L'n ILL'' 111 tllL' yc'M 'PL'Cihl'd .. (p. \i'). f'rincip.11 rc•p,11·ml'llh are compared 111</a:t>
            </a:r>
          </a:p>
          <a:p>
            <a:r>
              <a:t>loan d1sbur,c•mc•nh 111 Figure' 6 ,111d 7,i.</a:t>
            </a:r>
          </a:p>
          <a:p>
            <a:r>
              <a:t>Di,bur,L'lll&lt;.'lll' to public l'nllt1e' .ire• e'tc•rn,111&gt;bh~,1t1111b ot public 1lc&gt;btm,, .. including the•</a:t>
            </a:r>
          </a:p>
          <a:p>
            <a:r>
              <a:t>nal11lll,1I ~11\ L'rn111e11t. .i political subd1\'i.;1nn (or an agl'nC\' Pt c•ithc•r). ,1nJ ,1uton1llllll\h</a:t>
            </a:r>
          </a:p>
          <a:p>
            <a:r>
              <a:t>public bPd11&lt;' (p 1 ').The rc•nia1111kr ot lo.in' Ml' lo pri\ ale debtor' \\'ho .ire not</a:t>
            </a:r>
          </a:p>
          <a:p>
            <a:r>
              <a:t>gu.ir.1nll'L'&lt;f b\ pul,h, l'lllil1c,. l'ul'llC ,111d pri\ ate• di,bur'L'lllt'lll' arc• till' pn1portio11-. ot</a:t>
            </a:r>
          </a:p>
          <a:p>
            <a:r>
              <a:t>tot.ii d1,bur,l'mc•111, m.1pped in F1~ure, 7h .111d /;.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14 cartographic perspectives Number 29, Winter 1998</a:t>
            </a:r>
          </a:p>
          <a:p>
            <a:r>
              <a:t>-:]</a:t>
            </a:r>
          </a:p>
          <a:p>
            <a:r>
              <a:t>) .;'._, a. Graduated b. Graduated</a:t>
            </a:r>
          </a:p>
          <a:p>
            <a:r>
              <a:t>\ .: )1 · 2 ~~- .1 -- .. Numbers Circles</a:t>
            </a:r>
          </a:p>
          <a:p>
            <a:r>
              <a:t>'</a:t>
            </a:r>
          </a:p>
          <a:p>
            <a:r>
              <a:t>?'-\ 1•00</a:t>
            </a:r>
          </a:p>
          <a:p>
            <a:r>
              <a:t>Disbursements</a:t>
            </a:r>
          </a:p>
          <a:p>
            <a:r>
              <a:t>' ~ .01 • in Billions of</a:t>
            </a:r>
          </a:p>
          <a:p>
            <a:r>
              <a:t>1.7 · - U.S. Dollars e500</a:t>
            </a:r>
          </a:p>
          <a:p>
            <a:r>
              <a:t>/ .1</a:t>
            </a:r>
          </a:p>
          <a:p>
            <a:r>
              <a:t>/</a:t>
            </a:r>
          </a:p>
          <a:p>
            <a:r>
              <a:t>5000</a:t>
            </a:r>
          </a:p>
          <a:p>
            <a:r>
              <a:t>- 0~ E</a:t>
            </a:r>
          </a:p>
          <a:p>
            <a:r>
              <a:t>12.2</a:t>
            </a:r>
          </a:p>
          <a:p>
            <a:r>
              <a:t>5.0</a:t>
            </a:r>
          </a:p>
          <a:p>
            <a:r>
              <a:t>1</a:t>
            </a:r>
          </a:p>
          <a:p>
            <a:r>
              <a:t>'' 1.6</a:t>
            </a:r>
          </a:p>
          <a:p>
            <a:r>
              <a:t>c. Graduated d. Graduated</a:t>
            </a:r>
          </a:p>
          <a:p>
            <a:r>
              <a:t>Squares Ellipses</a:t>
            </a:r>
          </a:p>
          <a:p>
            <a:r>
              <a:t>1•00 1•00</a:t>
            </a:r>
          </a:p>
          <a:p>
            <a:r>
              <a:t>•</a:t>
            </a:r>
          </a:p>
          <a:p>
            <a:r>
              <a:t>500</a:t>
            </a:r>
          </a:p>
          <a:p>
            <a:r>
              <a:t>II 500</a:t>
            </a:r>
          </a:p>
          <a:p>
            <a:r>
              <a:t>II</a:t>
            </a:r>
          </a:p>
          <a:p>
            <a:r>
              <a:t>5000</a:t>
            </a:r>
          </a:p>
          <a:p>
            <a:r>
              <a:t>I</a:t>
            </a:r>
          </a:p>
          <a:p>
            <a:r>
              <a:t>(</a:t>
            </a:r>
          </a:p>
          <a:p>
            <a:r>
              <a:t>( '</a:t>
            </a:r>
          </a:p>
          <a:p>
            <a:r>
              <a:t>\</a:t>
            </a:r>
          </a:p>
          <a:p>
            <a:r>
              <a:t>e. Grid Squares f. Graduated</a:t>
            </a:r>
          </a:p>
          <a:p>
            <a:r>
              <a:t>Pictograms</a:t>
            </a:r>
          </a:p>
          <a:p>
            <a:r>
              <a:t>• 100</a:t>
            </a:r>
          </a:p>
          <a:p>
            <a:r>
              <a:t>•,, 100</a:t>
            </a:r>
          </a:p>
          <a:p>
            <a:r>
              <a:t>~</a:t>
            </a:r>
          </a:p>
          <a:p>
            <a:r>
              <a:t>500 500</a:t>
            </a:r>
          </a:p>
          <a:p>
            <a:r>
              <a:t>/</a:t>
            </a:r>
          </a:p>
          <a:p>
            <a:r>
              <a:t>.</a:t>
            </a:r>
          </a:p>
          <a:p>
            <a:r>
              <a:t>I</a:t>
            </a:r>
          </a:p>
          <a:p>
            <a:r>
              <a:t>5000</a:t>
            </a:r>
          </a:p>
          <a:p>
            <a:r>
              <a:t>/</a:t>
            </a:r>
          </a:p>
          <a:p>
            <a:r>
              <a:t>( ! '</a:t>
            </a:r>
          </a:p>
          <a:p>
            <a:r>
              <a:t>I</a:t>
            </a:r>
          </a:p>
          <a:p>
            <a:r>
              <a:t>F1s11rc 2. Areal univariate point symbols representing 1993 loan disbursement data: graduated numbers (a), graduated circles (b), graduated</a:t>
            </a:r>
          </a:p>
          <a:p>
            <a:r>
              <a:t>squares (c), graduated ellipses (d), grid squares (e), and graduated pictograms (f). Data values are in millions of U.S. dollars, except for Figure</a:t>
            </a:r>
          </a:p>
          <a:p>
            <a:r>
              <a:t>2a which shows billions of U.S. dollars (see Table 1 for description of mapped data). Symbols arc sized to data values using square-root</a:t>
            </a:r>
          </a:p>
          <a:p>
            <a:r>
              <a:t>son but is not a recommended representation for these total dollar values.</a:t>
            </a:r>
          </a:p>
          <a:p>
            <a:r>
              <a:t>Figure 1c is a variation on the gray-scale representation of the choropleth</a:t>
            </a:r>
          </a:p>
          <a:p>
            <a:r>
              <a:t>map, with the gray fills applied to a repeated square symbol of constant</a:t>
            </a:r>
          </a:p>
          <a:p>
            <a:r>
              <a:t>size. This variation removes the unwanted effects of variation in enumera</a:t>
            </a:r>
          </a:p>
          <a:p>
            <a:r>
              <a:t>tion-unit size, though differences in lightness are more difficult to compare</a:t>
            </a:r>
          </a:p>
          <a:p>
            <a:r>
              <a:t>than differences in symbol area (Cleveland 1985, p. 254). Pazner (1997)</a:t>
            </a:r>
          </a:p>
          <a:p>
            <a:r>
              <a:t>proposed a similar representation with constant-size squares that he</a:t>
            </a:r>
          </a:p>
          <a:p>
            <a:r>
              <a:t>termed "tile maps." Size and lightness may also be used as redundant</a:t>
            </a:r>
          </a:p>
          <a:p>
            <a:r>
              <a:t>symbolizations (each representing the same data values within symbols),</a:t>
            </a:r>
          </a:p>
          <a:p>
            <a:r>
              <a:t>and lightness may be used to map a second variable within a graduated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15</a:t>
            </a:r>
          </a:p>
          <a:p>
            <a:r>
              <a:t>..;_ a. Graduated</a:t>
            </a:r>
          </a:p>
          <a:p>
            <a:r>
              <a:t>,- I</a:t>
            </a:r>
          </a:p>
          <a:p>
            <a:r>
              <a:t>,!. Bars</a:t>
            </a:r>
          </a:p>
          <a:p>
            <a:r>
              <a:t>•..-...</a:t>
            </a:r>
          </a:p>
          <a:p>
            <a:r>
              <a:t>I '</a:t>
            </a:r>
          </a:p>
          <a:p>
            <a:r>
              <a:t>t</a:t>
            </a:r>
          </a:p>
          <a:p>
            <a:r>
              <a:t>'-·</a:t>
            </a:r>
          </a:p>
          <a:p>
            <a:r>
              <a:t>I</a:t>
            </a:r>
          </a:p>
          <a:p>
            <a:r>
              <a:t>I</a:t>
            </a:r>
          </a:p>
          <a:p>
            <a:r>
              <a:t>,</a:t>
            </a:r>
          </a:p>
          <a:p>
            <a:r>
              <a:t>,,,,---' -</a:t>
            </a:r>
          </a:p>
          <a:p>
            <a:r>
              <a:t>I</a:t>
            </a:r>
          </a:p>
          <a:p>
            <a:r>
              <a:t>I</a:t>
            </a:r>
          </a:p>
          <a:p>
            <a:r>
              <a:t>100 500 5000</a:t>
            </a:r>
          </a:p>
          <a:p>
            <a:r>
              <a:t>b. Graduated</a:t>
            </a:r>
          </a:p>
          <a:p>
            <a:r>
              <a:t>Spikes</a:t>
            </a:r>
          </a:p>
          <a:p>
            <a:r>
              <a:t>!</a:t>
            </a:r>
          </a:p>
          <a:p>
            <a:r>
              <a:t>'</a:t>
            </a:r>
          </a:p>
          <a:p>
            <a:r>
              <a:t>I</a:t>
            </a:r>
          </a:p>
          <a:p>
            <a:r>
              <a:t>•</a:t>
            </a:r>
          </a:p>
          <a:p>
            <a:r>
              <a:t>,,,,,--</a:t>
            </a:r>
          </a:p>
          <a:p>
            <a:r>
              <a:t>...</a:t>
            </a:r>
          </a:p>
          <a:p>
            <a:r>
              <a:t>l</a:t>
            </a:r>
          </a:p>
          <a:p>
            <a:r>
              <a:t>100 500 5000</a:t>
            </a:r>
          </a:p>
          <a:p>
            <a:r>
              <a:t>c. Repeated</a:t>
            </a:r>
          </a:p>
          <a:p>
            <a:r>
              <a:t>Pictograms</a:t>
            </a:r>
          </a:p>
          <a:p>
            <a:r>
              <a:t>s:;</a:t>
            </a:r>
          </a:p>
          <a:p>
            <a:r>
              <a:t>-c</a:t>
            </a:r>
          </a:p>
          <a:p>
            <a:r>
              <a:t>f..</a:t>
            </a:r>
          </a:p>
          <a:p>
            <a:r>
              <a:t>.. "{; .,, t:</a:t>
            </a:r>
          </a:p>
          <a:p>
            <a:r>
              <a:t>s:; f.. t:</a:t>
            </a:r>
          </a:p>
          <a:p>
            <a:r>
              <a:t>t: _ ~ _; ;;.. t:. c t:</a:t>
            </a:r>
          </a:p>
          <a:p>
            <a:r>
              <a:t>"}': r:</a:t>
            </a:r>
          </a:p>
          <a:p>
            <a:r>
              <a:t>' t:</a:t>
            </a:r>
          </a:p>
          <a:p>
            <a:r>
              <a:t>-·,,.• t: t:</a:t>
            </a:r>
          </a:p>
          <a:p>
            <a:r>
              <a:t>t:</a:t>
            </a:r>
          </a:p>
          <a:p>
            <a:r>
              <a:t>~ £ c</a:t>
            </a:r>
          </a:p>
          <a:p>
            <a:r>
              <a:t>f.. c ~ r:</a:t>
            </a:r>
          </a:p>
          <a:p>
            <a:r>
              <a:t>.. r: £ .. r:</a:t>
            </a:r>
          </a:p>
          <a:p>
            <a:r>
              <a:t>~ ~ e ~ r; r 't: : t r : : : J;:, r: d F i ig sb ur u e r 3 se . m Li e m n • t . u d ; u it; n i i : ' g a r r ; i i a d t u e a p te o d i n b t a s r y s m (a b ); o g ls r a r d ep u r a e t s e e d n ~ ti p n i g ke 1 ~ 9 , 9 f 3 o r l m oa e n d</a:t>
            </a:r>
          </a:p>
          <a:p>
            <a:r>
              <a:t>.:. r r- r: 100 500 5000 by triangles with a constant base and height5 lincarlv scaled to</a:t>
            </a:r>
          </a:p>
          <a:p>
            <a:r>
              <a:t>-</a:t>
            </a:r>
          </a:p>
          <a:p>
            <a:r>
              <a:t>-;'",-,&gt; data (b); and st;ick' of repeated pictogram~ (c).</a:t>
            </a:r>
          </a:p>
          <a:p>
            <a:r>
              <a:t>symbol. These valid variations are not pursued because this paper has</a:t>
            </a:r>
          </a:p>
          <a:p>
            <a:r>
              <a:t>been limited to a manageable set of possibilities by focusing primarily on</a:t>
            </a:r>
          </a:p>
          <a:p>
            <a:r>
              <a:t>graduated symbol forms.</a:t>
            </a:r>
          </a:p>
          <a:p>
            <a:r>
              <a:t>Like Figure la, Figure 2a is an areal table with the siLes of numbers</a:t>
            </a:r>
          </a:p>
          <a:p>
            <a:r>
              <a:t>graduated by their values. Graduated numbers offer the reader the accu</a:t>
            </a:r>
          </a:p>
          <a:p>
            <a:r>
              <a:t>racy of a table with the advantage of a visual representation of relative "Graduated m11nbers offer tile</a:t>
            </a:r>
          </a:p>
          <a:p>
            <a:r>
              <a:t>magnitudes. (T\'ote that Figure 2a is the only map with symbols that reader tile accuracy of a table</a:t>
            </a:r>
          </a:p>
          <a:p>
            <a:r>
              <a:t>represent debt in billions of dollars; Figure la and all other map legends</a:t>
            </a:r>
          </a:p>
          <a:p>
            <a:r>
              <a:t>with the advantage of a 7.'isual</a:t>
            </a:r>
          </a:p>
          <a:p>
            <a:r>
              <a:t>list debt in millions of dollars.)</a:t>
            </a:r>
          </a:p>
          <a:p>
            <a:r>
              <a:t>represe11tatio11 of relative</a:t>
            </a:r>
          </a:p>
          <a:p>
            <a:r>
              <a:t>Traditional graduated circles and squares also work well with the</a:t>
            </a:r>
          </a:p>
          <a:p>
            <a:r>
              <a:t>disbursements data set (Figure 2b and c). Their familiarity and versatility 111ng11 i t11des."</a:t>
            </a:r>
          </a:p>
          <a:p>
            <a:r>
              <a:t>make them mapping options that should not be overlooked. By sizing the</a:t>
            </a:r>
          </a:p>
          <a:p>
            <a:r>
              <a:t>height and width of the entire set of symbols by a constant ratio, gradu</a:t>
            </a:r>
          </a:p>
          <a:p>
            <a:r>
              <a:t>ated ellipses (Figure 2d) offer a mapping solution for sets of enumeration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16 cartographic perspectives Number 29, Winter 1998</a:t>
            </a:r>
          </a:p>
          <a:p>
            <a:r>
              <a:t>units having generally elongated shapes. These</a:t>
            </a:r>
          </a:p>
          <a:p>
            <a:r>
              <a:t>a. Graduated</a:t>
            </a:r>
          </a:p>
          <a:p>
            <a:r>
              <a:t>ellipses are also included for comparison to a later</a:t>
            </a:r>
          </a:p>
          <a:p>
            <a:r>
              <a:t>Spheres</a:t>
            </a:r>
          </a:p>
          <a:p>
            <a:r>
              <a:t>bivariate use (Figure 6g). Magnitudes represented</a:t>
            </a:r>
          </a:p>
          <a:p>
            <a:r>
              <a:t>with a square grid (Figure 2e) may aid accurate</a:t>
            </a:r>
          </a:p>
          <a:p>
            <a:r>
              <a:t>100</a:t>
            </a:r>
          </a:p>
          <a:p>
            <a:r>
              <a:t>interpretation because individual cells can be</a:t>
            </a:r>
          </a:p>
          <a:p>
            <a:r>
              <a:t>counted.</a:t>
            </a:r>
          </a:p>
          <a:p>
            <a:r>
              <a:t>500 Another areal symbol, the 'money bag' picto</a:t>
            </a:r>
          </a:p>
          <a:p>
            <a:r>
              <a:t>gram (Figure 2f) offers an example shape that</a:t>
            </a:r>
          </a:p>
          <a:p>
            <a:r>
              <a:t>more literally reflects the data, captures the</a:t>
            </a:r>
          </a:p>
          <a:p>
            <a:r>
              <a:t>reader's attention, and may be scaled to represent</a:t>
            </a:r>
          </a:p>
          <a:p>
            <a:r>
              <a:t>relative quantities. Pictograms are particularly</a:t>
            </a:r>
          </a:p>
          <a:p>
            <a:r>
              <a:t>well suited when 'catching' the reader's eye is a</a:t>
            </a:r>
          </a:p>
          <a:p>
            <a:r>
              <a:t>priority, making them common in magazines,</a:t>
            </a:r>
          </a:p>
          <a:p>
            <a:r>
              <a:t>newspapers, and educational material. The New</a:t>
            </a:r>
          </a:p>
          <a:p>
            <a:r>
              <a:t>b. Graduated Stnte of the World Atlns (Kidron and Segal 1984)</a:t>
            </a:r>
          </a:p>
          <a:p>
            <a:r>
              <a:t>Cubes offers good examples of the unlimited possibilities</a:t>
            </a:r>
          </a:p>
          <a:p>
            <a:r>
              <a:t>of pictogram use. This atlas and later editions (for</a:t>
            </a:r>
          </a:p>
          <a:p>
            <a:r>
              <a:t>100</a:t>
            </a:r>
          </a:p>
          <a:p>
            <a:r>
              <a:t>example, the fifth edition was published in 1995)</a:t>
            </a:r>
          </a:p>
          <a:p>
            <a:r>
              <a:t>use graded pictograms to cleverly illustrate</a:t>
            </a:r>
          </a:p>
          <a:p>
            <a:r>
              <a:t>everything from radio receivers per 1000 people to</a:t>
            </a:r>
          </a:p>
          <a:p>
            <a:r>
              <a:t>worker exploitation rates. An example similar to</a:t>
            </a:r>
          </a:p>
          <a:p>
            <a:r>
              <a:t>that used in Figure 2f can be found in the Atlns of</a:t>
            </a:r>
          </a:p>
          <a:p>
            <a:r>
              <a:t>Newfo1111dln11d n11d Labrador (McManus et al. 1991,</a:t>
            </a:r>
          </a:p>
          <a:p>
            <a:r>
              <a:t>pl. 19). Although pictograms may not be well</a:t>
            </a:r>
          </a:p>
          <a:p>
            <a:r>
              <a:t>suited for accurate magnitude estimation, variety</a:t>
            </a:r>
          </a:p>
          <a:p>
            <a:r>
              <a:t>and ability to match the theme of the data being</a:t>
            </a:r>
          </a:p>
          <a:p>
            <a:r>
              <a:t>mapped make them a worthwhile consideration.</a:t>
            </a:r>
          </a:p>
          <a:p>
            <a:r>
              <a:t>Linearly-scaled symbols (Figure 3) work well</a:t>
            </a:r>
          </a:p>
          <a:p>
            <a:r>
              <a:t>c. Block Piles for these data because of the relatively large</a:t>
            </a:r>
          </a:p>
          <a:p>
            <a:r>
              <a:t>100 enumeration units. The bars in Figure 3a overlap</a:t>
            </a:r>
          </a:p>
          <a:p>
            <a:r>
              <a:t>multiple enumeration units and may be difficult to</a:t>
            </a:r>
          </a:p>
          <a:p>
            <a:r>
              <a:t>associate with the correct location. In contrast, the</a:t>
            </a:r>
          </a:p>
          <a:p>
            <a:r>
              <a:t>larger bases of the spikes in Figure 3b better</a:t>
            </a:r>
          </a:p>
          <a:p>
            <a:r>
              <a:t>associate the symbols with their enumeration</a:t>
            </a:r>
          </a:p>
          <a:p>
            <a:r>
              <a:t>units. Stacks of repeated pictograms (Figure 3c)</a:t>
            </a:r>
          </a:p>
          <a:p>
            <a:r>
              <a:t>offer a linearly-scaled version of pictograms (a</a:t>
            </a:r>
          </a:p>
          <a:p>
            <a:r>
              <a:t>similar pictogram is areally scaled in Figure 2£).</a:t>
            </a:r>
          </a:p>
          <a:p>
            <a:r>
              <a:t>Alternatively, scaling the height of a single tall</a:t>
            </a:r>
          </a:p>
          <a:p>
            <a:r>
              <a:t>pictogram for each enumeration unit is also</a:t>
            </a:r>
          </a:p>
          <a:p>
            <a:r>
              <a:t>appropriate. For mapping phenomena such as</a:t>
            </a:r>
          </a:p>
          <a:p>
            <a:r>
              <a:t>mercury in sediments, makers of The Nntionnl Atlas</a:t>
            </a:r>
          </a:p>
          <a:p>
            <a:r>
              <a:t>of Sweden: The Em&gt;iro11111e11t (Bernes and Grundsten</a:t>
            </a:r>
          </a:p>
          <a:p>
            <a:r>
              <a:t>Fi:;:11n• .f. \'olurnctric univariate point symbols reprc,enting 1993 loan</a:t>
            </a:r>
          </a:p>
          <a:p>
            <a:r>
              <a:t>1992) use linearly-scaled graduated columns set on</a:t>
            </a:r>
          </a:p>
          <a:p>
            <a:r>
              <a:t>disbursement d;it,i: graduated spheres (ii), grnduated cubes (b), and</a:t>
            </a:r>
          </a:p>
          <a:p>
            <a:r>
              <a:t>an oblique perspective projection of Sweden</a:t>
            </a:r>
          </a:p>
          <a:p>
            <a:r>
              <a:t>bl&lt;)CI-. piles (c). Cube-root scaling is used to sLi:c the spheres and</a:t>
            </a:r>
          </a:p>
          <a:p>
            <a:r>
              <a:t>cubes, &lt;111d block piles are constrnctt&gt;d by repeating the smallest cube viewed from the east. This technique produces an</a:t>
            </a:r>
          </a:p>
          <a:p>
            <a:r>
              <a:t>symbol. interesting map and allows the uncluttered use of</a:t>
            </a:r>
          </a:p>
          <a:p>
            <a:r>
              <a:t>linearly scaled bars that would be stacked atop one</a:t>
            </a:r>
          </a:p>
          <a:p>
            <a:r>
              <a:t>another in a more traditional planimetric view</a:t>
            </a:r>
          </a:p>
          <a:p>
            <a:r>
              <a:t>oriented to the north.</a:t>
            </a:r>
          </a:p>
          <a:p>
            <a:r>
              <a:t>Finally, volumetric symbols such as cubes and</a:t>
            </a:r>
          </a:p>
          <a:p>
            <a:r>
              <a:t>spheres (Figures 4a and b) are used for data with</a:t>
            </a:r>
          </a:p>
          <a:p>
            <a:r>
              <a:t>an extreme range and are relatively easy to con</a:t>
            </a:r>
          </a:p>
          <a:p>
            <a:r>
              <a:t>struct. Spheres can be rendered using a circle with</a:t>
            </a:r>
          </a:p>
          <a:p>
            <a:r>
              <a:t>a radial fill and a shadow (Figure 4a). Cube</a:t>
            </a:r>
          </a:p>
          <a:p>
            <a:r>
              <a:t>construction is more challenging because of</a:t>
            </a:r>
          </a:p>
          <a:p>
            <a:r>
              <a:t>projection options (Mackay 1953; Ekman et 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17</a:t>
            </a:r>
          </a:p>
          <a:p>
            <a:r>
              <a:t>1961; Brewer 1982; Dubery and Willats 1983; Figure 5). Block</a:t>
            </a:r>
          </a:p>
          <a:p>
            <a:r>
              <a:t>Orthographic</a:t>
            </a:r>
          </a:p>
          <a:p>
            <a:r>
              <a:t>piles (Figure -le) have long been associated with Raisz's talent</a:t>
            </a:r>
          </a:p>
          <a:p>
            <a:r>
              <a:t>for cartographic symbolization (1939, 19-!8). D 1cm</a:t>
            </a:r>
          </a:p>
          <a:p>
            <a:r>
              <a:t>cm</a:t>
            </a:r>
          </a:p>
          <a:p>
            <a:r>
              <a:t>Co111pnriso11 Dntn: Disb11rse111e11ts n11d Pri11cipal Repnyments</a:t>
            </a:r>
          </a:p>
          <a:p>
            <a:r>
              <a:t>1</a:t>
            </a:r>
          </a:p>
          <a:p>
            <a:r>
              <a:t>The possibilities for comparing data with point symbols on</a:t>
            </a:r>
          </a:p>
          <a:p>
            <a:r>
              <a:t>bi\'CHiate maps are limitless. The focus will be on several</a:t>
            </a:r>
          </a:p>
          <a:p>
            <a:r>
              <a:t>Oblique examples</a:t>
            </a:r>
          </a:p>
          <a:p>
            <a:r>
              <a:t>combinations of circles and squares, as well as bars, ellipses, and</a:t>
            </a:r>
          </a:p>
          <a:p>
            <a:r>
              <a:t>cavalier cabinet</a:t>
            </a:r>
          </a:p>
          <a:p>
            <a:r>
              <a:t>cubes. The large number of arrangement options available using 4/11 1</a:t>
            </a:r>
          </a:p>
          <a:p>
            <a:r>
              <a:t>common graduated circles and squares (side by side or ·H=71</a:t>
            </a:r>
          </a:p>
          <a:p>
            <a:r>
              <a:t>m·crlayed) offer different visual impressions while illustrating</a:t>
            </a:r>
          </a:p>
          <a:p>
            <a:r>
              <a:t>LlJ.</a:t>
            </a:r>
          </a:p>
          <a:p>
            <a:r>
              <a:t>the same data (Figure 6a, b, d, and f). Overlapping the symbols LJ)45</a:t>
            </a:r>
          </a:p>
          <a:p>
            <a:r>
              <a:t>produces a more integral symbol that involves pattern recogni usual usual</a:t>
            </a:r>
          </a:p>
          <a:p>
            <a:r>
              <a:t>tion because differences in relative values produce different</a:t>
            </a:r>
          </a:p>
          <a:p>
            <a:r>
              <a:t>overall symbol forms (compare the mostly black symbol for</a:t>
            </a:r>
          </a:p>
          <a:p>
            <a:r>
              <a:t>Axonometric examples</a:t>
            </a:r>
          </a:p>
          <a:p>
            <a:r>
              <a:t>Colombia, which is the only country for which payments exceed</a:t>
            </a:r>
          </a:p>
          <a:p>
            <a:r>
              <a:t>disbursements, to the others). Combining shapes for two shape and area of orthographic view maintained</a:t>
            </a:r>
          </a:p>
          <a:p>
            <a:r>
              <a:t>(angles sum to 90 )</a:t>
            </a:r>
          </a:p>
          <a:p>
            <a:r>
              <a:t>qualitati\'cly different variables, such as graduated circles and</a:t>
            </a:r>
          </a:p>
          <a:p>
            <a:r>
              <a:t>squares (Figure 6f), increases the variation in overall symbol</a:t>
            </a:r>
          </a:p>
          <a:p>
            <a:r>
              <a:t>form&lt;, but makes relative sizes difficult to compare.</a:t>
            </a:r>
          </a:p>
          <a:p>
            <a:r>
              <a:t>There are many options beyond combinations of circles and</a:t>
            </a:r>
          </a:p>
          <a:p>
            <a:r>
              <a:t>squares for comparing data. Adjacent semicircles (Figure 6c)</a:t>
            </a:r>
          </a:p>
          <a:p>
            <a:r>
              <a:t>70</a:t>
            </a:r>
          </a:p>
          <a:p>
            <a:r>
              <a:t>clearly illustrate differences between the two data sets. How</a:t>
            </a:r>
          </a:p>
          <a:p>
            <a:r>
              <a:t>C\'er, the adjacent straight edges may lead to linear rather than</a:t>
            </a:r>
          </a:p>
          <a:p>
            <a:r>
              <a:t>are,1-based estimates of value differences. Estimates of differ</a:t>
            </a:r>
          </a:p>
          <a:p>
            <a:r>
              <a:t>ences between pairs of linear symbols arc easier to make,</a:t>
            </a:r>
          </a:p>
          <a:p>
            <a:r>
              <a:t>although graduated bars (Figure 6e) can be more 'curnbcrsome'</a:t>
            </a:r>
          </a:p>
          <a:p>
            <a:r>
              <a:t>Isometric</a:t>
            </a:r>
          </a:p>
          <a:p>
            <a:r>
              <a:t>because linear ~ca ling increases the range of the map covered by</a:t>
            </a:r>
          </a:p>
          <a:p>
            <a:r>
              <a:t>all scales same</a:t>
            </a:r>
          </a:p>
          <a:p>
            <a:r>
              <a:t>symbols (square-root scaling for areal symbols and cube-root</a:t>
            </a:r>
          </a:p>
          <a:p>
            <a:r>
              <a:t>scaling for volumetric symbols produce more compact ~hapes). Elaborations</a:t>
            </a:r>
          </a:p>
          <a:p>
            <a:r>
              <a:t>One student (Jeff Erickson) offered a creative combination for</a:t>
            </a:r>
          </a:p>
          <a:p>
            <a:r>
              <a:t>di metric:</a:t>
            </a:r>
          </a:p>
          <a:p>
            <a:r>
              <a:t>pairing graduated cubes (Figure 7a). Cubes may also be placed two scales same</a:t>
            </a:r>
          </a:p>
          <a:p>
            <a:r>
              <a:t>'&gt;ide by side or stacked. An example of using pictograms to</a:t>
            </a:r>
          </a:p>
          <a:p>
            <a:r>
              <a:t>tnmetnc:</a:t>
            </a:r>
          </a:p>
          <a:p>
            <a:r>
              <a:t>illustrate comparison data can be found in Thomas's Tl1ird \Vorld three scales ditterent</a:t>
            </a:r>
          </a:p>
          <a:p>
            <a:r>
              <a:t>Alla~ ( 199-l). He used a split textbook to illustrate "Gross</a:t>
            </a:r>
          </a:p>
          <a:p>
            <a:r>
              <a:t>primary school enrollment ratio" (p. 59) bet\\'een males and Perspective</a:t>
            </a:r>
          </a:p>
          <a:p>
            <a:r>
              <a:t>females. The left side of the book was linearly scalt.?d to the</a:t>
            </a:r>
          </a:p>
          <a:p>
            <a:r>
              <a:t>one-point</a:t>
            </a:r>
          </a:p>
          <a:p>
            <a:r>
              <a:t>percentage of male enrollment; the right side to female enroll perspective</a:t>
            </a:r>
          </a:p>
          <a:p>
            <a:r>
              <a:t>ment. Elaborations</a:t>
            </a:r>
          </a:p>
          <a:p>
            <a:r>
              <a:t>A</a:t>
            </a:r>
          </a:p>
          <a:p>
            <a:r>
              <a:t>Ellipses (Figure 6g) may be constructed with their axes scaled two-point perspective:</a:t>
            </a:r>
          </a:p>
          <a:p>
            <a:r>
              <a:t>to illustrate different sets of data, in this case disbursement on two vanishing points</a:t>
            </a:r>
          </a:p>
          <a:p>
            <a:r>
              <a:t>LJ</a:t>
            </a:r>
          </a:p>
          <a:p>
            <a:r>
              <a:t>the horizontal axis and principal repi1yments on the vertical. three-point perspective:</a:t>
            </a:r>
          </a:p>
          <a:p>
            <a:r>
              <a:t>three vanishing points</a:t>
            </a:r>
          </a:p>
          <a:p>
            <a:r>
              <a:t>:V1,KEi1chren (1993, p. 90) describes this combination as an</a:t>
            </a:r>
          </a:p>
          <a:p>
            <a:r>
              <a:t>integration of attributes merged into one symbol. He cites</a:t>
            </a:r>
          </a:p>
          <a:p>
            <a:r>
              <a:t>Garner (1976) when stating "that object integration is more £1~111,· .i. A ,,1mpling ot thl' m,rny \\'ay' of</a:t>
            </a:r>
          </a:p>
          <a:p>
            <a:r>
              <a:t>dra'' mg thrl'e-d1111l'11,u111,1l ,ymbol,, u'ing at</a:t>
            </a:r>
          </a:p>
          <a:p>
            <a:r>
              <a:t>likely to lead to integral or configural conjunction than will two</a:t>
            </a:r>
          </a:p>
          <a:p>
            <a:r>
              <a:t>ern cubl· to dem&lt;•lhtr.11,• tlw l'lfoct'&gt; of variou'</a:t>
            </a:r>
          </a:p>
          <a:p>
            <a:r>
              <a:t>distinct '&gt;patially contiguous objects (e.g., pc1ired bars on a bar rrn1L'&lt;l1Pn ,,.,ll'm' (Duben· ,md \\ 11lat' 1981).</a:t>
            </a:r>
          </a:p>
          <a:p>
            <a:r>
              <a:t>chart)" (p. 90). The axes of these ellipses were SCi1lcd using the Tlw cubl· pn•1edi&lt;•11' ~L·1wr,1ll\' 111crea'l' in</a:t>
            </a:r>
          </a:p>
          <a:p>
            <a:r>
              <a:t>snplw.;tic,1l1&lt;lll trom thl' l&lt;'P do\\'n in thi-. figure'.</a:t>
            </a:r>
          </a:p>
          <a:p>
            <a:r>
              <a:t>linear dimcn~ions of the bars in Figure 6e. When ellipses are</a:t>
            </a:r>
          </a:p>
          <a:p>
            <a:r>
              <a:t>highly elongated in one direction or the other, the reader will</a:t>
            </a:r>
          </a:p>
          <a:p>
            <a:r>
              <a:t>rccogni/e '&gt;patial patterns in \·ariablc differences by the orienta</a:t>
            </a:r>
          </a:p>
          <a:p>
            <a:r>
              <a:t>tion of the symbols' major axes. Ellipses with more circular</a:t>
            </a:r>
          </a:p>
          <a:p>
            <a:r>
              <a:t>~hapes repre~ent comparisons for which neither of the mi1pped</a:t>
            </a:r>
          </a:p>
          <a:p>
            <a:r>
              <a:t>values arc significantly larger than the other. Ra!:&gt;e (1987)</a:t>
            </a:r>
          </a:p>
          <a:p>
            <a:r>
              <a:t>included bi\·ariate ellipses in his point-symbol mapping soft</a:t>
            </a:r>
          </a:p>
          <a:p>
            <a:r>
              <a:t>ware.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18 cartographic perspectives Number 29, Winter 1998</a:t>
            </a:r>
          </a:p>
          <a:p>
            <a:r>
              <a:t>--------</a:t>
            </a:r>
          </a:p>
          <a:p>
            <a:r>
              <a:t>a. Adjacent b. Graduated</a:t>
            </a:r>
          </a:p>
          <a:p>
            <a:r>
              <a:t>Graduated Square</a:t>
            </a:r>
          </a:p>
          <a:p>
            <a:r>
              <a:t>Squares Overlay</a:t>
            </a:r>
          </a:p>
          <a:p>
            <a:r>
              <a:t>Pnncipal</a:t>
            </a:r>
          </a:p>
          <a:p>
            <a:r>
              <a:t>Pnncpal Dlsbursemenls Pavments</a:t>
            </a:r>
          </a:p>
          <a:p>
            <a:r>
              <a:t>D sbursements Payments</a:t>
            </a:r>
          </a:p>
          <a:p>
            <a:r>
              <a:t>111100 • 100.</a:t>
            </a:r>
          </a:p>
          <a:p>
            <a:r>
              <a:t>11</a:t>
            </a:r>
          </a:p>
          <a:p>
            <a:r>
              <a:t>soo</a:t>
            </a:r>
          </a:p>
          <a:p>
            <a:r>
              <a:t>11 500</a:t>
            </a:r>
          </a:p>
          <a:p>
            <a:r>
              <a:t>c. Adjacent d. Graduated</a:t>
            </a:r>
          </a:p>
          <a:p>
            <a:r>
              <a:t>Graduated Circle Overlay</a:t>
            </a:r>
          </a:p>
          <a:p>
            <a:r>
              <a:t>Semicircles</a:t>
            </a:r>
          </a:p>
          <a:p>
            <a:r>
              <a:t>PnncipaJ</a:t>
            </a:r>
          </a:p>
          <a:p>
            <a:r>
              <a:t>Payments</a:t>
            </a:r>
          </a:p>
          <a:p>
            <a:r>
              <a:t>• 100.</a:t>
            </a:r>
          </a:p>
          <a:p>
            <a:r>
              <a:t>I soot t 9 soo</a:t>
            </a:r>
          </a:p>
          <a:p>
            <a:r>
              <a:t>i</a:t>
            </a:r>
          </a:p>
          <a:p>
            <a:r>
              <a:t>500</a:t>
            </a:r>
          </a:p>
          <a:p>
            <a:r>
              <a:t>(•</a:t>
            </a:r>
          </a:p>
          <a:p>
            <a:r>
              <a:t>5000 5000</a:t>
            </a:r>
          </a:p>
          <a:p>
            <a:r>
              <a:t>;;</a:t>
            </a:r>
          </a:p>
          <a:p>
            <a:r>
              <a:t>)</a:t>
            </a:r>
          </a:p>
          <a:p>
            <a:r>
              <a:t>e. Adjacent ,/;/' (''"' f. Graduated</a:t>
            </a:r>
          </a:p>
          <a:p>
            <a:r>
              <a:t>Graduated (~ , .. :t, ../•/·-~ --. ........., Circle/Square</a:t>
            </a:r>
          </a:p>
          <a:p>
            <a:r>
              <a:t>Bars . Overlay</a:t>
            </a:r>
          </a:p>
          <a:p>
            <a:r>
              <a:t>~</a:t>
            </a:r>
          </a:p>
          <a:p>
            <a:r>
              <a:t>.........,_ Pnnopa1</a:t>
            </a:r>
          </a:p>
          <a:p>
            <a:r>
              <a:t>- 0 s0ursemel'lts P Pa r y n m ap en a t s • - 0 sbursements Payments</a:t>
            </a:r>
          </a:p>
          <a:p>
            <a:r>
              <a:t>-e• 100 •</a:t>
            </a:r>
          </a:p>
          <a:p>
            <a:r>
              <a:t>'</a:t>
            </a:r>
          </a:p>
          <a:p>
            <a:r>
              <a:t>&gt; II</a:t>
            </a:r>
          </a:p>
          <a:p>
            <a:r>
              <a:t>~' 500</a:t>
            </a:r>
          </a:p>
          <a:p>
            <a:r>
              <a:t>/</a:t>
            </a:r>
          </a:p>
          <a:p>
            <a:r>
              <a:t>'</a:t>
            </a:r>
          </a:p>
          <a:p>
            <a:r>
              <a:t>I</a:t>
            </a:r>
          </a:p>
          <a:p>
            <a:r>
              <a:t>"~ "-.7</a:t>
            </a:r>
          </a:p>
          <a:p>
            <a:r>
              <a:t>; (</a:t>
            </a:r>
          </a:p>
          <a:p>
            <a:r>
              <a:t>•</a:t>
            </a:r>
          </a:p>
          <a:p>
            <a:r>
              <a:t>("'</a:t>
            </a:r>
          </a:p>
          <a:p>
            <a:r>
              <a:t>100 500 5000</a:t>
            </a:r>
          </a:p>
          <a:p>
            <a:r>
              <a:t>'</a:t>
            </a:r>
          </a:p>
          <a:p>
            <a:r>
              <a:t>g. Ellipses with</a:t>
            </a:r>
          </a:p>
          <a:p>
            <a:r>
              <a:t>• Figure 6. Areal and linear bivariate point symbols for data compari</a:t>
            </a:r>
          </a:p>
          <a:p>
            <a:r>
              <a:t>-. Graduated son. Related variables, 1993 disbursements and principal repayments,</a:t>
            </a:r>
          </a:p>
          <a:p>
            <a:r>
              <a:t>Axes</a:t>
            </a:r>
          </a:p>
          <a:p>
            <a:r>
              <a:t>are compared on each map. :\ote that payments exceed disburse</a:t>
            </a:r>
          </a:p>
          <a:p>
            <a:r>
              <a:t>ments for Colombia. Thus, a representation of repayments as a</a:t>
            </a:r>
          </a:p>
          <a:p>
            <a:r>
              <a:t>Disbursements</a:t>
            </a:r>
          </a:p>
          <a:p>
            <a:r>
              <a:t>on Horizontal Axis proportion of disbursements (a circle segment for example) would be</a:t>
            </a:r>
          </a:p>
          <a:p>
            <a:r>
              <a:t>quite awkward from both practical and logical perspectives. Example</a:t>
            </a:r>
          </a:p>
          <a:p>
            <a:r>
              <a:t>comparison symbols are: adjacent graduated squares (a), graduated</a:t>
            </a:r>
          </a:p>
          <a:p>
            <a:r>
              <a:t>Principal</a:t>
            </a:r>
          </a:p>
          <a:p>
            <a:r>
              <a:t>square overlay (b), adjacent (areally scaled) graduated semicircles (c),</a:t>
            </a:r>
          </a:p>
          <a:p>
            <a:r>
              <a:t>Payments</a:t>
            </a:r>
          </a:p>
          <a:p>
            <a:r>
              <a:t>on graduated circle overlay (d), adjacent graduated bars (e), graduated</a:t>
            </a:r>
          </a:p>
          <a:p>
            <a:r>
              <a:t>Vertical circle and square overlay (f), and ellipses with graduated axes (g).</a:t>
            </a:r>
          </a:p>
          <a:p>
            <a:r>
              <a:t>Axis Ellipse axes in g are linearly scaled to two data values to produce</a:t>
            </a:r>
          </a:p>
          <a:p>
            <a:r>
              <a:t>both varied shapes and sizes, though symbol areas are not directly</a:t>
            </a:r>
          </a:p>
          <a:p>
            <a:r>
              <a:t>scaled to a mapped variable. The overall look of the overlay symbols</a:t>
            </a:r>
          </a:p>
          <a:p>
            <a:r>
              <a:t>(b, d, and f) change markedly depending on which variable is the</a:t>
            </a:r>
          </a:p>
          <a:p>
            <a:r>
              <a:t>5000</a:t>
            </a:r>
          </a:p>
          <a:p>
            <a:r>
              <a:t>larger of the two. Overlay symbol construction is awkward where</a:t>
            </a:r>
          </a:p>
          <a:p>
            <a:r>
              <a:t>amounts are near equal because symbols are almost the same size but</a:t>
            </a:r>
          </a:p>
          <a:p>
            <a:r>
              <a:t>the slightly smaller one will take visual precedence (note Guyana's</a:t>
            </a:r>
          </a:p>
          <a:p>
            <a:r>
              <a:t>gray symbol).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19</a:t>
            </a:r>
          </a:p>
          <a:p>
            <a:r>
              <a:t>a. Nested b. Graduated</a:t>
            </a:r>
          </a:p>
          <a:p>
            <a:r>
              <a:t>I</a:t>
            </a:r>
          </a:p>
          <a:p>
            <a:r>
              <a:t>Cubes I Segmented</a:t>
            </a:r>
          </a:p>
          <a:p>
            <a:r>
              <a:t>(</a:t>
            </a:r>
          </a:p>
          <a:p>
            <a:r>
              <a:t>''1 Cubes</a:t>
            </a:r>
          </a:p>
          <a:p>
            <a:r>
              <a:t>Pr·nc1pa /'I::-</a:t>
            </a:r>
          </a:p>
          <a:p>
            <a:r>
              <a:t>D soursements Pl)lmtn!$</a:t>
            </a:r>
          </a:p>
          <a:p>
            <a:r>
              <a:t>~ -</a:t>
            </a:r>
          </a:p>
          <a:p>
            <a:r>
              <a:t>F1.x1m• 7 \\,lumetnc bivariate point .,ymbols for both comparison (il) and proportional (b) rl'iallonships, The same dat,1 represented in Figure'&gt; 6</a:t>
            </a:r>
          </a:p>
          <a:p>
            <a:r>
              <a:t>and 8 are u.,ed for the cube~ in 7a and b rc~pcctively,</a:t>
            </a:r>
          </a:p>
          <a:p>
            <a:r>
              <a:t>Proportional Data: Public and Private Components of Disbursements</a:t>
            </a:r>
          </a:p>
          <a:p>
            <a:r>
              <a:t>Mapping proportional data differs substantially from mapping com</a:t>
            </a:r>
          </a:p>
          <a:p>
            <a:r>
              <a:t>parison data because the smaller of the two data sets is always part of the</a:t>
            </a:r>
          </a:p>
          <a:p>
            <a:r>
              <a:t>larger set, unlike the disbursement and repayment data used in the</a:t>
            </a:r>
          </a:p>
          <a:p>
            <a:r>
              <a:t>comparison examples (Figure 6 and 7a). In Figures 7b and Sa, c, e, and g,</a:t>
            </a:r>
          </a:p>
          <a:p>
            <a:r>
              <a:t>graduated symbols are scaled to represent total disbursements and are</a:t>
            </a:r>
          </a:p>
          <a:p>
            <a:r>
              <a:t>segmented by the proportions of loans to public and private entities.</a:t>
            </a:r>
          </a:p>
          <a:p>
            <a:r>
              <a:t>Symbols of constant size in Figures Sb, d, and fare segmented to represent</a:t>
            </a:r>
          </a:p>
          <a:p>
            <a:r>
              <a:t>only the proportions of the disbursements' compositions, not the total</a:t>
            </a:r>
          </a:p>
          <a:p>
            <a:r>
              <a:t>disbursement value (as the graduated symbols do) so they are akin to</a:t>
            </a:r>
          </a:p>
          <a:p>
            <a:r>
              <a:t>univariate symbols. In all cases, the black portions of each symbol repre</a:t>
            </a:r>
          </a:p>
          <a:p>
            <a:r>
              <a:t>sent disbursements to public entities and the gray portions to private. For</a:t>
            </a:r>
          </a:p>
          <a:p>
            <a:r>
              <a:t>example, the use of graduated segmented circles (Figure Se) allows the "In contrast, maintaining a</a:t>
            </a:r>
          </a:p>
          <a:p>
            <a:r>
              <a:t>map reader to compare the total value of disbursements among countries</a:t>
            </a:r>
          </a:p>
          <a:p>
            <a:r>
              <a:t>constant symbol size (Figure Bf)</a:t>
            </a:r>
          </a:p>
          <a:p>
            <a:r>
              <a:t>as well as the proportions of private and public disbursements. In contrast,</a:t>
            </a:r>
          </a:p>
          <a:p>
            <a:r>
              <a:t>focuses the reader's attention</a:t>
            </a:r>
          </a:p>
          <a:p>
            <a:r>
              <a:t>maintaining a constant symbol size (Figure Sf) focuses the reader's atten 011</a:t>
            </a:r>
          </a:p>
          <a:p>
            <a:r>
              <a:t>tion on the proportional relationship. the proportio11al relationship."</a:t>
            </a:r>
          </a:p>
          <a:p>
            <a:r>
              <a:t>Examples of sectored circles and wedges (Fig Se, f. and g) are found in a</a:t>
            </a:r>
          </a:p>
          <a:p>
            <a:r>
              <a:t>variety of sources including Historical Atlas of Cminda, Vol. Jll (Kerr and</a:t>
            </a:r>
          </a:p>
          <a:p>
            <a:r>
              <a:t>Holdsworth 1990), The l\/atio11nl Atlas of Sweden: The E1ri.'iro11111e11t (Bernes</a:t>
            </a:r>
          </a:p>
          <a:p>
            <a:r>
              <a:t>and Grundsten 1992), and Tire MnritilJle Provinces Atlas (McCalla 19SS). The</a:t>
            </a:r>
          </a:p>
          <a:p>
            <a:r>
              <a:t>Historicnl Atlas of Canada makes extensive use of sectored circles, and often</a:t>
            </a:r>
          </a:p>
          <a:p>
            <a:r>
              <a:t>uses the space surrounding the map to allow extreme symbol sizing.</a:t>
            </a:r>
          </a:p>
          <a:p>
            <a:r>
              <a:t>Wedges, often used in The National Atlas of Sweden, are particularly well</a:t>
            </a:r>
          </a:p>
          <a:p>
            <a:r>
              <a:t>suited for illustrating quantitative data associated with points like ports or</a:t>
            </a:r>
          </a:p>
          <a:p>
            <a:r>
              <a:t>cities (p. 97 for example). Wedges can easily be rotated to fit in where</a:t>
            </a:r>
          </a:p>
          <a:p>
            <a:r>
              <a:t>other 'bulky' symbols can not easily be associated with a point location.</a:t>
            </a:r>
          </a:p>
          <a:p>
            <a:r>
              <a:t>The graduated wedge radius represents the total symbol size without</a:t>
            </a:r>
          </a:p>
          <a:p>
            <a:r>
              <a:t>showing the entire circle from which the segment came (Figure Sg). The</a:t>
            </a:r>
          </a:p>
          <a:p>
            <a:r>
              <a:t>wedge's point anchors it to its enumeration unit (the opposite association</a:t>
            </a:r>
          </a:p>
          <a:p>
            <a:r>
              <a:t>is used for graduated spikes; Figure 3b). The MnritilJle Prot&gt;i11ces Atlas uses a</a:t>
            </a:r>
          </a:p>
          <a:p>
            <a:r>
              <a:t>grouping of four wedges set at ninety degrees, like four flower petals. Each</a:t>
            </a:r>
          </a:p>
          <a:p>
            <a:r>
              <a:t>wedge represents the amount of a particular type of overnight accommo</a:t>
            </a:r>
          </a:p>
          <a:p>
            <a:r>
              <a:t>dation across the region. The reader may either compare entire symbol</a:t>
            </a:r>
          </a:p>
          <a:p>
            <a:r>
              <a:t>structures or individual segments of each symbol.</a:t>
            </a:r>
          </a:p>
          <a:p>
            <a:r>
              <a:t>The segmented bars and squares were constructed with fifty-percent</a:t>
            </a:r>
          </a:p>
          <a:p>
            <a:r>
              <a:t>markers (Figure Sa, b, c, and d). Students often included these reference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 cartographic perspectives Number 29, Winter 1998</a:t>
            </a:r>
          </a:p>
          <a:p>
            <a:r>
              <a:t>a. Graduated ,,-./?S· b. Segmented</a:t>
            </a:r>
          </a:p>
          <a:p>
            <a:r>
              <a:t>Segmented ·.. ~___...,__~ Bars</a:t>
            </a:r>
          </a:p>
          <a:p>
            <a:r>
              <a:t>I Bars I / /) ~</a:t>
            </a:r>
          </a:p>
          <a:p>
            <a:r>
              <a:t>Percent</a:t>
            </a:r>
          </a:p>
          <a:p>
            <a:r>
              <a:t>of 1993 Loan</a:t>
            </a:r>
          </a:p>
          <a:p>
            <a:r>
              <a:t>I Disbursements</a:t>
            </a:r>
          </a:p>
          <a:p>
            <a:r>
              <a:t>to Private</a:t>
            </a:r>
          </a:p>
          <a:p>
            <a:r>
              <a:t>Debtors</a:t>
            </a:r>
          </a:p>
          <a:p>
            <a:r>
              <a:t>~ % Private</a:t>
            </a:r>
          </a:p>
          <a:p>
            <a:r>
              <a:t>Percent of</a:t>
            </a:r>
          </a:p>
          <a:p>
            <a:r>
              <a:t>% Public ~ ~ 1993 Loan</a:t>
            </a:r>
          </a:p>
          <a:p>
            <a:r>
              <a:t>• Disburse</a:t>
            </a:r>
          </a:p>
          <a:p>
            <a:r>
              <a:t>f ments to</a:t>
            </a:r>
          </a:p>
          <a:p>
            <a:r>
              <a:t>I' Public</a:t>
            </a:r>
          </a:p>
          <a:p>
            <a:r>
              <a:t>100 500 5000 Entities</a:t>
            </a:r>
          </a:p>
          <a:p>
            <a:r>
              <a:t>'""'</a:t>
            </a:r>
          </a:p>
          <a:p>
            <a:r>
              <a:t>"· ~</a:t>
            </a:r>
          </a:p>
          <a:p>
            <a:r>
              <a:t>c. Graduated d. Segmented</a:t>
            </a:r>
          </a:p>
          <a:p>
            <a:r>
              <a:t>·- Segmented Squares</a:t>
            </a:r>
          </a:p>
          <a:p>
            <a:r>
              <a:t>Squares ) ..</a:t>
            </a:r>
          </a:p>
          <a:p>
            <a:r>
              <a:t>-_,</a:t>
            </a:r>
          </a:p>
          <a:p>
            <a:r>
              <a:t>1•00</a:t>
            </a:r>
          </a:p>
          <a:p>
            <a:r>
              <a:t>-</a:t>
            </a:r>
          </a:p>
          <a:p>
            <a:r>
              <a:t>Percent</a:t>
            </a:r>
          </a:p>
          <a:p>
            <a:r>
              <a:t>500 Private</a:t>
            </a:r>
          </a:p>
          <a:p>
            <a:r>
              <a:t>II</a:t>
            </a:r>
          </a:p>
          <a:p>
            <a:r>
              <a:t>.. .. .</a:t>
            </a:r>
          </a:p>
          <a:p>
            <a:r>
              <a:t>·. -/ 50%</a:t>
            </a:r>
          </a:p>
          <a:p>
            <a:r>
              <a:t>,, ..</a:t>
            </a:r>
          </a:p>
          <a:p>
            <a:r>
              <a:t>- - )</a:t>
            </a:r>
          </a:p>
          <a:p>
            <a:r>
              <a:t>/ ~.. I Percent</a:t>
            </a:r>
          </a:p>
          <a:p>
            <a:r>
              <a:t>Public</a:t>
            </a:r>
          </a:p>
          <a:p>
            <a:r>
              <a:t>/ ,: /</a:t>
            </a:r>
          </a:p>
          <a:p>
            <a:r>
              <a:t>(</a:t>
            </a:r>
          </a:p>
          <a:p>
            <a:r>
              <a:t>e. Graduated f. Segmented</a:t>
            </a:r>
          </a:p>
          <a:p>
            <a:r>
              <a:t>Segmented Circles</a:t>
            </a:r>
          </a:p>
          <a:p>
            <a:r>
              <a:t>Circles</a:t>
            </a:r>
          </a:p>
          <a:p>
            <a:r>
              <a:t>• 100</a:t>
            </a:r>
          </a:p>
          <a:p>
            <a:r>
              <a:t>Percent</a:t>
            </a:r>
          </a:p>
          <a:p>
            <a:r>
              <a:t>500</a:t>
            </a:r>
          </a:p>
          <a:p>
            <a:r>
              <a:t>Private</a:t>
            </a:r>
          </a:p>
          <a:p>
            <a:r>
              <a:t>% Private % Public</a:t>
            </a:r>
          </a:p>
          <a:p>
            <a:r>
              <a:t>- -</a:t>
            </a:r>
          </a:p>
          <a:p>
            <a:r>
              <a:t>Percent</a:t>
            </a:r>
          </a:p>
          <a:p>
            <a:r>
              <a:t>Public</a:t>
            </a:r>
          </a:p>
          <a:p>
            <a:r>
              <a:t>g. Graduated</a:t>
            </a:r>
          </a:p>
          <a:p>
            <a:r>
              <a:t>Wedges</a:t>
            </a:r>
          </a:p>
          <a:p>
            <a:r>
              <a:t>'</a:t>
            </a:r>
          </a:p>
          <a:p>
            <a:r>
              <a:t>Percent Private</a:t>
            </a:r>
          </a:p>
          <a:p>
            <a:r>
              <a:t>' Figure 8. Linear and areal bivariate point symbols for a proportional</a:t>
            </a:r>
          </a:p>
          <a:p>
            <a:r>
              <a:t>' data relationship: public and private disbursements are proportions</a:t>
            </a:r>
          </a:p>
          <a:p>
            <a:r>
              <a:t>•4 of total 1993 disbursements. Example proportion representations are:</a:t>
            </a:r>
          </a:p>
          <a:p>
            <a:r>
              <a:t>graduated segmented bars (a), segmented bars of constant size (b),</a:t>
            </a:r>
          </a:p>
          <a:p>
            <a:r>
              <a:t>• graduated segmented squares {c), segmented squares (d), graduated</a:t>
            </a:r>
          </a:p>
          <a:p>
            <a:r>
              <a:t>:- segmented circles (c), segmented circles (f), and graduated wedges</a:t>
            </a:r>
          </a:p>
          <a:p>
            <a:r>
              <a:t>25</a:t>
            </a:r>
          </a:p>
          <a:p>
            <a:r>
              <a:t>(g). Figures b, d, and f ~how only the proportions of private and</a:t>
            </a:r>
          </a:p>
          <a:p>
            <a:r>
              <a:t>public disbur~ement~ and not the total amounts of disbursements,</a:t>
            </a:r>
          </a:p>
          <a:p>
            <a:r>
              <a:t>'</a:t>
            </a:r>
          </a:p>
          <a:p>
            <a:r>
              <a:t>which are shown in a, c, and e. Figure g shows only the portion of</a:t>
            </a:r>
          </a:p>
          <a:p>
            <a:r>
              <a:t>'</a:t>
            </a:r>
          </a:p>
          <a:p>
            <a:r>
              <a:t>I private disbursements as circle sectors, or wedges, with an indication</a:t>
            </a:r>
          </a:p>
          <a:p>
            <a:r>
              <a:t>of the total-disbursement graduated circles in the square-root scaled</a:t>
            </a:r>
          </a:p>
          <a:p>
            <a:r>
              <a:t>·,</a:t>
            </a:r>
          </a:p>
          <a:p>
            <a:r>
              <a:t>sector radii.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21</a:t>
            </a:r>
          </a:p>
          <a:p>
            <a:r>
              <a:t>points in their symbol designs, which assists accurate percentage esti</a:t>
            </a:r>
          </a:p>
          <a:p>
            <a:r>
              <a:t>mates. The symbol form in Figure 8b is known to statisticians as a framed</a:t>
            </a:r>
          </a:p>
          <a:p>
            <a:r>
              <a:t>rectangle (Cleveland 1985, p. 208; Dunn 1987, 1988), and Monmonier</a:t>
            </a:r>
          </a:p>
          <a:p>
            <a:r>
              <a:t>(1993, p. 65) describes its usefulness in representing both absolute magni</a:t>
            </a:r>
          </a:p>
          <a:p>
            <a:r>
              <a:t>tudes and intensities. Dunn (1987) also suggests scaling the widths of the</a:t>
            </a:r>
          </a:p>
          <a:p>
            <a:r>
              <a:t>rectangles to total data values (to total disbursements for Figure 8b). In a</a:t>
            </a:r>
          </a:p>
          <a:p>
            <a:r>
              <a:t>conversation about Figure 8, MacEachren mentioned a successful student</a:t>
            </a:r>
          </a:p>
          <a:p>
            <a:r>
              <a:t>project from an ACSM design competition that divided graduated squares</a:t>
            </a:r>
          </a:p>
          <a:p>
            <a:r>
              <a:t>into ten-by-ten grids such that each cell represented one percent, and each</a:t>
            </a:r>
          </a:p>
          <a:p>
            <a:r>
              <a:t>row ten percent, of the whole for all symbol sizes (rather than using grid</a:t>
            </a:r>
          </a:p>
          <a:p>
            <a:r>
              <a:t>cells of a fixed size; a hybrid of Figure 8c and 2e).</a:t>
            </a:r>
          </a:p>
          <a:p>
            <a:r>
              <a:t>The work of students new to cartography has been an inspiration. With CONCLUSION</a:t>
            </a:r>
          </a:p>
          <a:p>
            <a:r>
              <a:t>modern computing at their disposal and freedom from the conventions of</a:t>
            </a:r>
          </a:p>
          <a:p>
            <a:r>
              <a:t>traditional thematic mapping, students are producing a wide variety of</a:t>
            </a:r>
          </a:p>
          <a:p>
            <a:r>
              <a:t>creative symbols for mapping data usually symbolized by graduated</a:t>
            </a:r>
          </a:p>
          <a:p>
            <a:r>
              <a:t>circles or squares. For example, a recent student assignment with eco</a:t>
            </a:r>
          </a:p>
          <a:p>
            <a:r>
              <a:t>nomic data produced creative ideas ranging from a proportionally scaled</a:t>
            </a:r>
          </a:p>
          <a:p>
            <a:r>
              <a:t>\ilonopoly game character (with pockets turned out or clutching money</a:t>
            </a:r>
          </a:p>
          <a:p>
            <a:r>
              <a:t>bags) to weight scales drawn tipped to illustrate balances between dollar</a:t>
            </a:r>
          </a:p>
          <a:p>
            <a:r>
              <a:t>amounts (by Elliott Westerman and Erika Bozza respectively). Are these</a:t>
            </a:r>
          </a:p>
          <a:p>
            <a:r>
              <a:t>effective symbols? With so little research into multivariate representations,</a:t>
            </a:r>
          </a:p>
          <a:p>
            <a:r>
              <a:t>one can not say, but this type of experimentation can be encouraged until</a:t>
            </a:r>
          </a:p>
          <a:p>
            <a:r>
              <a:t>there is e\·idence to the contrarv.</a:t>
            </a:r>
          </a:p>
          <a:p>
            <a:r>
              <a:t>". .. there are wide-ranging</a:t>
            </a:r>
          </a:p>
          <a:p>
            <a:r>
              <a:t>The intent of this paper has been to review some of the major topics on</a:t>
            </a:r>
          </a:p>
          <a:p>
            <a:r>
              <a:t>possibilities for applyi11g</a:t>
            </a:r>
          </a:p>
          <a:p>
            <a:r>
              <a:t>which graduated symbol research has been conducted and to demonstrate</a:t>
            </a:r>
          </a:p>
          <a:p>
            <a:r>
              <a:t>creative, eye-catching symbol</a:t>
            </a:r>
          </a:p>
          <a:p>
            <a:r>
              <a:t>the wide variety of ways to map univariate data as well as bivariate</a:t>
            </a:r>
          </a:p>
          <a:p>
            <a:r>
              <a:t>comparison and proportional relationships. The survey \·vas not exhaus designs to summarize mid</a:t>
            </a:r>
          </a:p>
          <a:p>
            <a:r>
              <a:t>tive, but if it has inspired recall of other symbol forms that have been synthesize quantitative spatial</a:t>
            </a:r>
          </a:p>
          <a:p>
            <a:r>
              <a:t>missed, then it has been successful in provoking consideration of the wide</a:t>
            </a:r>
          </a:p>
          <a:p>
            <a:r>
              <a:t>distributions."</a:t>
            </a:r>
          </a:p>
          <a:p>
            <a:r>
              <a:t>range of possibilities available •vith point symbols. Modern computer</a:t>
            </a:r>
          </a:p>
          <a:p>
            <a:r>
              <a:t>mapping allows mapmakers greater flexibility in designing creative</a:t>
            </a:r>
          </a:p>
          <a:p>
            <a:r>
              <a:t>graduated point symbols. This increase in flexibility increases the impor</a:t>
            </a:r>
          </a:p>
          <a:p>
            <a:r>
              <a:t>tance of research examining symbol design issues. As this article has</a:t>
            </a:r>
          </a:p>
          <a:p>
            <a:r>
              <a:t>illustrated, there are wide-ranging possibilities for applying creative, eye</a:t>
            </a:r>
          </a:p>
          <a:p>
            <a:r>
              <a:t>catching symbol designs to summarize and synthesize quantitative spatial</a:t>
            </a:r>
          </a:p>
          <a:p>
            <a:r>
              <a:t>distributions.</a:t>
            </a:r>
          </a:p>
          <a:p>
            <a:r>
              <a:t>Comments on the manuscript by Judy Olson and by an anonymous ACKl\'OWLEDGMEl\'TS</a:t>
            </a:r>
          </a:p>
          <a:p>
            <a:r>
              <a:t>reviewer are acknowledged with appreciation. This research was funded</a:t>
            </a:r>
          </a:p>
          <a:p>
            <a:r>
              <a:t>by a George H. Deike Jr. Research Grant from the College of Earth and</a:t>
            </a:r>
          </a:p>
          <a:p>
            <a:r>
              <a:t>Mineral Sciences at Penn State.</a:t>
            </a:r>
          </a:p>
          <a:p>
            <a:r>
              <a:t>Abler, R.F. 1987. The &gt;Jational Science Foundation National Center for REFEREl\'CES</a:t>
            </a:r>
          </a:p>
          <a:p>
            <a:r>
              <a:t>Geographic Information and Analysis. 1Htcmatio11a/ /011mal of Geograpl1ical</a:t>
            </a:r>
          </a:p>
          <a:p>
            <a:r>
              <a:t>/11for111atiou Syste111s 1(4):303-326.</a:t>
            </a:r>
          </a:p>
          <a:p>
            <a:r>
              <a:t>Balogun, 0.\/. 1978. The decagraph: A substitute for the pie graph? T/ie</a:t>
            </a:r>
          </a:p>
          <a:p>
            <a:r>
              <a:t>Cartograplric journal 15:48-85.</a:t>
            </a:r>
          </a:p>
          <a:p>
            <a:r>
              <a:t>Bernes, C., and C. Grundsten (eds.). 1992. Tire Natio11a/ A tins uf Swede11: The</a:t>
            </a:r>
          </a:p>
          <a:p>
            <a:r>
              <a:t>E1wiro11111e11t, vol. 4. Stockholm: SNA.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22 cartographic perspectives Number 29, Winter 1998</a:t>
            </a:r>
          </a:p>
          <a:p>
            <a:r>
              <a:t>Brewer, C. 1982. The Effectiveness of the Cube as a Map Symbol. Unpublished</a:t>
            </a:r>
          </a:p>
          <a:p>
            <a:r>
              <a:t>Undergraduate Thesis, Department of Geography, University of Guelph,</a:t>
            </a:r>
          </a:p>
          <a:p>
            <a:r>
              <a:t>Guelph, Ontario.</a:t>
            </a:r>
          </a:p>
          <a:p>
            <a:r>
              <a:t>Chang, K.T. 1977. Visual estimation of graduated circles. The Canadian</a:t>
            </a:r>
          </a:p>
          <a:p>
            <a:r>
              <a:t>Cartographer 14(2):130-138.</a:t>
            </a:r>
          </a:p>
          <a:p>
            <a:r>
              <a:t>Chang, K.T. 1980. Circle size judgment and map design. The American</a:t>
            </a:r>
          </a:p>
          <a:p>
            <a:r>
              <a:t>Cartographer 7(2):155-162.</a:t>
            </a:r>
          </a:p>
          <a:p>
            <a:r>
              <a:t>Clarke, J.I. 1959. Statistical map reading. Geography 44:96-104.</a:t>
            </a:r>
          </a:p>
          <a:p>
            <a:r>
              <a:t>Cleveland, W.S. 1985. The Elements of Graphing Data. Monterey, CA:</a:t>
            </a:r>
          </a:p>
          <a:p>
            <a:r>
              <a:t>Wadsworth.</a:t>
            </a:r>
          </a:p>
          <a:p>
            <a:r>
              <a:t>Cox, C.W. 1976. Anchor effects and the estimation of graduated circles and</a:t>
            </a:r>
          </a:p>
          <a:p>
            <a:r>
              <a:t>squares. The American Cartographer 3(1 ):65-74.</a:t>
            </a:r>
          </a:p>
          <a:p>
            <a:r>
              <a:t>Crawford, P. V. 1971. Perception of grey-tone symbols. Annals of the</a:t>
            </a:r>
          </a:p>
          <a:p>
            <a:r>
              <a:t>Association of American Geographers 3(1 ):721-735.</a:t>
            </a:r>
          </a:p>
          <a:p>
            <a:r>
              <a:t>Crawford, P.V. 1973. The perception of graduated squares as cartographic</a:t>
            </a:r>
          </a:p>
          <a:p>
            <a:r>
              <a:t>symbols. The Cartographic foumal 10(2):85-88.</a:t>
            </a:r>
          </a:p>
          <a:p>
            <a:r>
              <a:t>Croxton, F.E., and R.E. Stryker. 1927. Bar charts versus circle diagrams.</a:t>
            </a:r>
          </a:p>
          <a:p>
            <a:r>
              <a:t>Journal of the American Statistical Association 22:473-482.</a:t>
            </a:r>
          </a:p>
          <a:p>
            <a:r>
              <a:t>Croxton, F.E., and H. Stein. 1932. Graphic comparisons by bars, squares,</a:t>
            </a:r>
          </a:p>
          <a:p>
            <a:r>
              <a:t>circles, and cubes. Journal of the American Statistical Association 27:54-60.</a:t>
            </a:r>
          </a:p>
          <a:p>
            <a:r>
              <a:t>Dent, B.D. 1996. Cartography: Thematic Map Design, 4th ed. Dubuque, IA:</a:t>
            </a:r>
          </a:p>
          <a:p>
            <a:r>
              <a:t>Wm. C. Brown.</a:t>
            </a:r>
          </a:p>
          <a:p>
            <a:r>
              <a:t>Dobson, M.W. 1974. Refining legend values for proportional circle maps.</a:t>
            </a:r>
          </a:p>
          <a:p>
            <a:r>
              <a:t>The Ca11adia11Cartographer11(1):45-53.</a:t>
            </a:r>
          </a:p>
          <a:p>
            <a:r>
              <a:t>Dubery, F., and]. Willa ts, 1983. Perspective mid Other Drawing Systems.</a:t>
            </a:r>
          </a:p>
          <a:p>
            <a:r>
              <a:t>New York: Van Nostrand Reinhold.</a:t>
            </a:r>
          </a:p>
          <a:p>
            <a:r>
              <a:t>Dunn, R. 1987. Variable-width framed rectangle charts for statistical</a:t>
            </a:r>
          </a:p>
          <a:p>
            <a:r>
              <a:t>mapping. The A111ericm1 Statistician 41(2):153-156.</a:t>
            </a:r>
          </a:p>
          <a:p>
            <a:r>
              <a:t>Dunn, R. 1988. Framed rectangle charts for statistical maps with shading:</a:t>
            </a:r>
          </a:p>
          <a:p>
            <a:r>
              <a:t>An experiment in graphical perception. Tile American Statistician 42(2):123-</a:t>
            </a:r>
          </a:p>
          <a:p>
            <a:r>
              <a:t>129.</a:t>
            </a:r>
          </a:p>
          <a:p>
            <a:r>
              <a:t>Eells, W.C. 1926. The relative merits of circles and bars for representing</a:t>
            </a:r>
          </a:p>
          <a:p>
            <a:r>
              <a:t>component parts. Journal of the American Statistical Association 21:119-132.</a:t>
            </a:r>
          </a:p>
          <a:p>
            <a:r>
              <a:t>Ekman, G., and K. Junge. 1961. Psychophysical relations in visual percep</a:t>
            </a:r>
          </a:p>
          <a:p>
            <a:r>
              <a:t>tion of length, area, and volume. Scandinavian journal of Psychology 2:1-10.</a:t>
            </a:r>
          </a:p>
          <a:p>
            <a:r>
              <a:t>Ekman, G., R. Lindman, and W. William-Olsson. 1961. A psychophysical</a:t>
            </a:r>
          </a:p>
          <a:p>
            <a:r>
              <a:t>study of cartographic symbols. Perceptual and Motor Skills 13:355-368.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23</a:t>
            </a:r>
          </a:p>
          <a:p>
            <a:r>
              <a:t>Flannery, J.J. 1956. The Graduated Circle: A Descriptio11, Analysis and Evalua</a:t>
            </a:r>
          </a:p>
          <a:p>
            <a:r>
              <a:t>tion ofa Q11a11titativc Map Symbol. Unpublished Ph.D. Dissertation, Depart</a:t>
            </a:r>
          </a:p>
          <a:p>
            <a:r>
              <a:t>ment of Geography, University of Wisconsin, Madison, WI.</a:t>
            </a:r>
          </a:p>
          <a:p>
            <a:r>
              <a:t>Flannery, J.J. 1971. The relative effectiveness of some common graduated</a:t>
            </a:r>
          </a:p>
          <a:p>
            <a:r>
              <a:t>point symbols in the presentation of quantitative data. Tire Canadian</a:t>
            </a:r>
          </a:p>
          <a:p>
            <a:r>
              <a:t>Cartograplrer 8(2):96-109.</a:t>
            </a:r>
          </a:p>
          <a:p>
            <a:r>
              <a:t>Fraczek, I. 1984. Cartographic studies on graduated symbol map percep</a:t>
            </a:r>
          </a:p>
          <a:p>
            <a:r>
              <a:t>tion. llltematio11al Yearbook of Cartography 24:75-84.</a:t>
            </a:r>
          </a:p>
          <a:p>
            <a:r>
              <a:t>Garner, W.R. 1976. Interaction of stimulus dimensions in concept and</a:t>
            </a:r>
          </a:p>
          <a:p>
            <a:r>
              <a:t>choice processes. Cognitive Psychology 8:98-123.</a:t>
            </a:r>
          </a:p>
          <a:p>
            <a:r>
              <a:t>Gilmartin, P.P. 1981a. The interface of cognitive and psychophysical</a:t>
            </a:r>
          </a:p>
          <a:p>
            <a:r>
              <a:t>research in cartography. Cartographicn 18(3):9-20.</a:t>
            </a:r>
          </a:p>
          <a:p>
            <a:r>
              <a:t>Gilmartin, P.P. 1981b. Influences of map context on circle perception.</a:t>
            </a:r>
          </a:p>
          <a:p>
            <a:r>
              <a:t>Annals of tire Association of A111erican Geographers 71(2):253-258.</a:t>
            </a:r>
          </a:p>
          <a:p>
            <a:r>
              <a:t>Griffin, T.L.C. 1985. Group and individual variations in judgment and</a:t>
            </a:r>
          </a:p>
          <a:p>
            <a:r>
              <a:t>their relevance to the scaling of graduated circles. Cartographicn 22(1):21-37.</a:t>
            </a:r>
          </a:p>
          <a:p>
            <a:r>
              <a:t>Griffin, T.L.C. 1990. The importance of visual contrast for graduated</a:t>
            </a:r>
          </a:p>
          <a:p>
            <a:r>
              <a:t>circles. Cartography 19(1 ):21-30.</a:t>
            </a:r>
          </a:p>
          <a:p>
            <a:r>
              <a:t>Groop, R.E., and D. Cole. 1978. Overlapping graduated circles/ Magnitude</a:t>
            </a:r>
          </a:p>
          <a:p>
            <a:r>
              <a:t>estirnabon and method of portrayal. The Canadian Cartographer 15(2):114-</a:t>
            </a:r>
          </a:p>
          <a:p>
            <a:r>
              <a:t>122.</a:t>
            </a:r>
          </a:p>
          <a:p>
            <a:r>
              <a:t>Heino, A. 1991. The estimation of graduated symbols in thematic maps.</a:t>
            </a:r>
          </a:p>
          <a:p>
            <a:r>
              <a:t>Fe1rnia 169(2):171-181.</a:t>
            </a:r>
          </a:p>
          <a:p>
            <a:r>
              <a:t>Kerr, D., and D.W. Holdsworth (eds). 1990. Historical Atlas of Canada, Vol.</a:t>
            </a:r>
          </a:p>
          <a:p>
            <a:r>
              <a:t>III, Addressing the Twentieth Century, 1891-1961. Toronto: University of</a:t>
            </a:r>
          </a:p>
          <a:p>
            <a:r>
              <a:t>Toronto Press.</a:t>
            </a:r>
          </a:p>
          <a:p>
            <a:r>
              <a:t>Kidron, M. and R. Segal. 1984. The New State of the World Atlas. New York:</a:t>
            </a:r>
          </a:p>
          <a:p>
            <a:r>
              <a:t>Simon &amp; Schuster.</a:t>
            </a:r>
          </a:p>
          <a:p>
            <a:r>
              <a:t>Lindenberg, R.E. 1986. The Effect of Color 011 Q11a11titative Map Symbol</a:t>
            </a:r>
          </a:p>
          <a:p>
            <a:r>
              <a:t>Estimatio11. Unpublished Ph.D. Dissertation, Department of Geography,</a:t>
            </a:r>
          </a:p>
          <a:p>
            <a:r>
              <a:t>University of Kansas, Lawrence, KS.</a:t>
            </a:r>
          </a:p>
          <a:p>
            <a:r>
              <a:t>MacEachren, A.M. 1995. How Maps Work: Representation, Vis11a/izatio11, and</a:t>
            </a:r>
          </a:p>
          <a:p>
            <a:r>
              <a:t>Design. New York: Guilford.</a:t>
            </a:r>
          </a:p>
          <a:p>
            <a:r>
              <a:t>Mackay, J.R. 1953. A new projection for cubic symbols on economic maps.</a:t>
            </a:r>
          </a:p>
          <a:p>
            <a:r>
              <a:t>Econo111ic Geograplry 29:60-62.</a:t>
            </a:r>
          </a:p>
          <a:p>
            <a:r>
              <a:t>Macmillan, N.A., CF. Moschetto, F.M. Bialostozky, and L. Engel. 1974. Size</a:t>
            </a:r>
          </a:p>
          <a:p>
            <a:r>
              <a:t>judgment: The presence of a standard increases the exponent of the power</a:t>
            </a:r>
          </a:p>
          <a:p>
            <a:r>
              <a:t>law. Perceptio11 and Psychophysics, 16(2):340-346.</a:t>
            </a:r>
          </a:p>
          <a:p>
            <a:r>
              <a:t>Maddock, K.W., and B. Crassini. 1980. Can estimation of circle size be</a:t>
            </a:r>
          </a:p>
          <a:p>
            <a:r>
              <a:t>influenced by instructions? Cartography 11(3):175-180.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24 cartographic perspectives Number 29, Winter 1998</a:t>
            </a:r>
          </a:p>
          <a:p>
            <a:r>
              <a:t>McCalla, R.J. 1988. Tl1e Maritime Provi11ces Atlas. Halifax, N.S.: Maritext.</a:t>
            </a:r>
          </a:p>
          <a:p>
            <a:r>
              <a:t>McManus, G.E., C.H. Wood, D.]. Mercer, and CM. Conway. 1991. Atlas of</a:t>
            </a:r>
          </a:p>
          <a:p>
            <a:r>
              <a:t>Neufo11ndla11d and Labrador. St. John's, F: Breakwater.</a:t>
            </a:r>
          </a:p>
          <a:p>
            <a:r>
              <a:t>Meihoefer, H.J. 1969. The utility of the circle as an effective cartographic</a:t>
            </a:r>
          </a:p>
          <a:p>
            <a:r>
              <a:t>symbol, The Cniwdia11 Cartogrnphcr 6(2):105-117.</a:t>
            </a:r>
          </a:p>
          <a:p>
            <a:r>
              <a:t>Meihoefer, H.J. 1973. The visual perception of the circle in thematic maps/</a:t>
            </a:r>
          </a:p>
          <a:p>
            <a:r>
              <a:t>Experimental results. The Ca11adia11Cartographer10(1):63-84.</a:t>
            </a:r>
          </a:p>
          <a:p>
            <a:r>
              <a:t>Mersey, J.E. 1996. Cartographic symbolization requirements for microcom</a:t>
            </a:r>
          </a:p>
          <a:p>
            <a:r>
              <a:t>puter-based geographic information systems. Ch. 13 in Cartographic</a:t>
            </a:r>
          </a:p>
          <a:p>
            <a:r>
              <a:t>Design: Tlreoreticnl ni1d Practical Perspectives, C.H. Wood and C.P. Keller</a:t>
            </a:r>
          </a:p>
          <a:p>
            <a:r>
              <a:t>(eds). New York: John Wiley &amp; Sons. 157-175.</a:t>
            </a:r>
          </a:p>
          <a:p>
            <a:r>
              <a:t>Monmonier, M.S. 1977. Regression-based scaling to facilitate the cross</a:t>
            </a:r>
          </a:p>
          <a:p>
            <a:r>
              <a:t>correlation of graduated circle maps. The Cartograplric /01mwl 14(2):89-98.</a:t>
            </a:r>
          </a:p>
          <a:p>
            <a:r>
              <a:t>Monmonier, M. 1993. Mapping lt Out. Chicago: University of Chicago</a:t>
            </a:r>
          </a:p>
          <a:p>
            <a:r>
              <a:t>Press.</a:t>
            </a:r>
          </a:p>
          <a:p>
            <a:r>
              <a:t>Muehrcke, P.C. 1996. The logic of map design. Ch. 19 in Cartographic</a:t>
            </a:r>
          </a:p>
          <a:p>
            <a:r>
              <a:t>Design: Tlieoreficnl and Practical Perspectives, C.H. Wood and C.P. Keller</a:t>
            </a:r>
          </a:p>
          <a:p>
            <a:r>
              <a:t>(eds). New York: John Wiley &amp; Sons. 271-278.</a:t>
            </a:r>
          </a:p>
          <a:p>
            <a:r>
              <a:t>Nelson, E.S., and P. Gilmartin. 1996. An evaluation of multivariate,</a:t>
            </a:r>
          </a:p>
          <a:p>
            <a:r>
              <a:t>quantitative point symbols for maps, Ch. 15 in Cartograpl1ic Design: Theo</a:t>
            </a:r>
          </a:p>
          <a:p>
            <a:r>
              <a:t>retical and Practical Perspectives, C.H. Wood and C.P. Keller (eds). New</a:t>
            </a:r>
          </a:p>
          <a:p>
            <a:r>
              <a:t>York: John Wiley &amp; Sons. 191-210.</a:t>
            </a:r>
          </a:p>
          <a:p>
            <a:r>
              <a:t>Olson, J.M. 1975. Experience and the improvement of cartographic com</a:t>
            </a:r>
          </a:p>
          <a:p>
            <a:r>
              <a:t>munication. The Cartograpliic founwl 12(2): 94-108.</a:t>
            </a:r>
          </a:p>
          <a:p>
            <a:r>
              <a:t>Olson, ].YI. 1978. Graduated circles. Tire Cartographic /oumal 15(2): 105.</a:t>
            </a:r>
          </a:p>
          <a:p>
            <a:r>
              <a:t>Olson, J.M. 1979. Cognitive cartographic experimentation. Tile Ca11adia11</a:t>
            </a:r>
          </a:p>
          <a:p>
            <a:r>
              <a:t>Cartograpl1er 16(1 ):34-44.</a:t>
            </a:r>
          </a:p>
          <a:p>
            <a:r>
              <a:t>Patton, J.C., and T.A. Slocum. 1985. Spatial pattern recall I An analysis of</a:t>
            </a:r>
          </a:p>
          <a:p>
            <a:r>
              <a:t>the aesthetic use of color. Cartographicn 22(3):70-87.</a:t>
            </a:r>
          </a:p>
          <a:p>
            <a:r>
              <a:t>Pazner, .\1.l. 1997. The tile map: A table I map hybrid representation in</a:t>
            </a:r>
          </a:p>
          <a:p>
            <a:r>
              <a:t>image form. Proceedings, International Symposium on Computer Mapping</a:t>
            </a:r>
          </a:p>
          <a:p>
            <a:r>
              <a:t>in Epidemiology and Environmental Health, February 1995 (published</a:t>
            </a:r>
          </a:p>
          <a:p>
            <a:r>
              <a:t>April 1997), pp. 105-11-l.</a:t>
            </a:r>
          </a:p>
          <a:p>
            <a:r>
              <a:t>Petchenik, B.B. 1983. A map maker's perspective on map design research</a:t>
            </a:r>
          </a:p>
          <a:p>
            <a:r>
              <a:t>1950-1980. Ch. 3 in Graplric Co111m1111icntion a11d Desig11 in Co11temporary</a:t>
            </a:r>
          </a:p>
          <a:p>
            <a:r>
              <a:t>Cartography, D.R.F. Taylor (ed.), e'v York: john Wiley &amp; Sons. 37-68.</a:t>
            </a:r>
          </a:p>
          <a:p>
            <a:r>
              <a:t>Peterson, M.P. 1985. Evaluating a map's image. Tire American Cartographer</a:t>
            </a:r>
          </a:p>
          <a:p>
            <a:r>
              <a:t>12(1 ):41-55.</a:t>
            </a:r>
          </a:p>
          <a:p>
            <a:r>
              <a:t>Peterson, M.P. 1987. The mental image in cartographic communication.</a:t>
            </a:r>
          </a:p>
          <a:p>
            <a:r>
              <a:t>The Cartograpliic f 0 11 mal 24(1 ):35-41.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25</a:t>
            </a:r>
          </a:p>
          <a:p>
            <a:r>
              <a:t>Raisz, E. 1939. Block-pile system of statistical maps. Eco110111ic Geography</a:t>
            </a:r>
          </a:p>
          <a:p>
            <a:r>
              <a:t>15:185-188.</a:t>
            </a:r>
          </a:p>
          <a:p>
            <a:r>
              <a:t>Raisz, E. 19.f8. Gc11crnl Cartography, New York: McGraw Hill.</a:t>
            </a:r>
          </a:p>
          <a:p>
            <a:r>
              <a:t>Rase, W.D. 1987. The evolution of a graduated symbol software package</a:t>
            </a:r>
          </a:p>
          <a:p>
            <a:r>
              <a:t>in a changing graphicsenvironment. /nternationa/ fo11mal ofGeogrnpl1icn/</a:t>
            </a:r>
          </a:p>
          <a:p>
            <a:r>
              <a:t>lnfor111atio11Systems1(1):51-65.</a:t>
            </a:r>
          </a:p>
          <a:p>
            <a:r>
              <a:t>Robinson, A.H., J.L. Morrison, P.C. Muehrcke, A.J. Kimerling, and S.C.</a:t>
            </a:r>
          </a:p>
          <a:p>
            <a:r>
              <a:t>Guptill. 1995. Elr111c11ts of Cartogrnphy, 6th ed. New York: John Wiley &amp;</a:t>
            </a:r>
          </a:p>
          <a:p>
            <a:r>
              <a:t>Sons.</a:t>
            </a:r>
          </a:p>
          <a:p>
            <a:r>
              <a:t>Shortridge, B.G. 1982. Stimulus processing models from psychology: Can</a:t>
            </a:r>
          </a:p>
          <a:p>
            <a:r>
              <a:t>,.ve use them in cartography? The A111cricn11Cartographer9:155-167.</a:t>
            </a:r>
          </a:p>
          <a:p>
            <a:r>
              <a:t>Shortridge, B.G., and R.B. Welch. 1980. Are we asking the right questions?</a:t>
            </a:r>
          </a:p>
          <a:p>
            <a:r>
              <a:t>Comment&lt;; on instructions in cartographic psychophysical studies. The</a:t>
            </a:r>
          </a:p>
          <a:p>
            <a:r>
              <a:t>A111cricn11 Cartographer 7:19-23.</a:t>
            </a:r>
          </a:p>
          <a:p>
            <a:r>
              <a:t>Slocum, T.A. 1981. Analyzing the communicative efficiency of two</a:t>
            </a:r>
          </a:p>
          <a:p>
            <a:r>
              <a:t>sectored pie graphs. Cartogrnpliicn 18(3):53-65.</a:t>
            </a:r>
          </a:p>
          <a:p>
            <a:r>
              <a:t>Slocum, T.A., and S.C. Yoder. 1996. Software for exploring te111pornl data</a:t>
            </a:r>
          </a:p>
          <a:p>
            <a:r>
              <a:t>associated &lt;l'itl1 poi11t locnlio11s. Unpublished presentation at the annual</a:t>
            </a:r>
          </a:p>
          <a:p>
            <a:r>
              <a:t>meeting of the North American Cartographic Information Society in San</a:t>
            </a:r>
          </a:p>
          <a:p>
            <a:r>
              <a:t>Antonio. October.</a:t>
            </a:r>
          </a:p>
          <a:p>
            <a:r>
              <a:t>Teghtsoonian, M. 1965. The judgment of size. T/1c A111cricn11 fo11ma/ of</a:t>
            </a:r>
          </a:p>
          <a:p>
            <a:r>
              <a:t>Psyclrology 78:392-402.</a:t>
            </a:r>
          </a:p>
          <a:p>
            <a:r>
              <a:t>Thomas, A. 1994. Third \!Vorld Atlas, 211d ed. Washington D.C.: Taylor &amp;</a:t>
            </a:r>
          </a:p>
          <a:p>
            <a:r>
              <a:t>Francis.</a:t>
            </a:r>
          </a:p>
          <a:p>
            <a:r>
              <a:t>Williams, R.L. 1956. Slatislicnl Sy111/70/s for Maps: Their Design and Rclatin:</a:t>
            </a:r>
          </a:p>
          <a:p>
            <a:r>
              <a:t>Values. r\e,..,· Haven, CT: Map Laboratory, Yale University. Office of Naval</a:t>
            </a:r>
          </a:p>
          <a:p>
            <a:r>
              <a:t>Research Project \JR 088-006, Nonr 609(03).</a:t>
            </a:r>
          </a:p>
          <a:p>
            <a:r>
              <a:t>\A/illiams, R.L. 1977. Graduated circles. T11c Cartogrnphic /011mal 14(2): 80.</a:t>
            </a:r>
          </a:p>
          <a:p>
            <a:r>
              <a:t>World Bank. 1994. World DlN Ta/1/es 1994-95, Extemal Fi11a11cefor Dl'l 1 elop</a:t>
            </a:r>
          </a:p>
          <a:p>
            <a:r>
              <a:t>i11g Co1111trics, &lt;•of. 2. Washington D.C.: The World Bank.</a:t>
            </a:r>
          </a:p>
          <a:p>
            <a:r>
              <a:t>Worth, C. 1989. Problems \·vi th experimental research in map design- A</a:t>
            </a:r>
          </a:p>
          <a:p>
            <a:r>
              <a:t>case study. The Cartographic fo11rnal 26(2):148-153.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26 cartographic perspectives Number 29, Winter 1998</a:t>
            </a:r>
          </a:p>
          <a:p>
            <a:r>
              <a:t>Animation-Based Map Design: The</a:t>
            </a:r>
          </a:p>
          <a:p>
            <a:r>
              <a:t>Visual Effects of Interpolation on the</a:t>
            </a:r>
          </a:p>
          <a:p>
            <a:r>
              <a:t>Appearance of Three-Dimensional</a:t>
            </a:r>
          </a:p>
          <a:p>
            <a:r>
              <a:t>Surfaces</a:t>
            </a:r>
          </a:p>
          <a:p>
            <a:r>
              <a:t>Stephen Lavin</a:t>
            </a:r>
          </a:p>
          <a:p>
            <a:r>
              <a:t>Computer animation is a potential aid in map design, because it pro</a:t>
            </a:r>
          </a:p>
          <a:p>
            <a:r>
              <a:t>Sonja Rossum vides a means for quickly reviewing many design alternatives. This</a:t>
            </a:r>
          </a:p>
          <a:p>
            <a:r>
              <a:t>research is a conceptual exploration of one aspect of animation-based</a:t>
            </a:r>
          </a:p>
          <a:p>
            <a:r>
              <a:t>Shawn R. Slade</a:t>
            </a:r>
          </a:p>
          <a:p>
            <a:r>
              <a:t>design: The effect of inverse-distance weighting on the visualization of</a:t>
            </a:r>
          </a:p>
          <a:p>
            <a:r>
              <a:t>Department of Geography three-dimensional maps. The primary variable examined is the</a:t>
            </a:r>
          </a:p>
          <a:p>
            <a:r>
              <a:t>University of Nebraska inversedistance weighting exponent. Changing the exponent in small</a:t>
            </a:r>
          </a:p>
          <a:p>
            <a:r>
              <a:t>Lincoln, NE 68588-0135 intervals allows the creation of a series of three-dimensional maps that</a:t>
            </a:r>
          </a:p>
          <a:p>
            <a:r>
              <a:t>can be assembled, and played back as a frame animation. In this proce</a:t>
            </a:r>
          </a:p>
          <a:p>
            <a:r>
              <a:t>dure, cartographers can view the visual effects of various exponents on</a:t>
            </a:r>
          </a:p>
          <a:p>
            <a:r>
              <a:t>the resulting surfaces. Design-based animations allow mapmakers to</a:t>
            </a:r>
          </a:p>
          <a:p>
            <a:r>
              <a:t>visualize effects of their decisions in advance of map production and to</a:t>
            </a:r>
          </a:p>
          <a:p>
            <a:r>
              <a:t>make more informed design decisions. It is suggested that this method</a:t>
            </a:r>
          </a:p>
          <a:p>
            <a:r>
              <a:t>can be expanded to examine map design for a great many forms of</a:t>
            </a:r>
          </a:p>
          <a:p>
            <a:r>
              <a:t>cartographic symbology. Ideally, automatic frame generation and a</a:t>
            </a:r>
          </a:p>
          <a:p>
            <a:r>
              <a:t>graphic user interface should become an integral part of the develop</a:t>
            </a:r>
          </a:p>
          <a:p>
            <a:r>
              <a:t>ment of these visualizations.</a:t>
            </a:r>
          </a:p>
          <a:p>
            <a:r>
              <a:t>KEYWORDS Animation, cartography, map, interpolation, inverse-distance weighting,</a:t>
            </a:r>
          </a:p>
          <a:p>
            <a:r>
              <a:t>map design, three-dimensional maps, visualization.</a:t>
            </a:r>
          </a:p>
          <a:p>
            <a:r>
              <a:t>INTRODUCTION The mapping of continuous geographic phenomena in three dimensions</a:t>
            </a:r>
          </a:p>
          <a:p>
            <a:r>
              <a:t>presents a significant challenge to the design-oriented cartographer.</a:t>
            </a:r>
          </a:p>
          <a:p>
            <a:r>
              <a:t>The challenge is a consequence of the variety and interplay of design</a:t>
            </a:r>
          </a:p>
          <a:p>
            <a:r>
              <a:t>decisions which, in various combinations, can radically alter the appear</a:t>
            </a:r>
          </a:p>
          <a:p>
            <a:r>
              <a:t>ance of a map, and because of the greater than usual difficulty map-users</a:t>
            </a:r>
          </a:p>
          <a:p>
            <a:r>
              <a:t>have in interpreting three-dimensional maps (Rowles 1978, Jenks and</a:t>
            </a:r>
          </a:p>
          <a:p>
            <a:r>
              <a:t>Crawford 1971). Continuous spatial data is either measured or derived at</a:t>
            </a:r>
          </a:p>
          <a:p>
            <a:r>
              <a:t>control points, which, to a degree, are representative of the phenomena. In</a:t>
            </a:r>
          </a:p>
          <a:p>
            <a:r>
              <a:t>many cases, mathematical interpolation is then used to create a more</a:t>
            </a:r>
          </a:p>
          <a:p>
            <a:r>
              <a:t>extensive network of data values from which a visual depiction can be</a:t>
            </a:r>
          </a:p>
          <a:p>
            <a:r>
              <a:t>subsequently generated. The look of the surface is heavily dependent on</a:t>
            </a:r>
          </a:p>
          <a:p>
            <a:r>
              <a:t>choices made during interpolation, and these choices are numerous,</a:t>
            </a:r>
          </a:p>
          <a:p>
            <a:r>
              <a:t>including grid size and shape, search methods, and interpolation equa</a:t>
            </a:r>
          </a:p>
          <a:p>
            <a:r>
              <a:t>tions (Golden Software 1990). Depending on the interpolation methods</a:t>
            </a:r>
          </a:p>
          <a:p>
            <a:r>
              <a:t>selected and the parameters used in the interpolation algorithm, the</a:t>
            </a:r>
          </a:p>
          <a:p>
            <a:r>
              <a:t>resulting maps may give very different impressions of a single geographic</a:t>
            </a:r>
          </a:p>
          <a:p>
            <a:r>
              <a:t>data set.</a:t>
            </a:r>
          </a:p>
          <a:p>
            <a:r>
              <a:t>Another set of design decisions are encountered following interpola</a:t>
            </a:r>
          </a:p>
          <a:p>
            <a:r>
              <a:t>tion. These are decisions involving the visual orientation of the three</a:t>
            </a:r>
          </a:p>
          <a:p>
            <a:r>
              <a:t>dimensional surface. These decisions deal more directly with visual map</a:t>
            </a:r>
          </a:p>
          <a:p>
            <a:r>
              <a:t>attributes, and for that reason, are more predictable in their visual mani</a:t>
            </a:r>
          </a:p>
          <a:p>
            <a:r>
              <a:t>festations than those involving interpolation. Figure 1 shows a variety of</a:t>
            </a:r>
          </a:p>
          <a:p>
            <a:r>
              <a:t>options including surface rotation, angle of view from the horizon, and</a:t>
            </a:r>
          </a:p>
          <a:p>
            <a:r>
              <a:t>vertical exaggeration, as well as a number of other controls that affect the</a:t>
            </a:r>
          </a:p>
          <a:p>
            <a:r>
              <a:t>eventual look of the surface. Although these choices can also profoundly</a:t>
            </a:r>
          </a:p>
          <a:p>
            <a:r>
              <a:t>influence map appearance, their effects are somewhat easier to anticipate</a:t>
            </a:r>
          </a:p>
          <a:p>
            <a:r>
              <a:t>than those involving the mathematical equations of interpolation. For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27</a:t>
            </a:r>
          </a:p>
          <a:p>
            <a:r>
              <a:t>2ao0</a:t>
            </a:r>
          </a:p>
          <a:p>
            <a:r>
              <a:t>Vertical Angle. An angle of 90 degrees Vertical Exaggeration. A value of zero would Horizontal Rotation. A rotation angle of 360</a:t>
            </a:r>
          </a:p>
          <a:p>
            <a:r>
              <a:t>places the viewer directly above the surface show a totally flat surface. degreesplaces the viewer due east of the surface.</a:t>
            </a:r>
          </a:p>
          <a:p>
            <a:r>
              <a:t>F1~1111' I. Ori&lt;'llf11/io11 rnrin/&gt;les i11 tlnl'c-dm11·11~i&lt;mnl mnpp111s</a:t>
            </a:r>
          </a:p>
          <a:p>
            <a:r>
              <a:t>example, it is easier to envision what \·viii happen to a surface if the angle</a:t>
            </a:r>
          </a:p>
          <a:p>
            <a:r>
              <a:t>of \'iew above the horizon is changed from 30 to 50 degrees than it is to</a:t>
            </a:r>
          </a:p>
          <a:p>
            <a:r>
              <a:t>predict the ,·isual effects of changing the inverse-distance weighting</a:t>
            </a:r>
          </a:p>
          <a:p>
            <a:r>
              <a:t>exponent from one to three. Consequently, this research is concerned with</a:t>
            </a:r>
          </a:p>
          <a:p>
            <a:r>
              <a:t>the more difficult case of visualizing the effects of interpolation decisions.</a:t>
            </a:r>
          </a:p>
          <a:p>
            <a:r>
              <a:t>"A11i111atio11s are potentially</a:t>
            </a:r>
          </a:p>
          <a:p>
            <a:r>
              <a:t>While it is true that contemporary three-dimensional surface-producing</a:t>
            </a:r>
          </a:p>
          <a:p>
            <a:r>
              <a:t>valuable aids in selecting opti</a:t>
            </a:r>
          </a:p>
          <a:p>
            <a:r>
              <a:t>software allows experimentation with the effects of design choices on map</a:t>
            </a:r>
          </a:p>
          <a:p>
            <a:r>
              <a:t>mum wnys of designing three</a:t>
            </a:r>
          </a:p>
          <a:p>
            <a:r>
              <a:t>appearance, this is usually accomplished one map at a time and normally</a:t>
            </a:r>
          </a:p>
          <a:p>
            <a:r>
              <a:t>requires many iterations before a satisfactory map is created. For example, di111e11sio11al maps, representing</a:t>
            </a:r>
          </a:p>
          <a:p>
            <a:r>
              <a:t>SURFER (Golden Software 1990), a popular isoline and three-dimensional data, a11d gni11i11g a more com</a:t>
            </a:r>
          </a:p>
          <a:p>
            <a:r>
              <a:t>mapping program for Windows/ DOS-based computers, permits the</a:t>
            </a:r>
          </a:p>
          <a:p>
            <a:r>
              <a:t>plete 1111dersta11ding ofg eo</a:t>
            </a:r>
          </a:p>
          <a:p>
            <a:r>
              <a:t>creation of one surface at a time, and does not give the user the capability</a:t>
            </a:r>
          </a:p>
          <a:p>
            <a:r>
              <a:t>graphic data through explora</a:t>
            </a:r>
          </a:p>
          <a:p>
            <a:r>
              <a:t>to view a number of different surfaces in rapid succession. It is difficult</a:t>
            </a:r>
          </a:p>
          <a:p>
            <a:r>
              <a:t>tion of rnrying interpolation</a:t>
            </a:r>
          </a:p>
          <a:p>
            <a:r>
              <a:t>and time consuming to compare the visual results of design alternatives,</a:t>
            </a:r>
          </a:p>
          <a:p>
            <a:r>
              <a:t>and this hampers the cartographer's ability to identify the most appropri options."</a:t>
            </a:r>
          </a:p>
          <a:p>
            <a:r>
              <a:t>ate selections for representing data and communicating accurate and</a:t>
            </a:r>
          </a:p>
          <a:p>
            <a:r>
              <a:t>useful visualizations of geographic data.</a:t>
            </a:r>
          </a:p>
          <a:p>
            <a:r>
              <a:t>Animations are potentially ,·aluable aids in selecting optimum ways of</a:t>
            </a:r>
          </a:p>
          <a:p>
            <a:r>
              <a:t>designing three-dimensional maps, representing data, and gaining a more</a:t>
            </a:r>
          </a:p>
          <a:p>
            <a:r>
              <a:t>complete understanding of geographic data through exploration of</a:t>
            </a:r>
          </a:p>
          <a:p>
            <a:r>
              <a:t>varying interpolation options. Furthermore, many other types of carto</a:t>
            </a:r>
          </a:p>
          <a:p>
            <a:r>
              <a:t>graphic symbols can be explored using similar methods. Although our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28 cartographic perspectives Number 29, Winter 1998</a:t>
            </a:r>
          </a:p>
          <a:p>
            <a:r>
              <a:t>focus is just one aspect of three-dimensional mapping, it is not unreason</a:t>
            </a:r>
          </a:p>
          <a:p>
            <a:r>
              <a:t>able to assume that animation can be used to explore variations in unit</a:t>
            </a:r>
          </a:p>
          <a:p>
            <a:r>
              <a:t>value in dot mapping, or the visual effect of varying isoline intervals, for</a:t>
            </a:r>
          </a:p>
          <a:p>
            <a:r>
              <a:t>example.</a:t>
            </a:r>
          </a:p>
          <a:p>
            <a:r>
              <a:t>Visualization</a:t>
            </a:r>
          </a:p>
          <a:p>
            <a:r>
              <a:t>Geographic visualization is an act of cognition through which mental</a:t>
            </a:r>
          </a:p>
          <a:p>
            <a:r>
              <a:t>images of geographic data which have no visual form are developed</a:t>
            </a:r>
          </a:p>
          <a:p>
            <a:r>
              <a:t>(Peterson 1995, MacEachren 1995). This notion of visualization can be</a:t>
            </a:r>
          </a:p>
          <a:p>
            <a:r>
              <a:t>extended to the realm of computer cartography in which data stored in</a:t>
            </a:r>
          </a:p>
          <a:p>
            <a:r>
              <a:t>computer memory can be displayed visually. Cartographic visualization</a:t>
            </a:r>
          </a:p>
          <a:p>
            <a:r>
              <a:t>"Clearly, ani111atio11 e11ables of geographic data can facilitate examination and explanation of processes</a:t>
            </a:r>
          </a:p>
          <a:p>
            <a:r>
              <a:t>mapmakers a11d map-users alike, which evolve over time, over space, or a combination of both (Campbell</a:t>
            </a:r>
          </a:p>
          <a:p>
            <a:r>
              <a:t>and Egbert 1990). It is also a concept which focuses on the exploration of</a:t>
            </a:r>
          </a:p>
          <a:p>
            <a:r>
              <a:t>to perceive differe11ces which</a:t>
            </a:r>
          </a:p>
          <a:p>
            <a:r>
              <a:t>data rather than data presentation. As such, cartographic visualizations</a:t>
            </a:r>
          </a:p>
          <a:p>
            <a:r>
              <a:t>may otherwise go undetected</a:t>
            </a:r>
          </a:p>
          <a:p>
            <a:r>
              <a:t>created with exploratory data analysis in mind are generated as animation</a:t>
            </a:r>
          </a:p>
          <a:p>
            <a:r>
              <a:t>whe11 viewi11g a series ofs tatic sequences used to identify trends and relationships in the data. This</a:t>
            </a:r>
          </a:p>
          <a:p>
            <a:r>
              <a:t>maps, perhaps even the same identification which may or may not be observed in a non-visual setting,</a:t>
            </a:r>
          </a:p>
          <a:p>
            <a:r>
              <a:t>prompts new understanding of research problems or real world applica</a:t>
            </a:r>
          </a:p>
          <a:p>
            <a:r>
              <a:t>111aps that compose the</a:t>
            </a:r>
          </a:p>
          <a:p>
            <a:r>
              <a:t>tions (MacEachren and Ganter 1990).</a:t>
            </a:r>
          </a:p>
          <a:p>
            <a:r>
              <a:t>animation."</a:t>
            </a:r>
          </a:p>
          <a:p>
            <a:r>
              <a:t>In our study map animation is used to construct a sequence of maps</a:t>
            </a:r>
          </a:p>
          <a:p>
            <a:r>
              <a:t>created by incrementing the weighting exponent in the inverse-distance</a:t>
            </a:r>
          </a:p>
          <a:p>
            <a:r>
              <a:t>equation. Visual differences between adjacent maps in the sequence may</a:t>
            </a:r>
          </a:p>
          <a:p>
            <a:r>
              <a:t>at first seem negligible, but examination of a lengthy animation sequence</a:t>
            </a:r>
          </a:p>
          <a:p>
            <a:r>
              <a:t>reveals pronounced variations as the weighting exponent increases.</a:t>
            </a:r>
          </a:p>
          <a:p>
            <a:r>
              <a:t>Clearly, animation enables mapmakers and map-users alike, to perceive</a:t>
            </a:r>
          </a:p>
          <a:p>
            <a:r>
              <a:t>differences which may otherwise go undetected when viewing a series of</a:t>
            </a:r>
          </a:p>
          <a:p>
            <a:r>
              <a:t>static maps, perhaps even the same maps that compose the animation.</a:t>
            </a:r>
          </a:p>
          <a:p>
            <a:r>
              <a:t>Animation adds a dimension to map interpretation and analysis that the</a:t>
            </a:r>
          </a:p>
          <a:p>
            <a:r>
              <a:t>viewing of individual static maps can not provide, just as the experience of</a:t>
            </a:r>
          </a:p>
          <a:p>
            <a:r>
              <a:t>viewing a motion pictures is quite different from looking at a sequence of</a:t>
            </a:r>
          </a:p>
          <a:p>
            <a:r>
              <a:t>individual stills from the same film.</a:t>
            </a:r>
          </a:p>
          <a:p>
            <a:r>
              <a:t>This study is restricted to developing a case study whereby a sequence</a:t>
            </a:r>
          </a:p>
          <a:p>
            <a:r>
              <a:t>of three-dimensional surfaces is produced in which visual differences</a:t>
            </a:r>
          </a:p>
          <a:p>
            <a:r>
              <a:t>betvveen surfaces are a result of small variations in the weighting value</a:t>
            </a:r>
          </a:p>
          <a:p>
            <a:r>
              <a:t>used in the inverse-distance weighting interpolation algorithm. Addition</a:t>
            </a:r>
          </a:p>
          <a:p>
            <a:r>
              <a:t>ally, the method of control point search in interpolation was varied in one</a:t>
            </a:r>
          </a:p>
          <a:p>
            <a:r>
              <a:t>instance in order to provide a slightly different perspective to animation</a:t>
            </a:r>
          </a:p>
          <a:p>
            <a:r>
              <a:t>"Ani111atio11 adds a dimension</a:t>
            </a:r>
          </a:p>
          <a:p>
            <a:r>
              <a:t>based design in three-dimensional mapping. The sequence of changes in</a:t>
            </a:r>
          </a:p>
          <a:p>
            <a:r>
              <a:t>to map interpretation and</a:t>
            </a:r>
          </a:p>
          <a:p>
            <a:r>
              <a:t>surface smoothness revealed by the animation allows map-designers to</a:t>
            </a:r>
          </a:p>
          <a:p>
            <a:r>
              <a:t>analysis that the viewing of visualize and compare the effects of changing variables in the creation of</a:t>
            </a:r>
          </a:p>
          <a:p>
            <a:r>
              <a:t>individual static maps can not three-dimensional surfaces.</a:t>
            </a:r>
          </a:p>
          <a:p>
            <a:r>
              <a:t>provide, just as the experie11ce of</a:t>
            </a:r>
          </a:p>
          <a:p>
            <a:r>
              <a:t>Continuous Surface Interpolation</a:t>
            </a:r>
          </a:p>
          <a:p>
            <a:r>
              <a:t>viewing a motion pictures is</a:t>
            </a:r>
          </a:p>
          <a:p>
            <a:r>
              <a:t>Interpolation of continuous geographic data for the purpose of three</a:t>
            </a:r>
          </a:p>
          <a:p>
            <a:r>
              <a:t>quite different fro111 looki11g at a</a:t>
            </a:r>
          </a:p>
          <a:p>
            <a:r>
              <a:t>dimensional mapping provides estimates of data values for geographic</a:t>
            </a:r>
          </a:p>
          <a:p>
            <a:r>
              <a:t>sequence of i11dividual stills attributes, such as precipitation and temperature, at unsampled grid</a:t>
            </a:r>
          </a:p>
          <a:p>
            <a:r>
              <a:t>from the same fi/111." points within the area of existing control points. The rationale behind all</a:t>
            </a:r>
          </a:p>
          <a:p>
            <a:r>
              <a:t>interpolation is that points close together in space are more likely to have</a:t>
            </a:r>
          </a:p>
          <a:p>
            <a:r>
              <a:t>similar values than points further apart (Monmonier 1982). Rather than</a:t>
            </a:r>
          </a:p>
          <a:p>
            <a:r>
              <a:t>drawing boundaries and generalizing the area around known control</a:t>
            </a:r>
          </a:p>
          <a:p>
            <a:r>
              <a:t>points as homogeneous, interpolation is used to model the expected</a:t>
            </a:r>
          </a:p>
          <a:p>
            <a:r>
              <a:t>variation of values within an area (Burrough 1986). Interpolated values are</a:t>
            </a:r>
          </a:p>
          <a:p>
            <a:r>
              <a:t>then used to generate a visual surface representative of the continuous</a:t>
            </a:r>
          </a:p>
          <a:p>
            <a:r>
              <a:t>nature of the phenomena being mapped.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29</a:t>
            </a:r>
          </a:p>
          <a:p>
            <a:r>
              <a:t>The challenge of interpolation is to choose a technique which creates a</a:t>
            </a:r>
          </a:p>
          <a:p>
            <a:r>
              <a:t>plausible model of the variation between control points. Selection of the</a:t>
            </a:r>
          </a:p>
          <a:p>
            <a:r>
              <a:t>most appropriate method depends on the type of data used, the amount of</a:t>
            </a:r>
          </a:p>
          <a:p>
            <a:r>
              <a:t>computational time available, and the degree of accuracy required (Lam</a:t>
            </a:r>
          </a:p>
          <a:p>
            <a:r>
              <a:t>1983), although this last factor is difficult to anticipate in advance. A wide</a:t>
            </a:r>
          </a:p>
          <a:p>
            <a:r>
              <a:t>variety of algorithms have been developed for point interpolation. For</a:t>
            </a:r>
          </a:p>
          <a:p>
            <a:r>
              <a:t>example, surfaces constructed by kriging, minimum curvature, and</a:t>
            </a:r>
          </a:p>
          <a:p>
            <a:r>
              <a:t>inverse-distance weighting interpolations are shown in Figure 2. As can</a:t>
            </a:r>
          </a:p>
          <a:p>
            <a:r>
              <a:t>be seen, variations in interpolation method can produce pronounced</a:t>
            </a:r>
          </a:p>
          <a:p>
            <a:r>
              <a:t>visual differences. Kriging is a regional variable theory technique that</a:t>
            </a:r>
          </a:p>
          <a:p>
            <a:r>
              <a:t>assumes an underlying linear variogram, and because of this it can pro</a:t>
            </a:r>
          </a:p>
          <a:p>
            <a:r>
              <a:t>duce an estimate of error associated with an interpolation (Burrough 1986,</a:t>
            </a:r>
          </a:p>
          <a:p>
            <a:r>
              <a:t>Sampson 1975). Minimum curvature keeps the grid surface fixed at known</a:t>
            </a:r>
          </a:p>
          <a:p>
            <a:r>
              <a:t>control points while iteratively applying an algorithm to smooth the grid</a:t>
            </a:r>
          </a:p>
          <a:p>
            <a:r>
              <a:t>ded surface. Its primary benefit is that the resulting surface is constrained</a:t>
            </a:r>
          </a:p>
          <a:p>
            <a:r>
              <a:t>to pass through all control points (Golden Software 1990). Other interpola</a:t>
            </a:r>
          </a:p>
          <a:p>
            <a:r>
              <a:t>tion methods include splines, polynomials, Fourier Series, Power Series</a:t>
            </a:r>
          </a:p>
          <a:p>
            <a:r>
              <a:t>Trend, and distance-weighted least-squares (Lam 1983). Each technique</a:t>
            </a:r>
          </a:p>
          <a:p>
            <a:r>
              <a:t>hils a different way of modeling the variation between control points and</a:t>
            </a:r>
          </a:p>
          <a:p>
            <a:r>
              <a:t>produces a map surface with a distinctive appearance. Although it is</a:t>
            </a:r>
          </a:p>
          <a:p>
            <a:r>
              <a:t>beyond the scope of this paper to address benefits and liabilities of each</a:t>
            </a:r>
          </a:p>
          <a:p>
            <a:r>
              <a:t>Inverse Distance Weighting</a:t>
            </a:r>
          </a:p>
          <a:p>
            <a:r>
              <a:t>interpolation method, consideration of these factors is an im-portant =</a:t>
            </a:r>
          </a:p>
          <a:p>
            <a:r>
              <a:t>( weighting 2 )</a:t>
            </a:r>
          </a:p>
          <a:p>
            <a:r>
              <a:t>cartographic endeavor, and the reader is referred to an excellent summary</a:t>
            </a:r>
          </a:p>
          <a:p>
            <a:r>
              <a:t>of interpolation methods written by Burroughs (1986, pp. 147-166).</a:t>
            </a:r>
          </a:p>
          <a:p>
            <a:r>
              <a:t>Inverse-distance weighting, the interpolation model used herein, was</a:t>
            </a:r>
          </a:p>
          <a:p>
            <a:r>
              <a:t>selected for several reasons. Inverse-distance weighting is a relatively</a:t>
            </a:r>
          </a:p>
          <a:p>
            <a:r>
              <a:t>simple technique, and due to its simplicity and availability in existing</a:t>
            </a:r>
          </a:p>
          <a:p>
            <a:r>
              <a:t>computer mapping software, is commonly used. Widespread application</a:t>
            </a:r>
          </a:p>
          <a:p>
            <a:r>
              <a:t>of this technique in cartography makes it a reasonable selection for demon</a:t>
            </a:r>
          </a:p>
          <a:p>
            <a:r>
              <a:t>strating its visual manifestations. The general advantages of using inverse</a:t>
            </a:r>
          </a:p>
          <a:p>
            <a:r>
              <a:t>di~tance weighting are that computation time is minimal, and the algo</a:t>
            </a:r>
          </a:p>
          <a:p>
            <a:r>
              <a:t>rithm is relatively easy to understand (Burrough 1986). This last point will</a:t>
            </a:r>
          </a:p>
          <a:p>
            <a:r>
              <a:t>be discussed later in the section of this paper dealing with the detailed</a:t>
            </a:r>
          </a:p>
          <a:p>
            <a:r>
              <a:t>interpretation of changes seen in the maps due to variations in the interpo</a:t>
            </a:r>
          </a:p>
          <a:p>
            <a:r>
              <a:t>lation weighting.</a:t>
            </a:r>
          </a:p>
          <a:p>
            <a:r>
              <a:t>Most commonly, inverse-distance weighting is a type of moving</a:t>
            </a:r>
          </a:p>
          <a:p>
            <a:r>
              <a:t>Kriging</a:t>
            </a:r>
          </a:p>
          <a:p>
            <a:r>
              <a:t>average computation in which intermediate point values are calculated as</a:t>
            </a:r>
          </a:p>
          <a:p>
            <a:r>
              <a:t>an average \'alue of a local neighborhood or 'windm·v' (Burrough 1986).</a:t>
            </a:r>
          </a:p>
          <a:p>
            <a:r>
              <a:t>Thb aspect is also referred to as 'piecewise' because only a portion of the</a:t>
            </a:r>
          </a:p>
          <a:p>
            <a:r>
              <a:t>control points are used to calculate grid values, although all control points</a:t>
            </a:r>
          </a:p>
          <a:p>
            <a:r>
              <a:t>arc c;ometimes used in interpolation (Lam 1983). By limiting the number of</a:t>
            </a:r>
          </a:p>
          <a:p>
            <a:r>
              <a:t>control points selected, local anomalies of the data can be represented</a:t>
            </a:r>
          </a:p>
          <a:p>
            <a:r>
              <a:t>without affecting the interpolation of other points on the surface</a:t>
            </a:r>
          </a:p>
          <a:p>
            <a:r>
              <a:t>(Burrough 1986). However, an inverse-distance weighting technique that</a:t>
            </a:r>
          </a:p>
          <a:p>
            <a:r>
              <a:t>encompasses all control points can be used to create a more generalized</a:t>
            </a:r>
          </a:p>
          <a:p>
            <a:r>
              <a:t>and smoother surface.</a:t>
            </a:r>
          </a:p>
          <a:p>
            <a:r>
              <a:t>Because observations close together tend to be more alike than distant</a:t>
            </a:r>
          </a:p>
          <a:p>
            <a:r>
              <a:t>observations, distance between control points is a key element in the</a:t>
            </a:r>
          </a:p>
          <a:p>
            <a:r>
              <a:t>model. The contribution of each control point to the local average is based</a:t>
            </a:r>
          </a:p>
          <a:p>
            <a:r>
              <a:t>on its distance from the grid location. Distance is incorporated into the</a:t>
            </a:r>
          </a:p>
          <a:p>
            <a:r>
              <a:t>inn~rsc-distance \Veighting equation as the quantity d, as shown in Minimum Curvature</a:t>
            </a:r>
          </a:p>
          <a:p>
            <a:r>
              <a:t>cquntion 1. The equation calculates a new data value (Z11ew) for each grid</a:t>
            </a:r>
          </a:p>
          <a:p>
            <a:r>
              <a:t>intersection (J) on the interpolated surface. The last variable to be dis</a:t>
            </a:r>
          </a:p>
          <a:p>
            <a:r>
              <a:t>Fig11l"I' .:?. Fn1m)'i&lt;'s of" rnr111/1&lt;111:&lt; 111 tlirce</a:t>
            </a:r>
          </a:p>
          <a:p>
            <a:r>
              <a:t>cussed, Jnd the most important to this research because its visual effect</a:t>
            </a:r>
          </a:p>
          <a:p>
            <a:r>
              <a:t>di111c11,1c•1111/ 'ill/rl&lt;"&lt;'S rcs11/f111g frp111 f/1rec</a:t>
            </a:r>
          </a:p>
          <a:p>
            <a:r>
              <a:t>can be observed in the animations produced, is the weighting exponent diftl-r&lt;'lll 111lt'r/l&lt;'illlio11 111cflw1I-. 011111 lllllJ'pt•d</a:t>
            </a:r>
          </a:p>
          <a:p>
            <a:r>
              <a:t>(1ul J. As the weighting exponent increases, the influence of nearby points 11re f(ltal /11/11. /995)'r1•Lip1tal1c&gt;11.f(11·1\'ebmskr1.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30 cartographic perspectives Number 29, Winter 1998</a:t>
            </a:r>
          </a:p>
          <a:p>
            <a:r>
              <a:t>I (Zi/d/vt) where:</a:t>
            </a:r>
          </a:p>
          <a:p>
            <a:r>
              <a:t>Z = z value</a:t>
            </a:r>
          </a:p>
          <a:p>
            <a:r>
              <a:t>I: (l/d.wt) d =distance</a:t>
            </a:r>
          </a:p>
          <a:p>
            <a:r>
              <a:t>wt = weighting value</a:t>
            </a:r>
          </a:p>
          <a:p>
            <a:r>
              <a:t>l</a:t>
            </a:r>
          </a:p>
          <a:p>
            <a:r>
              <a:t>Equation 1. /11verse Distance Weighting Eq11atio11</a:t>
            </a:r>
          </a:p>
          <a:p>
            <a:r>
              <a:t>on the local average also increases while the influence of more distant</a:t>
            </a:r>
          </a:p>
          <a:p>
            <a:r>
              <a:t>points decreases. Emphasizing nearby points creates more peaks and</a:t>
            </a:r>
          </a:p>
          <a:p>
            <a:r>
              <a:t>valleys in the surface in contrast to the smoother appearance resulting</a:t>
            </a:r>
          </a:p>
          <a:p>
            <a:r>
              <a:t>from the use of a low weighting exponent which gives distant points more</a:t>
            </a:r>
          </a:p>
          <a:p>
            <a:r>
              <a:t>numerical equity in the computation.</a:t>
            </a:r>
          </a:p>
          <a:p>
            <a:r>
              <a:t>A single set of data values located at control points can be subjected to</a:t>
            </a:r>
          </a:p>
          <a:p>
            <a:r>
              <a:t>inverse-distance weighting interpolation and then, by incrementally in</a:t>
            </a:r>
          </a:p>
          <a:p>
            <a:r>
              <a:t>creasing (or decreasing) the weighting exponent in small numerical steps,</a:t>
            </a:r>
          </a:p>
          <a:p>
            <a:r>
              <a:t>a sequence of maps showing weighting exponent effects on visual surfaces</a:t>
            </a:r>
          </a:p>
          <a:p>
            <a:r>
              <a:t>can be generated. Maps thus generated can be played back as a frame-by</a:t>
            </a:r>
          </a:p>
          <a:p>
            <a:r>
              <a:t>"Maps thus generated can be</a:t>
            </a:r>
          </a:p>
          <a:p>
            <a:r>
              <a:t>frame animation, and the effects of differences in the weighting exponent</a:t>
            </a:r>
          </a:p>
          <a:p>
            <a:r>
              <a:t>played back as a frame-by-frame</a:t>
            </a:r>
          </a:p>
          <a:p>
            <a:r>
              <a:t>can be observed. This can be done for either isoline or three-dimensional</a:t>
            </a:r>
          </a:p>
          <a:p>
            <a:r>
              <a:t>animation, and the effects of maps, but only three-dimensional maps are used in this research. The</a:t>
            </a:r>
          </a:p>
          <a:p>
            <a:r>
              <a:t>differences in the weighting mapmaker, after a thorough examination of the animation, can then</a:t>
            </a:r>
          </a:p>
          <a:p>
            <a:r>
              <a:t>exponent can be observed." choose the map deemed most appropriate for the mapping purpose at</a:t>
            </a:r>
          </a:p>
          <a:p>
            <a:r>
              <a:t>hand, or the model or theory being examined . This type of visualization</a:t>
            </a:r>
          </a:p>
          <a:p>
            <a:r>
              <a:t>through animation can serve as a map-design tool whose utility extends</a:t>
            </a:r>
          </a:p>
          <a:p>
            <a:r>
              <a:t>well beyond visualization of weighting exponent effects and into numer</a:t>
            </a:r>
          </a:p>
          <a:p>
            <a:r>
              <a:t>ous other arenas of map design, in ways that Peterson first explored in his</a:t>
            </a:r>
          </a:p>
          <a:p>
            <a:r>
              <a:t>sequencing experiments with choropleth maps (Peterson 1993).</a:t>
            </a:r>
          </a:p>
          <a:p>
            <a:r>
              <a:t>Constructing the Animations</a:t>
            </a:r>
          </a:p>
          <a:p>
            <a:r>
              <a:t>Data for the animations was acquired from weather stations across the</a:t>
            </a:r>
          </a:p>
          <a:p>
            <a:r>
              <a:t>state of Nebraska. A total of seventy stations were used. At each of these</a:t>
            </a:r>
          </a:p>
          <a:p>
            <a:r>
              <a:t>control points (locations shown in Figure 3), precipitation for the month of</a:t>
            </a:r>
          </a:p>
          <a:p>
            <a:r>
              <a:t>July, 1995 was recorded. Animation frames were created in SURFER, v 4.5</a:t>
            </a:r>
          </a:p>
          <a:p>
            <a:r>
              <a:t>(Golden Software 1990), and then imported into Animator Pro, v 1.2</a:t>
            </a:r>
          </a:p>
          <a:p>
            <a:r>
              <a:t>(Autodesk, Inc. 1991) for playback. Figure 4 shows a selection of frames</a:t>
            </a:r>
          </a:p>
          <a:p>
            <a:r>
              <a:t>from two of the animations that were eventually constructed.</a:t>
            </a:r>
          </a:p>
          <a:p>
            <a:r>
              <a:t>Control points used in the animation were selected because these</a:t>
            </a:r>
          </a:p>
          <a:p>
            <a:r>
              <a:t>climate stations have fairly uniform spacing throughout the mapped area.</a:t>
            </a:r>
          </a:p>
          <a:p>
            <a:r>
              <a:t>Inverse-distance weighting interpolation is easily affected by non-uniform</a:t>
            </a:r>
          </a:p>
          <a:p>
            <a:r>
              <a:t>• •</a:t>
            </a:r>
          </a:p>
          <a:p>
            <a:r>
              <a:t>3•.14 1•.74</a:t>
            </a:r>
          </a:p>
          <a:p>
            <a:r>
              <a:t>1.9 3.98 1•88</a:t>
            </a:r>
          </a:p>
          <a:p>
            <a:r>
              <a:t>4.•35</a:t>
            </a:r>
          </a:p>
          <a:p>
            <a:r>
              <a:t>1.•47 1.•57 1•.8 2 •61 0•.93</a:t>
            </a:r>
          </a:p>
          <a:p>
            <a:r>
              <a:t>1• 24</a:t>
            </a:r>
          </a:p>
          <a:p>
            <a:r>
              <a:t>2•.95 1•.4 2•.56 1•.4</a:t>
            </a:r>
          </a:p>
          <a:p>
            <a:r>
              <a:t>2•.05</a:t>
            </a:r>
          </a:p>
          <a:p>
            <a:r>
              <a:t>2•.99 2.34</a:t>
            </a:r>
          </a:p>
          <a:p>
            <a:r>
              <a:t>0•87 1.•63 • 2•.28 2 25•</a:t>
            </a:r>
          </a:p>
          <a:p>
            <a:r>
              <a:t>I• 69 1•3 • 8 3•33 4•7 1•46 0•95 1•.331 • .1 2.35 0•.97 I</a:t>
            </a:r>
          </a:p>
          <a:p>
            <a:r>
              <a:t>1.58 I• 53 2•29 2•. 2 2 •. 1 2 2 1.•87 1• 7 2 1 •0 1 0•.8 2•.17 1•.46 • o• .•8 .9 9 0 1 •7 . 4 1 6 • 1 •.0 • 3 2 .26</a:t>
            </a:r>
          </a:p>
          <a:p>
            <a:r>
              <a:t>2•.65 2•.34</a:t>
            </a:r>
          </a:p>
          <a:p>
            <a:r>
              <a:t>2•14 2• 01 2•.53 2 7•5</a:t>
            </a:r>
          </a:p>
          <a:p>
            <a:r>
              <a:t>1•.9• 1•.47 2•.64 335.</a:t>
            </a:r>
          </a:p>
          <a:p>
            <a:r>
              <a:t>2• 13 ·-3• 25</a:t>
            </a:r>
          </a:p>
          <a:p>
            <a:r>
              <a:t>2•6 1 : 1•.59 I 7 3•.n 5.64 •</a:t>
            </a:r>
          </a:p>
          <a:p>
            <a:r>
              <a:t>212•</a:t>
            </a:r>
          </a:p>
          <a:p>
            <a:r>
              <a:t>Figure 3. Location of co11trol points and associated total /11/y, 1995 precipitation values for the maps.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31</a:t>
            </a:r>
          </a:p>
          <a:p>
            <a:r>
              <a:t>WT=1 WT=1</a:t>
            </a:r>
          </a:p>
          <a:p>
            <a:r>
              <a:t>WT=2 WT=2</a:t>
            </a:r>
          </a:p>
          <a:p>
            <a:r>
              <a:t>WT=3 WT=3</a:t>
            </a:r>
          </a:p>
          <a:p>
            <a:r>
              <a:t>WT=4 WT=4</a:t>
            </a:r>
          </a:p>
          <a:p>
            <a:r>
              <a:t>WT=5 WT=5</a:t>
            </a:r>
          </a:p>
          <a:p>
            <a:r>
              <a:t>WT=6 WT=6</a:t>
            </a:r>
          </a:p>
          <a:p>
            <a:r>
              <a:t>METHOD=ALL METHOD=NORMAL</a:t>
            </a:r>
          </a:p>
          <a:p>
            <a:r>
              <a:t>Figure 4. Frames scle«tcd from a11i11111lio11;;. A11i111atio11s /inpr a Iola/ vf120 fr11111e:&lt;. The method</a:t>
            </a:r>
          </a:p>
          <a:p>
            <a:r>
              <a:t>,.de,.red lo as ALL 11'.'cs ali co11trol poi11I «alue,; i11 iim:rs,• disfm1cc &lt;i&gt;;ig1ttii1g. The mctlrvd rcfa,wl to</a:t>
            </a:r>
          </a:p>
          <a:p>
            <a:r>
              <a:t>"One long-standing, useful,</a:t>
            </a:r>
          </a:p>
          <a:p>
            <a:r>
              <a:t>as NOR.lvlAL 11:&lt;es a rcgii•11al selecf1011Lfco11trol17vi11ts based 011 a sclecf1,111of11ear-11eighl&gt;ors. \.\Tis</a:t>
            </a:r>
          </a:p>
          <a:p>
            <a:r>
              <a:t>f/1e weigl1liJ1S &lt;'Xi'OJICl/f. and often violated convention in</a:t>
            </a:r>
          </a:p>
          <a:p>
            <a:r>
              <a:t>graphics and cartography</a:t>
            </a:r>
          </a:p>
          <a:p>
            <a:r>
              <a:t>distributions of control points because equal weights are assigned to each</a:t>
            </a:r>
          </a:p>
          <a:p>
            <a:r>
              <a:t>maintains that the selection of</a:t>
            </a:r>
          </a:p>
          <a:p>
            <a:r>
              <a:t>point even if it is in a cluster (Lam 1983). In reality, the mapmaker does not</a:t>
            </a:r>
          </a:p>
          <a:p>
            <a:r>
              <a:t>symbols for maps and graphs</a:t>
            </a:r>
          </a:p>
          <a:p>
            <a:r>
              <a:t>ahvays have control over the locations of control points, but for the</a:t>
            </a:r>
          </a:p>
          <a:p>
            <a:r>
              <a:t>purposes of this study it \.Vas desirable to avoid the effects of uneven or should reflect the nature of data</a:t>
            </a:r>
          </a:p>
          <a:p>
            <a:r>
              <a:t>clustered arrangements. to be mapped."</a:t>
            </a:r>
          </a:p>
          <a:p>
            <a:r>
              <a:t>One long-standing, useful, and often violated convention in graphics</a:t>
            </a:r>
          </a:p>
          <a:p>
            <a:r>
              <a:t>and cartography maintains that the selection of symbols for maps and</a:t>
            </a:r>
          </a:p>
          <a:p>
            <a:r>
              <a:t>graphs should reflect the nature of data to be mapped (Tufte 1983,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32 cartograplzic perspectives Number 29, Winter 1998</a:t>
            </a:r>
          </a:p>
          <a:p>
            <a:r>
              <a:t>Robinson and Petchenik 1976, Dobson 1973). When studying the effects of</a:t>
            </a:r>
          </a:p>
          <a:p>
            <a:r>
              <a:t>inverse-distance weighting in three-dimensional animations, continuous</a:t>
            </a:r>
          </a:p>
          <a:p>
            <a:r>
              <a:t>data is most appropriate for visualization. Precipitation is a truly continu</a:t>
            </a:r>
          </a:p>
          <a:p>
            <a:r>
              <a:t>ous geographic phenomena, and for that reason was chosen for anima</a:t>
            </a:r>
          </a:p>
          <a:p>
            <a:r>
              <a:t>tions in this study.</a:t>
            </a:r>
          </a:p>
          <a:p>
            <a:r>
              <a:t>Individual animation frames (maps) were constructed in SURFER by</a:t>
            </a:r>
          </a:p>
          <a:p>
            <a:r>
              <a:t>entering control point x, y locations, and corresponding z-values (precipi</a:t>
            </a:r>
          </a:p>
          <a:p>
            <a:r>
              <a:t>tation) for the seventy climate stations, and then computing the inverse</a:t>
            </a:r>
          </a:p>
          <a:p>
            <a:r>
              <a:t>distance grid interpolation. For each successive frame, the weighting</a:t>
            </a:r>
          </a:p>
          <a:p>
            <a:r>
              <a:t>exponent was increased by a value of 0.05. This fairly small increment was</a:t>
            </a:r>
          </a:p>
          <a:p>
            <a:r>
              <a:t>chosen to produce a smoother animation, and one which lasted a sufficient</a:t>
            </a:r>
          </a:p>
          <a:p>
            <a:r>
              <a:t>length of time to allow examination of the visual effect of increasing</a:t>
            </a:r>
          </a:p>
          <a:p>
            <a:r>
              <a:t>weights. An attempt to utilize an increment of 0.1 was made but rejected</a:t>
            </a:r>
          </a:p>
          <a:p>
            <a:r>
              <a:t>because the animation appeared too discontinuous and jumpy between</a:t>
            </a:r>
          </a:p>
          <a:p>
            <a:r>
              <a:t>successive frames. Weighting exponents ranged from 0 .05 to 6, stopping</a:t>
            </a:r>
          </a:p>
          <a:p>
            <a:r>
              <a:t>at 6 because higher weights produced little change in the three-dimen</a:t>
            </a:r>
          </a:p>
          <a:p>
            <a:r>
              <a:t>sional surface. This exponent range and numerical increment yielded a</a:t>
            </a:r>
          </a:p>
          <a:p>
            <a:r>
              <a:t>total of 120 frames.</a:t>
            </a:r>
          </a:p>
          <a:p>
            <a:r>
              <a:t>Most visual parameters were set and remained constant throughout</a:t>
            </a:r>
          </a:p>
          <a:p>
            <a:r>
              <a:t>production of individual frames for each animation. In order to examine</a:t>
            </a:r>
          </a:p>
          <a:p>
            <a:r>
              <a:t>the visual effect of other interpolation settings, some of these settings were</a:t>
            </a:r>
          </a:p>
          <a:p>
            <a:r>
              <a:t>varied between animations. Uniform vertical scaling was used in all</a:t>
            </a:r>
          </a:p>
          <a:p>
            <a:r>
              <a:t>animations, and was selected by first displaying the surface with the</a:t>
            </a:r>
          </a:p>
          <a:p>
            <a:r>
              <a:t>greatest vertical relief (wt=6}, adjusting the vertical scalar until no clipping</a:t>
            </a:r>
          </a:p>
          <a:p>
            <a:r>
              <a:t>of the surface at the edge of the screen occurred, observing the numerical</a:t>
            </a:r>
          </a:p>
          <a:p>
            <a:r>
              <a:t>index of the vertical scalar (in this case, an index of 1.5), and then setting</a:t>
            </a:r>
          </a:p>
          <a:p>
            <a:r>
              <a:t>all subsequent frames to that index value. Angle of view from the horizon</a:t>
            </a:r>
          </a:p>
          <a:p>
            <a:r>
              <a:t>and horizontal rotation of the surfaces were set, and also remained con</a:t>
            </a:r>
          </a:p>
          <a:p>
            <a:r>
              <a:t>stant throughout the animations. Angle of view was set at 45 degrees</a:t>
            </a:r>
          </a:p>
          <a:p>
            <a:r>
              <a:t>above the horizon, and horizontal rotation at 235 degrees ( 0 being a view</a:t>
            </a:r>
          </a:p>
          <a:p>
            <a:r>
              <a:t>due west). For the precipitation data used in this study, this orientation</a:t>
            </a:r>
          </a:p>
          <a:p>
            <a:r>
              <a:t>was chosen because it was the best for revealing the peaks, valleys, and</a:t>
            </a:r>
          </a:p>
          <a:p>
            <a:r>
              <a:t>spatial trends of this rather complex surface, while it also minimized</a:t>
            </a:r>
          </a:p>
          <a:p>
            <a:r>
              <a:t>hidden surfaces. Once initial settings were determined, individual frames</a:t>
            </a:r>
          </a:p>
          <a:p>
            <a:r>
              <a:t>"Weigh ting expo11e11 ts greater</a:t>
            </a:r>
          </a:p>
          <a:p>
            <a:r>
              <a:t>were produced and screen-captured to GIF file format at 640 by 480</a:t>
            </a:r>
          </a:p>
          <a:p>
            <a:r>
              <a:t>thn 11 Jou r produced su rfnces that resolution. Frames were then imported into Animator Pro for playback.</a:t>
            </a:r>
          </a:p>
          <a:p>
            <a:r>
              <a:t>appear to be identical. It was Two variations of the animations are shown in Figure 4. Settings, as</a:t>
            </a:r>
          </a:p>
          <a:p>
            <a:r>
              <a:t>described above, are the same for each animation; the only variation is in</a:t>
            </a:r>
          </a:p>
          <a:p>
            <a:r>
              <a:t>also observed that vertical relief</a:t>
            </a:r>
          </a:p>
          <a:p>
            <a:r>
              <a:t>the way control points were searched for and selected for interpolation.</a:t>
            </a:r>
          </a:p>
          <a:p>
            <a:r>
              <a:t>i11creases as ·weighting expo-</a:t>
            </a:r>
          </a:p>
          <a:p>
            <a:r>
              <a:t>METHOD=ALL indicates that all control points were used to derive the</a:t>
            </a:r>
          </a:p>
          <a:p>
            <a:r>
              <a:t>11e11ts increase because increas</a:t>
            </a:r>
          </a:p>
          <a:p>
            <a:r>
              <a:t>interpolated surfaces, but they were still subjected to inverse-distance</a:t>
            </a:r>
          </a:p>
          <a:p>
            <a:r>
              <a:t>ingly greater weights are ap weighting. METHOD= NORMAL indicates that the number of control</a:t>
            </a:r>
          </a:p>
          <a:p>
            <a:r>
              <a:t>plied to fewer control points. points was restricted to a set number of neighboring control points within</a:t>
            </a:r>
          </a:p>
          <a:p>
            <a:r>
              <a:t>a specified radius. One can observe that the animation produced as ALL</a:t>
            </a:r>
          </a:p>
          <a:p>
            <a:r>
              <a:t>This occurs regardless of control</a:t>
            </a:r>
          </a:p>
          <a:p>
            <a:r>
              <a:t>has slightly smoother surfaces when lower weighting exponents are used.</a:t>
            </a:r>
          </a:p>
          <a:p>
            <a:r>
              <a:t>point search and selection</a:t>
            </a:r>
          </a:p>
          <a:p>
            <a:r>
              <a:t>However, the surfaces rapidly become similar as weighting exponents</a:t>
            </a:r>
          </a:p>
          <a:p>
            <a:r>
              <a:t>methods. "</a:t>
            </a:r>
          </a:p>
          <a:p>
            <a:r>
              <a:t>increase. Further experiments with other search settings revealed the same</a:t>
            </a:r>
          </a:p>
          <a:p>
            <a:r>
              <a:t>trend. Weighting exponents greater than four produced surfaces that</a:t>
            </a:r>
          </a:p>
          <a:p>
            <a:r>
              <a:t>appear to be identical. It was also observed that vertical relief increases as</a:t>
            </a:r>
          </a:p>
          <a:p>
            <a:r>
              <a:t>weighting exponents increase because increasingly greater weights are</a:t>
            </a:r>
          </a:p>
          <a:p>
            <a:r>
              <a:t>applied to fewer control points. This occurs regardless of control point</a:t>
            </a:r>
          </a:p>
          <a:p>
            <a:r>
              <a:t>search and selection methods.</a:t>
            </a:r>
          </a:p>
          <a:p>
            <a:r>
              <a:t>These observations are indicative, but not exhaustive of the utility of</a:t>
            </a:r>
          </a:p>
          <a:p>
            <a:r>
              <a:t>this sort of visualization, and the conclusions derived from our observa</a:t>
            </a:r>
          </a:p>
          <a:p>
            <a:r>
              <a:t>tions would have been difficult to arrive at by any other means. Selection</a:t>
            </a:r>
          </a:p>
          <a:p>
            <a:r>
              <a:t>of individual maps to be representative of an animation series will ulti-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33</a:t>
            </a:r>
          </a:p>
          <a:p>
            <a:r>
              <a:t>mately be determined by the author's purpose and goal, statistical consid</a:t>
            </a:r>
          </a:p>
          <a:p>
            <a:r>
              <a:t>erations, the intended audience, and the author's knowledge of the</a:t>
            </a:r>
          </a:p>
          <a:p>
            <a:r>
              <a:t>geographic phenomena being mapped. In this regard, design-oriented</a:t>
            </a:r>
          </a:p>
          <a:p>
            <a:r>
              <a:t>animations can assist authors in making more informed map selections.</a:t>
            </a:r>
          </a:p>
          <a:p>
            <a:r>
              <a:t>Animation-assisted map design is a promising tool for cartography, and CONCLUSION</a:t>
            </a:r>
          </a:p>
          <a:p>
            <a:r>
              <a:t>can be extended \Nell beyond animation of the visual effect of inverse</a:t>
            </a:r>
          </a:p>
          <a:p>
            <a:r>
              <a:t>distance weighting on three-dimensional mapping. Virtually all variables</a:t>
            </a:r>
          </a:p>
          <a:p>
            <a:r>
              <a:t>encountered in designing and constructing three-dimensional surfaces can</a:t>
            </a:r>
          </a:p>
          <a:p>
            <a:r>
              <a:t>be animated, including data search procedures used in gridding, surface</a:t>
            </a:r>
          </a:p>
          <a:p>
            <a:r>
              <a:t>rotation, vertical scaling, and horizontal angle of view. The greatest</a:t>
            </a:r>
          </a:p>
          <a:p>
            <a:r>
              <a:t>potential for this method lies in examining design decisions whose conse</a:t>
            </a:r>
          </a:p>
          <a:p>
            <a:r>
              <a:t>quences are difficult to visualize mentally, such as those dealing with the</a:t>
            </a:r>
          </a:p>
          <a:p>
            <a:r>
              <a:t>mathematics of grid interpolation. Jn a further example of related uses of</a:t>
            </a:r>
          </a:p>
          <a:p>
            <a:r>
              <a:t>X=20</a:t>
            </a:r>
          </a:p>
          <a:p>
            <a:r>
              <a:t>animation, Figure 5 shows frames from an animation in which only the</a:t>
            </a:r>
          </a:p>
          <a:p>
            <a:r>
              <a:t>density of the interpolated grid is varied. Mapmakers can examine this</a:t>
            </a:r>
          </a:p>
          <a:p>
            <a:r>
              <a:t>animation to determine an appropriate level of grid-based generalization</a:t>
            </a:r>
          </a:p>
          <a:p>
            <a:r>
              <a:t>for the final product. The first frame (top) shm.vs a surface that is made</a:t>
            </a:r>
          </a:p>
          <a:p>
            <a:r>
              <a:t>from a grid that b loo coarse to give an adequate impression of a continu</a:t>
            </a:r>
          </a:p>
          <a:p>
            <a:r>
              <a:t>X=40</a:t>
            </a:r>
          </a:p>
          <a:p>
            <a:r>
              <a:t>ous surface, while the last frame's surface is made from a grid so fine that</a:t>
            </a:r>
          </a:p>
          <a:p>
            <a:r>
              <a:t>line svmbols coalesce and obliterate portions of the surface. The animation</a:t>
            </a:r>
          </a:p>
          <a:p>
            <a:r>
              <a:t>shows that neither of these two choices, nor some of the other frames,</a:t>
            </a:r>
          </a:p>
          <a:p>
            <a:r>
              <a:t>would be appropriate. Hmvever, the actual selection of a surface must be</a:t>
            </a:r>
          </a:p>
          <a:p>
            <a:r>
              <a:t>made in consort with the purpose of the map, the mapmaker's intentions,</a:t>
            </a:r>
          </a:p>
          <a:p>
            <a:r>
              <a:t>and statistical guidelines, such as the error generated by interpolation.</a:t>
            </a:r>
          </a:p>
          <a:p>
            <a:r>
              <a:t>Animation-based design is not limited to examination of three-dimen X=60</a:t>
            </a:r>
          </a:p>
          <a:p>
            <a:r>
              <a:t>sional surfaces, and could just as easily be employed in examining design</a:t>
            </a:r>
          </a:p>
          <a:p>
            <a:r>
              <a:t>variables in isoline, choropleth, dot, and graduated symbol mapping, as</a:t>
            </a:r>
          </a:p>
          <a:p>
            <a:r>
              <a:t>well as other forms of symbolization, (DiBiase et al.1992). fn order to</a:t>
            </a:r>
          </a:p>
          <a:p>
            <a:r>
              <a:t>become a truly useful design tool, creation of frames for animations</a:t>
            </a:r>
          </a:p>
          <a:p>
            <a:r>
              <a:t>should be automated, and the means for selecting variables for animations</a:t>
            </a:r>
          </a:p>
          <a:p>
            <a:r>
              <a:t>should be interactive and employ a graphic user interface (GUI). X=80</a:t>
            </a:r>
          </a:p>
          <a:p>
            <a:r>
              <a:t>Automated map generation is desirable because the construction of</a:t>
            </a:r>
          </a:p>
          <a:p>
            <a:r>
              <a:t>animations manually, one frame at a time, is a costly and time-consuming</a:t>
            </a:r>
          </a:p>
          <a:p>
            <a:r>
              <a:t>process. Unless animations can be produced automatically by interfacing a</a:t>
            </a:r>
          </a:p>
          <a:p>
            <a:r>
              <a:t>geographic data base vvith map construction software, animation-based</a:t>
            </a:r>
          </a:p>
          <a:p>
            <a:r>
              <a:t>design is not likely to be widely employed by cartographers. Availability</a:t>
            </a:r>
          </a:p>
          <a:p>
            <a:r>
              <a:t>X=100</a:t>
            </a:r>
          </a:p>
          <a:p>
            <a:r>
              <a:t>of automated animation would provide a means to quickly construct and</a:t>
            </a:r>
          </a:p>
          <a:p>
            <a:r>
              <a:t>playback animations, make design decisions, and if a single map is de</a:t>
            </a:r>
          </a:p>
          <a:p>
            <a:r>
              <a:t>sired, to produce the most appropriate map for display or publication.</a:t>
            </a:r>
          </a:p>
          <a:p>
            <a:r>
              <a:t>The addition of interactivity and graphic user interfaces to auto</a:t>
            </a:r>
          </a:p>
          <a:p>
            <a:r>
              <a:t>an.imation software gi\·es even greater utility to animation-based design</a:t>
            </a:r>
          </a:p>
          <a:p>
            <a:r>
              <a:t>and e\.ploratory data analysis as well (Peterson 1995, Lodding 1983). The</a:t>
            </a:r>
          </a:p>
          <a:p>
            <a:r>
              <a:t>X=120</a:t>
            </a:r>
          </a:p>
          <a:p>
            <a:r>
              <a:t>interface should permit users to make design decisions by selecting data;</a:t>
            </a:r>
          </a:p>
          <a:p>
            <a:r>
              <a:t>interpolation method; design elements, either singly or in combination, to</a:t>
            </a:r>
          </a:p>
          <a:p>
            <a:r>
              <a:t>be varied through animation; legend structure and other ancillary map</a:t>
            </a:r>
          </a:p>
          <a:p>
            <a:r>
              <a:t>elements; and the number of frames. It should then render the animation</a:t>
            </a:r>
          </a:p>
          <a:p>
            <a:r>
              <a:t>and permit playback. The interface should allow the user to change</a:t>
            </a:r>
          </a:p>
          <a:p>
            <a:r>
              <a:t>animation speed, reverse the animation, pause and resume, and possibly</a:t>
            </a:r>
          </a:p>
          <a:p>
            <a:r>
              <a:t>X=140</a:t>
            </a:r>
          </a:p>
          <a:p>
            <a:r>
              <a:t>to query the numerical geographic data base. Finally, the interface should</a:t>
            </a:r>
          </a:p>
          <a:p>
            <a:r>
              <a:t>permit the user to record their selections and produce a final map. In order</a:t>
            </a:r>
          </a:p>
          <a:p>
            <a:r>
              <a:t>for animation to become a robust means for design-based visualization, it</a:t>
            </a:r>
          </a:p>
          <a:p>
            <a:r>
              <a:t>is essential that these capabilities be repeatable. When this occurs, cartog F(-.:11rc 5. Frames o:clt'cted from 1111 111111111111011</a:t>
            </a:r>
          </a:p>
          <a:p>
            <a:r>
              <a:t>;d11d1 l'ill"lf&gt; de11;;itu of tl1t• i11tap1•/alt'd gn.t</a:t>
            </a:r>
          </a:p>
          <a:p>
            <a:r>
              <a:t>raphy will be closer to utility in the use of animation in map design and</a:t>
            </a:r>
          </a:p>
          <a:p>
            <a:r>
              <a:t>lt:'IU\! i11~·cr .. ,·-d1.;;ta;1c; i.Peiglrl111g. Tlic</a:t>
            </a:r>
          </a:p>
          <a:p>
            <a:r>
              <a:t>data exploration. H·cisl1ti11...; ,·.1po11t·111 i;; 2. X n:/er,; lo t/1&lt;' 111111tl11•r</a:t>
            </a:r>
          </a:p>
          <a:p>
            <a:r>
              <a:t>ol ~nd i11lch·ctit&gt;11s 011 tl1c lwri:o11tal a.1is.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34 cartographic perspectives Number 29, Winter 1998</a:t>
            </a:r>
          </a:p>
          <a:p>
            <a:r>
              <a:t>REFERENCES Autodesk, Inc. 1991. Animator Pro. Version 1.2. Sausalito, CA.</a:t>
            </a:r>
          </a:p>
          <a:p>
            <a:r>
              <a:t>Burrough, P.A. 1986. Principles of Geographical Information Systems for</a:t>
            </a:r>
          </a:p>
          <a:p>
            <a:r>
              <a:t>Land Resource Assessment. Oxford:Clarendon Press. 147-165.</a:t>
            </a:r>
          </a:p>
          <a:p>
            <a:r>
              <a:t>Campbell, CS. and Egbert, S.L. 1990. Animated Cartography: Thirty Years</a:t>
            </a:r>
          </a:p>
          <a:p>
            <a:r>
              <a:t>of Scratching the Surface. Cartographica 27(2): 24-46.</a:t>
            </a:r>
          </a:p>
          <a:p>
            <a:r>
              <a:t>Di Biase, D.,MacEachren, AM., Krygier, J.B., and Reeves, C. 1992. Anima</a:t>
            </a:r>
          </a:p>
          <a:p>
            <a:r>
              <a:t>tion and the Role of Map Design in Scientific Visualization. Cartography</a:t>
            </a:r>
          </a:p>
          <a:p>
            <a:r>
              <a:t>and Geographic Information Systems 19(4):201-214.</a:t>
            </a:r>
          </a:p>
          <a:p>
            <a:r>
              <a:t>Dobson, \ifichael. 1973. Choropleth Maps Without Class Intervals? Geo</a:t>
            </a:r>
          </a:p>
          <a:p>
            <a:r>
              <a:t>graphic Analysis 3:358-360.</a:t>
            </a:r>
          </a:p>
          <a:p>
            <a:r>
              <a:t>Golden Software, Inc. 1990. Surfer. Version 4.15, Golden, CO.</a:t>
            </a:r>
          </a:p>
          <a:p>
            <a:r>
              <a:t>Jenks, George and Crawford, Paul. 1971. Viewing Points for Three Dimen</a:t>
            </a:r>
          </a:p>
          <a:p>
            <a:r>
              <a:t>sional Mapping. Technical Report NR389-146, Office of Naval Research.</a:t>
            </a:r>
          </a:p>
          <a:p>
            <a:r>
              <a:t>Washington, D.C.</a:t>
            </a:r>
          </a:p>
          <a:p>
            <a:r>
              <a:t>Lam, Nina Siu-Ngan. 1983. Spatial Interpolation Methods: A Review. The</a:t>
            </a:r>
          </a:p>
          <a:p>
            <a:r>
              <a:t>American Cartographer 10(2):129-149.</a:t>
            </a:r>
          </a:p>
          <a:p>
            <a:r>
              <a:t>Ladding, Karl. 1983. Iconic Interfacing. IEEE Computer Graphics and</a:t>
            </a:r>
          </a:p>
          <a:p>
            <a:r>
              <a:t>Applications 3(2):11-20.</a:t>
            </a:r>
          </a:p>
          <a:p>
            <a:r>
              <a:t>MacEachren, Allan. 1995. How Maps Work: Representation, Visualization,</a:t>
            </a:r>
          </a:p>
          <a:p>
            <a:r>
              <a:t>and Design, New York: The Guilford Press.</a:t>
            </a:r>
          </a:p>
          <a:p>
            <a:r>
              <a:t>MacEachren, Allan and Ganter, J. 1990. A Pattern Identification Approach</a:t>
            </a:r>
          </a:p>
          <a:p>
            <a:r>
              <a:t>to Cartographic Visualization. Cartographica 27(2):64-81.</a:t>
            </a:r>
          </a:p>
          <a:p>
            <a:r>
              <a:t>Monmonier, Mark. 1982. Computer-Assisted Cartography:Principles and</a:t>
            </a:r>
          </a:p>
          <a:p>
            <a:r>
              <a:t>Prospects, Englewood Cliffs, NJ:Prentice-Hall.</a:t>
            </a:r>
          </a:p>
          <a:p>
            <a:r>
              <a:t>Peterson, Michael. 1993. Interactive Cartographic Animation. Cartography</a:t>
            </a:r>
          </a:p>
          <a:p>
            <a:r>
              <a:t>and Geographic Information Systems 20(1 ):40-44.</a:t>
            </a:r>
          </a:p>
          <a:p>
            <a:r>
              <a:t>Peterson, Michael. 1995. Interactive and Animated Cartography.</a:t>
            </a:r>
          </a:p>
          <a:p>
            <a:r>
              <a:t>Englewood Cliff, NJ:Prentice-Hall.</a:t>
            </a:r>
          </a:p>
          <a:p>
            <a:r>
              <a:t>Robinson, Arthur and Petchenik, Barbara. 1976. The Nature of</a:t>
            </a:r>
          </a:p>
          <a:p>
            <a:r>
              <a:t>Maps: Essays Toward Understanding of Maps and Mapping. Chicago,</a:t>
            </a:r>
          </a:p>
          <a:p>
            <a:r>
              <a:t>University of Chicago Press.</a:t>
            </a:r>
          </a:p>
          <a:p>
            <a:r>
              <a:t>Rowles, Ruth A. 1978. Perception of Perspective Block Diagrams. The</a:t>
            </a:r>
          </a:p>
          <a:p>
            <a:r>
              <a:t>American Cartographer 5(1 ):31-44.</a:t>
            </a:r>
          </a:p>
          <a:p>
            <a:r>
              <a:t>Sampson, Robert. 1979. Surface III Graphics System. Lawrence, KS: Kansas</a:t>
            </a:r>
          </a:p>
          <a:p>
            <a:r>
              <a:t>Geological Survey.</a:t>
            </a:r>
          </a:p>
          <a:p>
            <a:r>
              <a:t>Tufte, Edward. 1983. The Visual Display of Quantitative Information.</a:t>
            </a:r>
          </a:p>
          <a:p>
            <a:r>
              <a:t>Cheshire, CT: The Graphic Press.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35</a:t>
            </a:r>
          </a:p>
          <a:p>
            <a:r>
              <a:t>Decision-Making with Conflicting</a:t>
            </a:r>
          </a:p>
          <a:p>
            <a:r>
              <a:t>Cartographic Information: The Case of</a:t>
            </a:r>
          </a:p>
          <a:p>
            <a:r>
              <a:t>Groundwater Vulnerability Maps</a:t>
            </a:r>
          </a:p>
          <a:p>
            <a:r>
              <a:t>Charles P. Rader</a:t>
            </a:r>
          </a:p>
          <a:p>
            <a:r>
              <a:t>Conflicting cartographic information can cause problems when used to</a:t>
            </a:r>
          </a:p>
          <a:p>
            <a:r>
              <a:t>support planning decisions. Creation of conflicting information is Department of Geography</a:t>
            </a:r>
          </a:p>
          <a:p>
            <a:r>
              <a:t>becoming more common as geographic visualization and modeling Univ. of Wisconsin - River Falls</a:t>
            </a:r>
          </a:p>
          <a:p>
            <a:r>
              <a:t>software are used to develop multiple maps that represent different</a:t>
            </a:r>
          </a:p>
          <a:p>
            <a:r>
              <a:t>views of the same data. This paper presents groundwater vulnerability</a:t>
            </a:r>
          </a:p>
          <a:p>
            <a:r>
              <a:t>mapping as an example of information conflicts of this type. Three James D. Janke</a:t>
            </a:r>
          </a:p>
          <a:p>
            <a:r>
              <a:t>different vulnerability models applied to the same test data produced</a:t>
            </a:r>
          </a:p>
          <a:p>
            <a:r>
              <a:t>Department of Community</a:t>
            </a:r>
          </a:p>
          <a:p>
            <a:r>
              <a:t>radically different results. This information was presented to a group of</a:t>
            </a:r>
          </a:p>
          <a:p>
            <a:r>
              <a:t>Resource Development</a:t>
            </a:r>
          </a:p>
          <a:p>
            <a:r>
              <a:t>local planners to examine how they would deal with the conflicts.</a:t>
            </a:r>
          </a:p>
          <a:p>
            <a:r>
              <a:t>Through this exercise it became apparent that each planner used highly Univ. of Wisconsin - Extension</a:t>
            </a:r>
          </a:p>
          <a:p>
            <a:r>
              <a:t>individual criteria to evaluate the results from the models. A continuum</a:t>
            </a:r>
          </a:p>
          <a:p>
            <a:r>
              <a:t>of strategies describes the range of responses from aspatial to spatial</a:t>
            </a:r>
          </a:p>
          <a:p>
            <a:r>
              <a:t>approaches. Jung's theory of psychological types is applied to further</a:t>
            </a:r>
          </a:p>
          <a:p>
            <a:r>
              <a:t>understand variation in responses. A venues for further research are</a:t>
            </a:r>
          </a:p>
          <a:p>
            <a:r>
              <a:t>suggested in the representation of cartographic information conflicts, the</a:t>
            </a:r>
          </a:p>
          <a:p>
            <a:r>
              <a:t>role of psychological types in decision-making with maps, and the role</a:t>
            </a:r>
          </a:p>
          <a:p>
            <a:r>
              <a:t>of group dynamics in decision-making with maps.</a:t>
            </a:r>
          </a:p>
          <a:p>
            <a:r>
              <a:t>Conflicting visual information in cartographic representations is a INTRODUCTION</a:t>
            </a:r>
          </a:p>
          <a:p>
            <a:r>
              <a:t>potential problem in all map displays and geographic analyses. The</a:t>
            </a:r>
          </a:p>
          <a:p>
            <a:r>
              <a:t>use of multiple representations for both display and analysis has become</a:t>
            </a:r>
          </a:p>
          <a:p>
            <a:r>
              <a:t>common practice with the widespread use of geographic visualization and</a:t>
            </a:r>
          </a:p>
          <a:p>
            <a:r>
              <a:t>analysis software (e.g., geographic information systems -GIS). These</a:t>
            </a:r>
          </a:p>
          <a:p>
            <a:r>
              <a:t>software products aid in the generation of many different views of one</a:t>
            </a:r>
          </a:p>
          <a:p>
            <a:r>
              <a:t>data set, the comparison of different data sets, the use of different methods</a:t>
            </a:r>
          </a:p>
          <a:p>
            <a:r>
              <a:t>for processing data, and the construction of different analytical models.</a:t>
            </a:r>
          </a:p>
          <a:p>
            <a:r>
              <a:t>The use of these tools for purposes of visualization provides a context</a:t>
            </a:r>
          </a:p>
          <a:p>
            <a:r>
              <a:t>through \-vhich many additional insights about a topic may be gained.</a:t>
            </a:r>
          </a:p>
          <a:p>
            <a:r>
              <a:t>In this paper, the question of conflicting information in cartographic</a:t>
            </a:r>
          </a:p>
          <a:p>
            <a:r>
              <a:t>displays is pursued in order to assess variations in map use strategies and</a:t>
            </a:r>
          </a:p>
          <a:p>
            <a:r>
              <a:t>interpretations when information is contradictory. This issue became</a:t>
            </a:r>
          </a:p>
          <a:p>
            <a:r>
              <a:t>apparent during a project that investigated the use of GIS for implement</a:t>
            </a:r>
          </a:p>
          <a:p>
            <a:r>
              <a:t>ing three different groundwater vulnerability models from the same data</a:t>
            </a:r>
          </a:p>
          <a:p>
            <a:r>
              <a:t>set (Rader and Janke, 1995). Different representations of groundwater</a:t>
            </a:r>
          </a:p>
          <a:p>
            <a:r>
              <a:t>vulnerability effectively illustrate the use of multiple views as suggested</a:t>
            </a:r>
          </a:p>
          <a:p>
            <a:r>
              <a:t>by Tufte (1990), Muehrcke (1990), and Monmonier (1991 ), since maps</a:t>
            </a:r>
          </a:p>
          <a:p>
            <a:r>
              <a:t>produced with these models supposedly represent 'similar' information.</a:t>
            </a:r>
          </a:p>
          <a:p>
            <a:r>
              <a:t>However, the maps (see Figure 1.) are quite dissimilar, and the conclusions</a:t>
            </a:r>
          </a:p>
          <a:p>
            <a:r>
              <a:t>derived from their use may be contradictory. Visual information conflicts</a:t>
            </a:r>
          </a:p>
          <a:p>
            <a:r>
              <a:t>"In many cases, decision makers</a:t>
            </a:r>
          </a:p>
          <a:p>
            <a:r>
              <a:t>such as these may be common to many GIS analyses.</a:t>
            </a:r>
          </a:p>
          <a:p>
            <a:r>
              <a:t>Jail to distinguish between the</a:t>
            </a:r>
          </a:p>
          <a:p>
            <a:r>
              <a:t>Maps produced from groundwater vulnerability assessments are a</a:t>
            </a:r>
          </a:p>
          <a:p>
            <a:r>
              <a:t>maps and the models that they</a:t>
            </a:r>
          </a:p>
          <a:p>
            <a:r>
              <a:t>primary information source employed by decision makers in developing</a:t>
            </a:r>
          </a:p>
          <a:p>
            <a:r>
              <a:t>landuse policy. Decision makers often have neither the original data nor represent."</a:t>
            </a:r>
          </a:p>
          <a:p>
            <a:r>
              <a:t>the knowledge to assess the validity of the different models. In many</a:t>
            </a:r>
          </a:p>
          <a:p>
            <a:r>
              <a:t>cases, decision makers fail to distinguish between the maps and the</a:t>
            </a:r>
          </a:p>
          <a:p>
            <a:r>
              <a:t>models that they represent. With increased use of GIS and modeling</a:t>
            </a:r>
          </a:p>
          <a:p>
            <a:r>
              <a:t>techniques, multiple maps representing 'similar' information will likely be</a:t>
            </a:r>
          </a:p>
          <a:p>
            <a:r>
              <a:t>available and produce information conflicts for decision makers. Ulti</a:t>
            </a:r>
          </a:p>
          <a:p>
            <a:r>
              <a:t>mately, knowledge about how people resolve problems with conflicting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36 cartographic perspectives Number 29, Winter 1998</a:t>
            </a:r>
          </a:p>
          <a:p>
            <a:r>
              <a:t>visual information should provide strategies for improving both carto</a:t>
            </a:r>
          </a:p>
          <a:p>
            <a:r>
              <a:t>graphic displays and users' interpretations of these displays. To examine</a:t>
            </a:r>
          </a:p>
          <a:p>
            <a:r>
              <a:t>this question, a map use exercise based on maps from different groundwa</a:t>
            </a:r>
          </a:p>
          <a:p>
            <a:r>
              <a:t>ter vulnerability models was presented to a group of local planners,</a:t>
            </a:r>
          </a:p>
          <a:p>
            <a:r>
              <a:t>elected officials, and groundwater specialists.</a:t>
            </a:r>
          </a:p>
          <a:p>
            <a:r>
              <a:t>The first part of this paper describes the vulnerability models, the</a:t>
            </a:r>
          </a:p>
          <a:p>
            <a:r>
              <a:t>context for their use, and a more formal problem statement. An overview</a:t>
            </a:r>
          </a:p>
          <a:p>
            <a:r>
              <a:t>of the map use exercise and the results are then presented. Finally, issues</a:t>
            </a:r>
          </a:p>
          <a:p>
            <a:r>
              <a:t>pertaining to the strategies that decision makers employ for dealing with</a:t>
            </a:r>
          </a:p>
          <a:p>
            <a:r>
              <a:t>visual information conflicts are discussed. In approaching this study, it is</a:t>
            </a:r>
          </a:p>
          <a:p>
            <a:r>
              <a:t>hoped that concrete recommendations can be provided on how to resolve</a:t>
            </a:r>
          </a:p>
          <a:p>
            <a:r>
              <a:t>information conflicts between maps. However, the participants' disparate</a:t>
            </a:r>
          </a:p>
          <a:p>
            <a:r>
              <a:t>responses indicated that the fundamental role of maps in decision-making</a:t>
            </a:r>
          </a:p>
          <a:p>
            <a:r>
              <a:t>was at issue and that diverse approaches to problems of conflicting</a:t>
            </a:r>
          </a:p>
          <a:p>
            <a:r>
              <a:t>information were in operation. Parallels with Jung's psychological typol</a:t>
            </a:r>
          </a:p>
          <a:p>
            <a:r>
              <a:t>ogy are drawn upon to help understand variations in decision-making</a:t>
            </a:r>
          </a:p>
          <a:p>
            <a:r>
              <a:t>strategies. Finally, avenues for further research are suggested.</a:t>
            </a:r>
          </a:p>
          <a:p>
            <a:r>
              <a:t>Conflicting Visual Information in Cartographic Representation and</a:t>
            </a:r>
          </a:p>
          <a:p>
            <a:r>
              <a:t>Planning</a:t>
            </a:r>
          </a:p>
          <a:p>
            <a:r>
              <a:t>The potential for conflicting cartographic representations appears in</a:t>
            </a:r>
          </a:p>
          <a:p>
            <a:r>
              <a:t>several ways. The desirability of multiple maps for purposes of visualiza</a:t>
            </a:r>
          </a:p>
          <a:p>
            <a:r>
              <a:t>tion has been documented by several authors. Tufte (1990) noted that</a:t>
            </a:r>
          </a:p>
          <a:p>
            <a:r>
              <a:t>small multiple maps are well suited for time series data; Monmonier</a:t>
            </a:r>
          </a:p>
          <a:p>
            <a:r>
              <a:t>(1991) suggested that multiple views of a geographic data set are more</a:t>
            </a:r>
          </a:p>
          <a:p>
            <a:r>
              <a:t>truthful (i.e., ethical) because they provide a comparative frame of refer</a:t>
            </a:r>
          </a:p>
          <a:p>
            <a:r>
              <a:t>ence; and Muehrcke (1990, 9) observed that a more thorough understand</a:t>
            </a:r>
          </a:p>
          <a:p>
            <a:r>
              <a:t>ing may be obtained by using several different maps created from the</a:t>
            </a:r>
          </a:p>
          <a:p>
            <a:r>
              <a:t>same set of data. However, while additional insights may be generated</a:t>
            </a:r>
          </a:p>
          <a:p>
            <a:r>
              <a:t>through multiple views, visual information conflicts may arise if views</a:t>
            </a:r>
          </a:p>
          <a:p>
            <a:r>
              <a:t>display contradictory information. The question that should be asked is,</a:t>
            </a:r>
          </a:p>
          <a:p>
            <a:r>
              <a:t>what happens when map users are presented with conflicting or contra</a:t>
            </a:r>
          </a:p>
          <a:p>
            <a:r>
              <a:t>dictory information?</a:t>
            </a:r>
          </a:p>
          <a:p>
            <a:r>
              <a:t>Little work has addressed the problem of conflicting visual information</a:t>
            </a:r>
          </a:p>
          <a:p>
            <a:r>
              <a:t>between multiple cartographic displays. Typically, cartographic studies</a:t>
            </a:r>
          </a:p>
          <a:p>
            <a:r>
              <a:t>have examined map similarity and pattern comparison (Olson 1972,</a:t>
            </a:r>
          </a:p>
          <a:p>
            <a:r>
              <a:t>Monmonier 1974, Lloyd and Steinke 1976, Peterson 1985, and MacEachren</a:t>
            </a:r>
          </a:p>
          <a:p>
            <a:r>
              <a:t>". .. wlrat happens when map and Ganter 1990). These studies have examined perceived relationships</a:t>
            </a:r>
          </a:p>
          <a:p>
            <a:r>
              <a:t>users are presen fed with con between several maps, impacts of map complexity, and map similarity.</a:t>
            </a:r>
          </a:p>
          <a:p>
            <a:r>
              <a:t>While these have provided a background for understanding the perceptual</a:t>
            </a:r>
          </a:p>
          <a:p>
            <a:r>
              <a:t>flicting or co11 trad ictory infor</a:t>
            </a:r>
          </a:p>
          <a:p>
            <a:r>
              <a:t>characteristics of map displays, the question of conflicts in information</a:t>
            </a:r>
          </a:p>
          <a:p>
            <a:r>
              <a:t>mation?"</a:t>
            </a:r>
          </a:p>
          <a:p>
            <a:r>
              <a:t>content between several maps remains. This becomes increasingly impor</a:t>
            </a:r>
          </a:p>
          <a:p>
            <a:r>
              <a:t>tant in geographic information processing technologies where multiple</a:t>
            </a:r>
          </a:p>
          <a:p>
            <a:r>
              <a:t>displays may be produced from the same data set. For example, different</a:t>
            </a:r>
          </a:p>
          <a:p>
            <a:r>
              <a:t>views may be accomplished through changes in classing and symboliza</a:t>
            </a:r>
          </a:p>
          <a:p>
            <a:r>
              <a:t>tion schemes or the combination of multiple layers in overlay analysis.</a:t>
            </a:r>
          </a:p>
          <a:p>
            <a:r>
              <a:t>Wood (1992, 186) suggests that presenting multiple "relationships</a:t>
            </a:r>
          </a:p>
          <a:p>
            <a:r>
              <a:t>constituted by the interplay of the data" is a desirable artifact of the</a:t>
            </a:r>
          </a:p>
          <a:p>
            <a:r>
              <a:t>mapping process. Muehrcke (1990) has extended this discussion to include</a:t>
            </a:r>
          </a:p>
          <a:p>
            <a:r>
              <a:t>the idea of "map stability." Map stability refers to whether or not changes</a:t>
            </a:r>
          </a:p>
          <a:p>
            <a:r>
              <a:t>in the way data are processed or symbolized have an impact on the</a:t>
            </a:r>
          </a:p>
          <a:p>
            <a:r>
              <a:t>message perceived. However, what happens when views directly conflict</a:t>
            </a:r>
          </a:p>
          <a:p>
            <a:r>
              <a:t>with one another? While seeing small differences in representations</a:t>
            </a:r>
          </a:p>
          <a:p>
            <a:r>
              <a:t>illustrates the impact of cartographic methods on displays, seeing large</a:t>
            </a:r>
          </a:p>
          <a:p>
            <a:r>
              <a:t>differences may call into question both cartographic and modeling meth</a:t>
            </a:r>
          </a:p>
          <a:p>
            <a:r>
              <a:t>ods and possibly their ultimate utility.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37</a:t>
            </a:r>
          </a:p>
          <a:p>
            <a:r>
              <a:t>Planning involves the design and consideration of a series of alterna</a:t>
            </a:r>
          </a:p>
          <a:p>
            <a:r>
              <a:t>tives. Monmonier (1991) reviewed the use of maps in zoning and environ</a:t>
            </a:r>
          </a:p>
          <a:p>
            <a:r>
              <a:t>mental protection. Ylaps serve as tools for making planning decisions and</a:t>
            </a:r>
          </a:p>
          <a:p>
            <a:r>
              <a:t>communicating a plan's spatial implications. In DiBiase's (1990) con</a:t>
            </a:r>
          </a:p>
          <a:p>
            <a:r>
              <a:t>tinuum of visual thinking and visual communication, planning maps</a:t>
            </a:r>
          </a:p>
          <a:p>
            <a:r>
              <a:t>operate in both the private and public realms. The maps are used in</a:t>
            </a:r>
          </a:p>
          <a:p>
            <a:r>
              <a:t>planning policy decisions, essentially a thinking task, and in presenting</a:t>
            </a:r>
          </a:p>
          <a:p>
            <a:r>
              <a:t>planning policy decisions, essentially a communication task. In this</a:t>
            </a:r>
          </a:p>
          <a:p>
            <a:r>
              <a:t>context, the power of maps to persuade should not be overlooked (Harley</a:t>
            </a:r>
          </a:p>
          <a:p>
            <a:r>
              <a:t>1989, Wood 1992). The 'official' nature of maps often operates at a subcon</a:t>
            </a:r>
          </a:p>
          <a:p>
            <a:r>
              <a:t>scious level.</a:t>
            </a:r>
          </a:p>
          <a:p>
            <a:r>
              <a:t>Monmonier (1991, 71) notes that "without maps, planning would be</a:t>
            </a:r>
          </a:p>
          <a:p>
            <a:r>
              <a:t>chaotic, furthermore even with maps, many would argue that planning is</a:t>
            </a:r>
          </a:p>
          <a:p>
            <a:r>
              <a:t>chaotic." In addition, he comments that errors in map compilation can be</a:t>
            </a:r>
          </a:p>
          <a:p>
            <a:r>
              <a:t>significant and that the same information is often used to develop differ</a:t>
            </a:r>
          </a:p>
          <a:p>
            <a:r>
              <a:t>ent plans (Monmonier 1991 ). Pla1ming scenarios often involve creating</a:t>
            </a:r>
          </a:p>
          <a:p>
            <a:r>
              <a:t>different conceptual models about a future reality. Different scenarios can</a:t>
            </a:r>
          </a:p>
          <a:p>
            <a:r>
              <a:t>often produce markedly different results. The 'stability' of results may be</a:t>
            </a:r>
          </a:p>
          <a:p>
            <a:r>
              <a:t>re-framed with the concept of 'model stability.' Model stability describes</a:t>
            </a:r>
          </a:p>
          <a:p>
            <a:r>
              <a:t>how representations change through the use of different models for</a:t>
            </a:r>
          </a:p>
          <a:p>
            <a:r>
              <a:t>"While individual data layers</a:t>
            </a:r>
          </a:p>
          <a:p>
            <a:r>
              <a:t>combining data layers that were processed using the same cartographic</a:t>
            </a:r>
          </a:p>
          <a:p>
            <a:r>
              <a:t>methods. This is a case common to many GIS analyses that employ may luwe high map stability,</a:t>
            </a:r>
          </a:p>
          <a:p>
            <a:r>
              <a:t>different conceptual models for describing a process. While individual the fi11al 111aps made from</a:t>
            </a:r>
          </a:p>
          <a:p>
            <a:r>
              <a:t>data layers may have high map stability, the final maps made from different models may be</a:t>
            </a:r>
          </a:p>
          <a:p>
            <a:r>
              <a:t>different models may be unstable. The inherent stability or instability of</a:t>
            </a:r>
          </a:p>
          <a:p>
            <a:r>
              <a:t>unstable."</a:t>
            </a:r>
          </a:p>
          <a:p>
            <a:r>
              <a:t>the models may influence how decisions are made with different maps.</a:t>
            </a:r>
          </a:p>
          <a:p>
            <a:r>
              <a:t>The implementation of different models therefore has the potential to</a:t>
            </a:r>
          </a:p>
          <a:p>
            <a:r>
              <a:t>produce information conflicts. Conflicting information is a major source of</a:t>
            </a:r>
          </a:p>
          <a:p>
            <a:r>
              <a:t>chaos in the planning process.</a:t>
            </a:r>
          </a:p>
          <a:p>
            <a:r>
              <a:t>Groundwater Vulnerability: An Example</a:t>
            </a:r>
          </a:p>
          <a:p>
            <a:r>
              <a:t>Maps that result from groundwater vulnerability models provide an</a:t>
            </a:r>
          </a:p>
          <a:p>
            <a:r>
              <a:t>apt example of potential cartographic information conflicts in planning.</a:t>
            </a:r>
          </a:p>
          <a:p>
            <a:r>
              <a:t>Beginning in the early 1970s, a variety of vulnerability models were</a:t>
            </a:r>
          </a:p>
          <a:p>
            <a:r>
              <a:t>developed in response to environmental concerns about drinking water.</a:t>
            </a:r>
          </a:p>
          <a:p>
            <a:r>
              <a:t>Significant health effects from drinking contaminated water have been</a:t>
            </a:r>
          </a:p>
          <a:p>
            <a:r>
              <a:t>documented; these include cancers (Armijo 1981; Lee and Nielsen 1987;</a:t>
            </a:r>
          </a:p>
          <a:p>
            <a:r>
              <a:t>Canter 1987), blue-baby disease (Lukens 1987), and central nervous system</a:t>
            </a:r>
          </a:p>
          <a:p>
            <a:r>
              <a:t>birth defects (Scragg et al. 1982). By the mid-1980s, it became apparent that</a:t>
            </a:r>
          </a:p>
          <a:p>
            <a:r>
              <a:t>planning and management tools were needed to identify places that have</a:t>
            </a:r>
          </a:p>
          <a:p>
            <a:r>
              <a:t>high vulnerability to contamination (Aller et al. l 985).</a:t>
            </a:r>
          </a:p>
          <a:p>
            <a:r>
              <a:t>Several types of models have been developed to assess vulnerability.</a:t>
            </a:r>
          </a:p>
          <a:p>
            <a:r>
              <a:t>These models can be grouped into four major categories: hydrogeologic</a:t>
            </a:r>
          </a:p>
          <a:p>
            <a:r>
              <a:t>setting models, parameter ·weighting/scoring models, empirical models,</a:t>
            </a:r>
          </a:p>
          <a:p>
            <a:r>
              <a:t>and simulation models (Geraghty &amp; Miller, Inc. and ICF, Inc. 1990).</a:t>
            </a:r>
          </a:p>
          <a:p>
            <a:r>
              <a:t>Hydrogcologic setting models use qualitative site-based assessments to</a:t>
            </a:r>
          </a:p>
          <a:p>
            <a:r>
              <a:t>rank the relative vulnerability of different areas with varying geomorphic,</a:t>
            </a:r>
          </a:p>
          <a:p>
            <a:r>
              <a:t>geological, and ground water characteristics. Parameter weighting I scoring</a:t>
            </a:r>
          </a:p>
          <a:p>
            <a:r>
              <a:t>models numerically rank and '"reight susceptibility factors and calculate</a:t>
            </a:r>
          </a:p>
          <a:p>
            <a:r>
              <a:t>relative vulnerability scores for areas with different hydrogeologic charac</a:t>
            </a:r>
          </a:p>
          <a:p>
            <a:r>
              <a:t>teristics. \IVeights are often assigned to account for variations in the</a:t>
            </a:r>
          </a:p>
          <a:p>
            <a:r>
              <a:t>relative importance of factors in particular situations, e.g., areas with thin</a:t>
            </a:r>
          </a:p>
          <a:p>
            <a:r>
              <a:t>soil. Empirical models use data that relate knO\·Vn occurrences of contami</a:t>
            </a:r>
          </a:p>
          <a:p>
            <a:r>
              <a:t>nants in groundwater to hydrogeologic characteristics through the applica</a:t>
            </a:r>
          </a:p>
          <a:p>
            <a:r>
              <a:t>tion of leaching models or statistical inference. Finally, simulation models</a:t>
            </a:r>
          </a:p>
          <a:p>
            <a:r>
              <a:t>attempt to predict contaminant leaching through interactions beho\leen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38 cartographic perspectives Number 29, Winter 1998</a:t>
            </a:r>
          </a:p>
          <a:p>
            <a:r>
              <a:t>hydrogeologic characteristics and contaminant fate, such as dilution,</a:t>
            </a:r>
          </a:p>
          <a:p>
            <a:r>
              <a:t>breakdovvn, absorption, and volatilization (Geraghty &amp; Miller, Inc. and</a:t>
            </a:r>
          </a:p>
          <a:p>
            <a:r>
              <a:t>ICF, Inc. 1990, 6-1) .</a:t>
            </a:r>
          </a:p>
          <a:p>
            <a:r>
              <a:t>.\1ost of the models that have been applied in the context of GIS have</a:t>
            </a:r>
          </a:p>
          <a:p>
            <a:r>
              <a:t>been hydrogeologic setting or parameter weighting/ scoring models.</a:t>
            </a:r>
          </a:p>
          <a:p>
            <a:r>
              <a:t>DRASTIC (Aller et al. 1987) is a general-purpose, parameter weighting</a:t>
            </a:r>
          </a:p>
          <a:p>
            <a:r>
              <a:t>model that was developed for the US EPA for vulnerability assessments at</a:t>
            </a:r>
          </a:p>
          <a:p>
            <a:r>
              <a:t>county and state levels. Several other models have been developed for</a:t>
            </a:r>
          </a:p>
          <a:p>
            <a:r>
              <a:t>state-wide assessments, including the Wisconsin Susceptibility Model</a:t>
            </a:r>
          </a:p>
          <a:p>
            <a:r>
              <a:t>(WISM) (Schmidt 1987), which uses weighted hydrogeologic characteris</a:t>
            </a:r>
          </a:p>
          <a:p>
            <a:r>
              <a:t>tics to model vulnerability, and an aquifer vulnerability model of Michigan</a:t>
            </a:r>
          </a:p>
          <a:p>
            <a:r>
              <a:t>(Lusch et al. 1992), which uses hydrogeologic characteristics for determin</a:t>
            </a:r>
          </a:p>
          <a:p>
            <a:r>
              <a:t>ing relative risk. All of these models use a combination of data layers that</a:t>
            </a:r>
          </a:p>
          <a:p>
            <a:r>
              <a:t>include soil, subsurface geomorphic characteristics, geology, recharge</a:t>
            </a:r>
          </a:p>
          <a:p>
            <a:r>
              <a:t>rates, and topography.</a:t>
            </a:r>
          </a:p>
          <a:p>
            <a:r>
              <a:t>Little research has addressed differences in model performance. The</a:t>
            </a:r>
          </a:p>
          <a:p>
            <a:r>
              <a:t>authors of the models often state that results from different models are not</a:t>
            </a:r>
          </a:p>
          <a:p>
            <a:r>
              <a:t>directly comparable (Aller et. al 1985; Schmidt 1987). Furthermore, Mer</a:t>
            </a:r>
          </a:p>
          <a:p>
            <a:r>
              <a:t>chant (1994) notes that there is little validation of these models in the</a:t>
            </a:r>
          </a:p>
          <a:p>
            <a:r>
              <a:t>context of GIS and that there are a number of questions concerning the</a:t>
            </a:r>
          </a:p>
          <a:p>
            <a:r>
              <a:t>impact GIS processing methods have on model performance. Rader and</a:t>
            </a:r>
          </a:p>
          <a:p>
            <a:r>
              <a:t>Janke (1995) implemented several models popular in Wisconsin to address</a:t>
            </a:r>
          </a:p>
          <a:p>
            <a:r>
              <a:t>the question of model differences. In applying the models, the data layers</a:t>
            </a:r>
          </a:p>
          <a:p>
            <a:r>
              <a:t>and processing methods were held constant so that variations in the</a:t>
            </a:r>
          </a:p>
          <a:p>
            <a:r>
              <a:t>results were due to differences in model design.</a:t>
            </a:r>
          </a:p>
          <a:p>
            <a:r>
              <a:t>Three models were used: SCAM (Soil Contamination Attenuation</a:t>
            </a:r>
          </a:p>
          <a:p>
            <a:r>
              <a:t>Model) (Zaporozec 1985), WISM (Wisconsin Susceptibility Model)</a:t>
            </a:r>
          </a:p>
          <a:p>
            <a:r>
              <a:t>(Schmidt 1987), and DRASTIC (Aller et al. 1985). All are parameter scor</a:t>
            </a:r>
          </a:p>
          <a:p>
            <a:r>
              <a:t>"The basic problem is that eue11</a:t>
            </a:r>
          </a:p>
          <a:p>
            <a:r>
              <a:t>ing/weighting models that use several data layers, although not all</a:t>
            </a:r>
          </a:p>
          <a:p>
            <a:r>
              <a:t>when using a common data set</a:t>
            </a:r>
          </a:p>
          <a:p>
            <a:r>
              <a:t>models use all of the layers, nor do they consistently weight the layers.</a:t>
            </a:r>
          </a:p>
          <a:p>
            <a:r>
              <a:t>processed in the same Wat/, the Maps derived from the three models for a site in St. Croix County, Wiscon</a:t>
            </a:r>
          </a:p>
          <a:p>
            <a:r>
              <a:t>results are vastly different." sin are displayed in Figure 1. The basic problem is that even when using a</a:t>
            </a:r>
          </a:p>
          <a:p>
            <a:r>
              <a:t>common data set processed in the same way, the results are vastly differ</a:t>
            </a:r>
          </a:p>
          <a:p>
            <a:r>
              <a:t>ent. It is important to reiterate that the models' developers state that the</a:t>
            </a:r>
          </a:p>
          <a:p>
            <a:r>
              <a:t>models are not directly comparable. Regardless, it is likely that the maps</a:t>
            </a:r>
          </a:p>
          <a:p>
            <a:r>
              <a:t>represent the same thing to the lay person and many decision-makers.</a:t>
            </a:r>
          </a:p>
          <a:p>
            <a:r>
              <a:t>Statistical analysis of the relationships between the models further</a:t>
            </a:r>
          </a:p>
          <a:p>
            <a:r>
              <a:t>corroborate the visual disparities (Table 1.). Correlation coefficients</a:t>
            </a:r>
          </a:p>
          <a:p>
            <a:r>
              <a:t>demonstrate little or no relationship in the SCA.\1 -DRASTIC pair and</a:t>
            </a:r>
          </a:p>
          <a:p>
            <a:r>
              <a:t>very weak relationships in DRASTIC-WISM and WISM-SCAM pairs. The</a:t>
            </a:r>
          </a:p>
          <a:p>
            <a:r>
              <a:t>comparison map and coefficients of areal correspondences between the</a:t>
            </a:r>
          </a:p>
          <a:p>
            <a:r>
              <a:t>models indicate complete divergence over 22 percent of the area, with</a:t>
            </a:r>
          </a:p>
          <a:p>
            <a:r>
              <a:t>similar ratings between two of the three models over 70 percent of the</a:t>
            </a:r>
          </a:p>
          <a:p>
            <a:r>
              <a:t>area, and complete correspondence over 7 percent of the area. The coeffi</a:t>
            </a:r>
          </a:p>
          <a:p>
            <a:r>
              <a:t>cient of areal correspondence only indicates agreement or disagreement</a:t>
            </a:r>
          </a:p>
          <a:p>
            <a:r>
              <a:t>across the models. Therefore, the models produce conflicting risk ratings,</a:t>
            </a:r>
          </a:p>
          <a:p>
            <a:r>
              <a:t>both graphically and statistically.</a:t>
            </a:r>
          </a:p>
          <a:p>
            <a:r>
              <a:t>Maps produced from these assessments are often the primary informa</a:t>
            </a:r>
          </a:p>
          <a:p>
            <a:r>
              <a:t>tion used by officials for making land use policy decisions concerning</a:t>
            </a:r>
          </a:p>
          <a:p>
            <a:r>
              <a:t>groundwater. Often, officials neither have the data nor the knowledge to</a:t>
            </a:r>
          </a:p>
          <a:p>
            <a:r>
              <a:t>assess the validity of the models. This has led to the following question:</a:t>
            </a:r>
          </a:p>
          <a:p>
            <a:r>
              <a:t>Given that groundwater vulnerability models produce different results</a:t>
            </a:r>
          </a:p>
          <a:p>
            <a:r>
              <a:t>and, therefore, different maps, how do decision makers respond when</a:t>
            </a:r>
          </a:p>
          <a:p>
            <a:r>
              <a:t>confronted with conflicting cartographic information?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39</a:t>
            </a:r>
          </a:p>
          <a:p>
            <a:r>
              <a:t>DRASTIC SCAM</a:t>
            </a:r>
          </a:p>
          <a:p>
            <a:r>
              <a:t>ln\"k J'.,1, 111111 'DP. '"Tll :;, P."k Pule n111l hl '.\~lj</a:t>
            </a:r>
          </a:p>
          <a:p>
            <a:r>
              <a:t>f\:1)llc1 t11 H1g,h - H·.•~h</a:t>
            </a:r>
          </a:p>
          <a:p>
            <a:r>
              <a:t>~:n1lc1 111· l 1&gt;\\ ~d1)1l1·1111· H1.':.!.li</a:t>
            </a:r>
          </a:p>
          <a:p>
            <a:r>
              <a:t>l ()\\ ~ludl·11le l u\\&gt;</a:t>
            </a:r>
          </a:p>
          <a:p>
            <a:r>
              <a:t>WISM COMPARISON</a:t>
            </a:r>
          </a:p>
          <a:p>
            <a:r>
              <a:t>..</a:t>
            </a:r>
          </a:p>
          <a:p>
            <a:r>
              <a:t>- - ( -- -. -</a:t>
            </a:r>
          </a:p>
          <a:p>
            <a:r>
              <a:t>~·i! •,' )</a:t>
            </a:r>
          </a:p>
          <a:p>
            <a:r>
              <a:t>'</a:t>
            </a:r>
          </a:p>
          <a:p>
            <a:r>
              <a:t>~ "'.._~-_~_..</a:t>
            </a:r>
          </a:p>
          <a:p>
            <a:r>
              <a:t>I •• ') / ;</a:t>
            </a:r>
          </a:p>
          <a:p>
            <a:r>
              <a:t>. \ . '</a:t>
            </a:r>
          </a:p>
          <a:p>
            <a:r>
              <a:t>. .</a:t>
            </a:r>
          </a:p>
          <a:p>
            <a:r>
              <a:t>r ~~ ":i/</a:t>
            </a:r>
          </a:p>
          <a:p>
            <a:r>
              <a:t>"</a:t>
            </a:r>
          </a:p>
          <a:p>
            <a:r>
              <a:t>'</a:t>
            </a:r>
          </a:p>
          <a:p>
            <a:r>
              <a:t>\ ....</a:t>
            </a:r>
          </a:p>
          <a:p>
            <a:r>
              <a:t>R1,k 1'u1t 1111,J '.\'!'-\I ( 1J111 1.op111ulnu ,. (·,it ii11 It n1</a:t>
            </a:r>
          </a:p>
          <a:p>
            <a:r>
              <a:t>- H1.~J. tip ~ '-.:11t11"</a:t>
            </a:r>
          </a:p>
          <a:p>
            <a:r>
              <a:t>~ f\l11dn )ll H1.1~h ti(, l'ai111l</a:t>
            </a:r>
          </a:p>
          <a:p>
            <a:r>
              <a:t>l 1&gt;\\</a:t>
            </a:r>
          </a:p>
          <a:p>
            <a:r>
              <a:t>Figure 1. Gro1111d1mfa V11/m•rnbility Model Results</a:t>
            </a:r>
          </a:p>
          <a:p>
            <a:r>
              <a:t>In asking this question, an attempt is made to understand how visual data</a:t>
            </a:r>
          </a:p>
          <a:p>
            <a:r>
              <a:t>impact decisions, especially where multiple views of the data present</a:t>
            </a:r>
          </a:p>
          <a:p>
            <a:r>
              <a:t>conflicting information.</a:t>
            </a:r>
          </a:p>
          <a:p>
            <a:r>
              <a:t>In order to examine the impact that conflicting visual information has on METHODS</a:t>
            </a:r>
          </a:p>
          <a:p>
            <a:r>
              <a:t>planning decisions regarding groundwater protection, the study was de</a:t>
            </a:r>
          </a:p>
          <a:p>
            <a:r>
              <a:t>signed using the three conflicting maps seen earlier in Figure L While the</a:t>
            </a:r>
          </a:p>
          <a:p>
            <a:r>
              <a:t>models are not explicitly designed for site-level assessments, they serve a</a:t>
            </a:r>
          </a:p>
          <a:p>
            <a:r>
              <a:t>function in screening sites for further consideration. In all cases, a site-level</a:t>
            </a:r>
          </a:p>
          <a:p>
            <a:r>
              <a:t>assessment would need to be conducted prior to a final decision. "While the models are not</a:t>
            </a:r>
          </a:p>
          <a:p>
            <a:r>
              <a:t>Thirteen local decision makers participated in the map-use exercise. explicitly designed for site-level</a:t>
            </a:r>
          </a:p>
          <a:p>
            <a:r>
              <a:t>These people \.Vere chosen because they represent typical users of vulner</a:t>
            </a:r>
          </a:p>
          <a:p>
            <a:r>
              <a:t>assessments, they serve a</a:t>
            </a:r>
          </a:p>
          <a:p>
            <a:r>
              <a:t>ability maps in planning-based decisions. The participants included five</a:t>
            </a:r>
          </a:p>
          <a:p>
            <a:r>
              <a:t>function in screening sites for</a:t>
            </a:r>
          </a:p>
          <a:p>
            <a:r>
              <a:t>planners, three local government board members, two geologists, one civil</a:t>
            </a:r>
          </a:p>
          <a:p>
            <a:r>
              <a:t>engineer, one developer, and one farmer. Only three of the thirteen further consideration."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40 cartographic perspectives Number 29, Winter 1998</a:t>
            </a:r>
          </a:p>
          <a:p>
            <a:r>
              <a:t>Correlation Coefficients Coefficient of Areal Correspondence</a:t>
            </a:r>
          </a:p>
          <a:p>
            <a:r>
              <a:t>(standardized unclassed scores) (classed scores)</a:t>
            </a:r>
          </a:p>
          <a:p>
            <a:r>
              <a:t>SCAM-DRASTIC 0.049 None 22.4%</a:t>
            </a:r>
          </a:p>
          <a:p>
            <a:r>
              <a:t>DRASTIC-WISM 0.279 Partial 70.3%</a:t>
            </a:r>
          </a:p>
          <a:p>
            <a:r>
              <a:t>WISM-SCAM 0.311 Complete 7.3%</a:t>
            </a:r>
          </a:p>
          <a:p>
            <a:r>
              <a:t>Ta/1/c 1. Rclatio11slrips /1efwee11 Gro1md1mfer V11l11erability Models</a:t>
            </a:r>
          </a:p>
          <a:p>
            <a:r>
              <a:t>participants had significant experience with groundwater vulnerability</a:t>
            </a:r>
          </a:p>
          <a:p>
            <a:r>
              <a:t>models and mapping.</a:t>
            </a:r>
          </a:p>
          <a:p>
            <a:r>
              <a:t>The exercise had the participants identify potential sites for houses</a:t>
            </a:r>
          </a:p>
          <a:p>
            <a:r>
              <a:t>using the information on groundwater vulnerability for each of three</a:t>
            </a:r>
          </a:p>
          <a:p>
            <a:r>
              <a:t>"The exercise had the partici</a:t>
            </a:r>
          </a:p>
          <a:p>
            <a:r>
              <a:t>different maps. Each map was divided into four quadrants. Participants</a:t>
            </a:r>
          </a:p>
          <a:p>
            <a:r>
              <a:t>pants identify potential sites for were asked to assume that all sites were equally accessible within each</a:t>
            </a:r>
          </a:p>
          <a:p>
            <a:r>
              <a:t>/rouses using the information on quadrant and that each site would have its own well and septic system.</a:t>
            </a:r>
          </a:p>
          <a:p>
            <a:r>
              <a:t>grou 11dwater vulnerability for For each map, they also rated the vulnerability for each quadrant, chose</a:t>
            </a:r>
          </a:p>
          <a:p>
            <a:r>
              <a:t>the best location for a house in each quadrant, and selected the overall best</a:t>
            </a:r>
          </a:p>
          <a:p>
            <a:r>
              <a:t>each of three different maps."</a:t>
            </a:r>
          </a:p>
          <a:p>
            <a:r>
              <a:t>quadrant for a house. A sample test page is reproduced in Figure 2. From</a:t>
            </a:r>
          </a:p>
          <a:p>
            <a:r>
              <a:t>these questions, information on perceived relative vulnerability levels and</a:t>
            </a:r>
          </a:p>
          <a:p>
            <a:r>
              <a:t>locational behavior were obtained. Such site selection problems are</a:t>
            </a:r>
          </a:p>
          <a:p>
            <a:r>
              <a:t>realistic and critical tasks for planners.</a:t>
            </a:r>
          </a:p>
          <a:p>
            <a:r>
              <a:t>The three specific task questions were:</a:t>
            </a:r>
          </a:p>
          <a:p>
            <a:r>
              <a:t>1) Based on this map, rate the average risk for groundwater contami</a:t>
            </a:r>
          </a:p>
          <a:p>
            <a:r>
              <a:t>nation in each of the four quadrants using the scales below.</a:t>
            </a:r>
          </a:p>
          <a:p>
            <a:r>
              <a:t>2) Based on the information on the map above, mark the best location</a:t>
            </a:r>
          </a:p>
          <a:p>
            <a:r>
              <a:t>for a house in each quadrant with a dot. Assume that all locations</a:t>
            </a:r>
          </a:p>
          <a:p>
            <a:r>
              <a:t>are equally accessible and that each house will have its own well</a:t>
            </a:r>
          </a:p>
          <a:p>
            <a:r>
              <a:t>and septic system.</a:t>
            </a:r>
          </a:p>
          <a:p>
            <a:r>
              <a:t>3) Examine the map above. Which quadrant contains the most</a:t>
            </a:r>
          </a:p>
          <a:p>
            <a:r>
              <a:t>desirable location for a house? You must choose one.</a:t>
            </a:r>
          </a:p>
          <a:p>
            <a:r>
              <a:t>ln designing the test pages, the three maps were simply labeled as</a:t>
            </a:r>
          </a:p>
          <a:p>
            <a:r>
              <a:t>Areas 1, 2, and 3. Since the vulnerability maps had extremely low correla</a:t>
            </a:r>
          </a:p>
          <a:p>
            <a:r>
              <a:t>tion coefficients (0.049 -0.311), the maps were not rotated or flipped to</a:t>
            </a:r>
          </a:p>
          <a:p>
            <a:r>
              <a:t>mask that the maps represented the same area. In general, as the correla</a:t>
            </a:r>
          </a:p>
          <a:p>
            <a:r>
              <a:t>tion coefficient of the map pairs falls below 0.84, it becomes increasingly</a:t>
            </a:r>
          </a:p>
          <a:p>
            <a:r>
              <a:t>more difficult for subject to judge similarity (Olson 1972). None of the</a:t>
            </a:r>
          </a:p>
          <a:p>
            <a:r>
              <a:t>"Participants were then asked to participants noticed that the maps represented the same area during the</a:t>
            </a:r>
          </a:p>
          <a:p>
            <a:r>
              <a:t>describe /row they would resolzie exercise. This slight deception was later revealed to the participants and</a:t>
            </a:r>
          </a:p>
          <a:p>
            <a:r>
              <a:t>formed the basis for a discussion of how to resolve information conflicts</a:t>
            </a:r>
          </a:p>
          <a:p>
            <a:r>
              <a:t>the i11formation conflicts</a:t>
            </a:r>
          </a:p>
          <a:p>
            <a:r>
              <a:t>between the maps.</a:t>
            </a:r>
          </a:p>
          <a:p>
            <a:r>
              <a:t>betwee11 the maps, considering</a:t>
            </a:r>
          </a:p>
          <a:p>
            <a:r>
              <a:t>Once the participants answered the three sets of questions, they were</a:t>
            </a:r>
          </a:p>
          <a:p>
            <a:r>
              <a:t>that tire maps represented the</a:t>
            </a:r>
          </a:p>
          <a:p>
            <a:r>
              <a:t>given a description of how the different maps were constructed using a</a:t>
            </a:r>
          </a:p>
          <a:p>
            <a:r>
              <a:t>same area. GIS. At this point, the fact that the three maps represented the same area</a:t>
            </a:r>
          </a:p>
          <a:p>
            <a:r>
              <a:t>was revealed. Participants were then asked to describe how they would</a:t>
            </a:r>
          </a:p>
          <a:p>
            <a:r>
              <a:t>resolve the information conflicts between the maps, considering that the</a:t>
            </a:r>
          </a:p>
          <a:p>
            <a:r>
              <a:t>maps represented the same area. After answering this question individu</a:t>
            </a:r>
          </a:p>
          <a:p>
            <a:r>
              <a:t>ally, participants were divided into two focus groups for a discussion of</a:t>
            </a:r>
          </a:p>
          <a:p>
            <a:r>
              <a:t>the models and an opportunity to examine how information conflicts</a:t>
            </a:r>
          </a:p>
          <a:p>
            <a:r>
              <a:t>might be resolved in a group setting. Each of the authors facilitated one of</a:t>
            </a:r>
          </a:p>
          <a:p>
            <a:r>
              <a:t>the groups and transcribed the discussion. After the focus groups finished,</a:t>
            </a:r>
          </a:p>
          <a:p>
            <a:r>
              <a:t>each participant responded to a questionnaire on their previous experi-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41</a:t>
            </a:r>
          </a:p>
          <a:p>
            <a:r>
              <a:t>Groundwater Vulnerability Area 3</a:t>
            </a:r>
          </a:p>
          <a:p>
            <a:r>
              <a:t>Ri11k Potcnti&amp;l</a:t>
            </a:r>
          </a:p>
          <a:p>
            <a:r>
              <a:t>- High</a:t>
            </a:r>
          </a:p>
          <a:p>
            <a:r>
              <a:t>- Moderate High</a:t>
            </a:r>
          </a:p>
          <a:p>
            <a:r>
              <a:t>- Moder&amp;Le Low</a:t>
            </a:r>
          </a:p>
          <a:p>
            <a:r>
              <a:t>Low</a:t>
            </a:r>
          </a:p>
          <a:p>
            <a:r>
              <a:t>O 300 Feet</a:t>
            </a:r>
          </a:p>
          <a:p>
            <a:r>
              <a:t>Q~n 1 Build 011 11\i. map. r1ta tl'le aver-011 rl&amp;k fer groundw919r oonlarrvn.tion "'Heil of th1 tour</a:t>
            </a:r>
          </a:p>
          <a:p>
            <a:r>
              <a:t>~,.,.,,., 1&amp;11\Q 11\e c;i:;aft below. (Otcle the number that mo&amp;t closely rnatdlec your tallt\Q)</a:t>
            </a:r>
          </a:p>
          <a:p>
            <a:r>
              <a:t>....</a:t>
            </a:r>
          </a:p>
          <a:p>
            <a:r>
              <a:t>Quadr31ant 1 ,...~. ..,.~• Quadrant 2 ,..-.</a:t>
            </a:r>
          </a:p>
          <a:p>
            <a:r>
              <a:t>,/' +-I .../</a:t>
            </a:r>
          </a:p>
          <a:p>
            <a:r>
              <a:t>..</a:t>
            </a:r>
          </a:p>
          <a:p>
            <a:r>
              <a:t>Aver:aoe lll•ll Aa&amp;oHlllertt , 2 ,. a , • &amp; • Ave,. ltle-AA•Mtll\e11t 1 1 a • s 1</a:t>
            </a:r>
          </a:p>
          <a:p>
            <a:r>
              <a:t>,,.. .. .... ....</a:t>
            </a:r>
          </a:p>
          <a:p>
            <a:r>
              <a:t>Quadrant 3 Quadrant 4</a:t>
            </a:r>
          </a:p>
          <a:p>
            <a:r>
              <a:t>"'~</a:t>
            </a:r>
          </a:p>
          <a:p>
            <a:r>
              <a:t>..,7 ..,7</a:t>
            </a:r>
          </a:p>
          <a:p>
            <a:r>
              <a:t>Qu115tion 2 fl.Med 01111'111 il'll'Drmatlon on die map abava, mark Ille bMt rocat1o11 lor a ho..a l'I eac~ quadrant</a:t>
            </a:r>
          </a:p>
          <a:p>
            <a:r>
              <a:t>wih :a dot. Auume ~:at :all loe:abor.&amp; :are eqmJly :aeo11&amp;&amp;1bl&amp; Mid lh:at Nd\ home will !\we b CNlro well :and</a:t>
            </a:r>
          </a:p>
          <a:p>
            <a:r>
              <a:t>WJ&gt;h: 1i)$191TI.</a:t>
            </a:r>
          </a:p>
          <a:p>
            <a:r>
              <a:t>Oue&amp;tion 3 &amp;arNM the map ai)ove. Whrel'I qu:adrw COl\talM the IN&gt;&amp;t des.uable location !or a l'loU&amp;e?</a:t>
            </a:r>
          </a:p>
          <a:p>
            <a:r>
              <a:t>You !Nllil .moo.a Ol\e. 1 2 3 4</a:t>
            </a:r>
          </a:p>
          <a:p>
            <a:r>
              <a:t>Figure 2. Tc::t l'asefor WISM M,1dclfrom Map Use Exercise</a:t>
            </a:r>
          </a:p>
          <a:p>
            <a:r>
              <a:t>ences with vulnerability maps and models and their uses in landuse</a:t>
            </a:r>
          </a:p>
          <a:p>
            <a:r>
              <a:t>planning.</a:t>
            </a:r>
          </a:p>
          <a:p>
            <a:r>
              <a:t>Analysis of \·ariance (A&gt;JOV A) was used to test the relationship between RESULTS</a:t>
            </a:r>
          </a:p>
          <a:p>
            <a:r>
              <a:t>the vulnerability ratings for each quadrant. The results indicated that the</a:t>
            </a:r>
          </a:p>
          <a:p>
            <a:r>
              <a:t>participants' a\·erage vulnerability ratings in all but one quadrant '"'ere</a:t>
            </a:r>
          </a:p>
          <a:p>
            <a:r>
              <a:t>significantly different (p less than .OS) between most map pairs. (See Table</a:t>
            </a:r>
          </a:p>
          <a:p>
            <a:r>
              <a:t>2.) Quadrant three (SW) was the only quadrant where the ratings were</a:t>
            </a:r>
          </a:p>
          <a:p>
            <a:r>
              <a:t>similar between all maps. Overall vulnerability ratings for each map were</a:t>
            </a:r>
          </a:p>
          <a:p>
            <a:r>
              <a:t>compared using A.t\OV A, and all map pair comparisons were significantly "The results indicated that the</a:t>
            </a:r>
          </a:p>
          <a:p>
            <a:r>
              <a:t>different (p less than .01). Therefore, the participants' perceived vulnerabil participants' average vulner</a:t>
            </a:r>
          </a:p>
          <a:p>
            <a:r>
              <a:t>ity ratings vvere significantly different. This indicates that the maps exhibit</a:t>
            </a:r>
          </a:p>
          <a:p>
            <a:r>
              <a:t>ability ratings in all but one</a:t>
            </a:r>
          </a:p>
          <a:p>
            <a:r>
              <a:t>a potential for information conflicts.</a:t>
            </a:r>
          </a:p>
          <a:p>
            <a:r>
              <a:t>quadrant were significantly</a:t>
            </a:r>
          </a:p>
          <a:p>
            <a:r>
              <a:t>Quadrant four (SE) was judged by the participants to be the most</a:t>
            </a:r>
          </a:p>
          <a:p>
            <a:r>
              <a:t>suitable location for a house on all of the maps. This quadrant also re different (p less than .05)</a:t>
            </a:r>
          </a:p>
          <a:p>
            <a:r>
              <a:t>ceived the lowest average risk ratings for each of the maps. This indicates betiveen most map pairs."</a:t>
            </a:r>
          </a:p>
          <a:p>
            <a:r>
              <a:t>that even though there were significant differences in vulnerability ratings</a:t>
            </a:r>
          </a:p>
          <a:p>
            <a:r>
              <a:t>for this quadrant, it was still the best general area for a house. In this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42 cartographic perspectives Number 29, Winter 1998</a:t>
            </a:r>
          </a:p>
          <a:p>
            <a:r>
              <a:t>Quadrant 1 Quadrant2</a:t>
            </a:r>
          </a:p>
          <a:p>
            <a:r>
              <a:t>SCAM-DRASTIC* SCAM-DRASTIC*</a:t>
            </a:r>
          </a:p>
          <a:p>
            <a:r>
              <a:t>DRASTIC-WISM* DRASTIC-WIS M</a:t>
            </a:r>
          </a:p>
          <a:p>
            <a:r>
              <a:t>WISM-SCAM* WISM-SCAM"'</a:t>
            </a:r>
          </a:p>
          <a:p>
            <a:r>
              <a:t>Quadrant 3 Qoadrant4</a:t>
            </a:r>
          </a:p>
          <a:p>
            <a:r>
              <a:t>~</a:t>
            </a:r>
          </a:p>
          <a:p>
            <a:r>
              <a:t>SCAM-DRASTIC SCAM-DRASTIC</a:t>
            </a:r>
          </a:p>
          <a:p>
            <a:r>
              <a:t>DRASTIC-WIS M DRASTIC-WISM*</a:t>
            </a:r>
          </a:p>
          <a:p>
            <a:r>
              <a:t>WI SM-SCAN WIS M-SCAM*</a:t>
            </a:r>
          </a:p>
          <a:p>
            <a:r>
              <a:t>"'SIGNIFICANTLY DIFFERENT at p &lt; .05</a:t>
            </a:r>
          </a:p>
          <a:p>
            <a:r>
              <a:t>Table 2. V11/11aal1i/1t,11 Rati11gs /1ct11&gt;ee11 Map Pairs by Q11adrn11t (ANOVAi</a:t>
            </a:r>
          </a:p>
          <a:p>
            <a:r>
              <a:t>context, the information content was reasonably stable. In other words, the</a:t>
            </a:r>
          </a:p>
          <a:p>
            <a:r>
              <a:t>maps produced the same result for the determination of the best quadrant</a:t>
            </a:r>
          </a:p>
          <a:p>
            <a:r>
              <a:t>for a house although the maps were different.</a:t>
            </a:r>
          </a:p>
          <a:p>
            <a:r>
              <a:t>The best location for a house within each quadrant varied by map</a:t>
            </a:r>
          </a:p>
          <a:p>
            <a:r>
              <a:t>(Figure 3.). It is not surprising that in areas where locational choices are</a:t>
            </a:r>
          </a:p>
          <a:p>
            <a:r>
              <a:t>constrained, more clustered patterns occur. SCAM and WISM models</a:t>
            </a:r>
          </a:p>
          <a:p>
            <a:r>
              <a:t>provided high constraints, and therefore the participants' responses</a:t>
            </a:r>
          </a:p>
          <a:p>
            <a:r>
              <a:t>tended to cluster. These clusters occurred in different locations in all</a:t>
            </a:r>
          </a:p>
          <a:p>
            <a:r>
              <a:t>quadrants except quadrant three (SW). The DRASTIC model, in contrast,</a:t>
            </a:r>
          </a:p>
          <a:p>
            <a:r>
              <a:t>had fewer constraints on location. The patterns produced were dispersed</a:t>
            </a:r>
          </a:p>
          <a:p>
            <a:r>
              <a:t>in the northern quadrants, and as constraints became more severe, the</a:t>
            </a:r>
          </a:p>
          <a:p>
            <a:r>
              <a:t>patterns became more clustered in the southern quadrants. The southern</a:t>
            </a:r>
          </a:p>
          <a:p>
            <a:r>
              <a:t>clusters occurred in different locations on all three maps.</a:t>
            </a:r>
          </a:p>
          <a:p>
            <a:r>
              <a:t>DISCUSSION Differences in both vulnerability ratings and locational preferences indi</a:t>
            </a:r>
          </a:p>
          <a:p>
            <a:r>
              <a:t>cate that different results would be obtained depending on which map</a:t>
            </a:r>
          </a:p>
          <a:p>
            <a:r>
              <a:t>was used for analysis. The problem, as stated, is what happens when</a:t>
            </a:r>
          </a:p>
          <a:p>
            <a:r>
              <a:t>people are confronted with two or more maps that present contradictory</a:t>
            </a:r>
          </a:p>
          <a:p>
            <a:r>
              <a:t>results. It is important to remember that the results produced with the</a:t>
            </a:r>
          </a:p>
          <a:p>
            <a:r>
              <a:t>different models were based upon the same data set, although the models</a:t>
            </a:r>
          </a:p>
          <a:p>
            <a:r>
              <a:t>incorporated the data in different ways.</a:t>
            </a:r>
          </a:p>
          <a:p>
            <a:r>
              <a:t>To examine how people deal with conflicting cartographic information,</a:t>
            </a:r>
          </a:p>
          <a:p>
            <a:r>
              <a:t>the following question was asked:</a:t>
            </a:r>
          </a:p>
          <a:p>
            <a:r>
              <a:t>Given that these results were developed from the same data set, for the</a:t>
            </a:r>
          </a:p>
          <a:p>
            <a:r>
              <a:t>same area, and yield conflicting information, describe how you would</a:t>
            </a:r>
          </a:p>
          <a:p>
            <a:r>
              <a:t>deal with this in the context of making planning decisions?</a:t>
            </a:r>
          </a:p>
          <a:p>
            <a:r>
              <a:t>After writing a response to this question on their own, each participant</a:t>
            </a:r>
          </a:p>
          <a:p>
            <a:r>
              <a:t>joined a focus group for a discussion. This allowed an examination of both</a:t>
            </a:r>
          </a:p>
          <a:p>
            <a:r>
              <a:t>"Some participants suggested individual and group decision-making strategies and to ask additional</a:t>
            </a:r>
          </a:p>
          <a:p>
            <a:r>
              <a:t>throwing out the maps follow-up questions concerning the use of the maps and their utility.</a:t>
            </a:r>
          </a:p>
          <a:p>
            <a:r>
              <a:t>completely and using 'common After examining the individual responses, a number of similarities and</a:t>
            </a:r>
          </a:p>
          <a:p>
            <a:r>
              <a:t>differences in participants' comments were noted. Responses varied by</a:t>
            </a:r>
          </a:p>
          <a:p>
            <a:r>
              <a:t>sense.'"</a:t>
            </a:r>
          </a:p>
          <a:p>
            <a:r>
              <a:t>how important maps were to the decision-making process. Some partici</a:t>
            </a:r>
          </a:p>
          <a:p>
            <a:r>
              <a:t>pants suggested throwing out the maps completely and using 'common</a:t>
            </a:r>
          </a:p>
          <a:p>
            <a:r>
              <a:t>sense.' Others defined the problem as political, referring to administrative</a:t>
            </a:r>
          </a:p>
          <a:p>
            <a:r>
              <a:t>and zoning codes that dictate acceptable procedures and regulations and</a:t>
            </a:r>
          </a:p>
          <a:p>
            <a:r>
              <a:t>require minimal map use for arriving at a decision. In the middle, some</a:t>
            </a:r>
          </a:p>
          <a:p>
            <a:r>
              <a:t>participants suggested using a combination of the models or using the</a:t>
            </a:r>
          </a:p>
          <a:p>
            <a:r>
              <a:t>models as 'advisory to decision-making.' Finally, some participants</a:t>
            </a:r>
          </a:p>
          <a:p>
            <a:r>
              <a:t>suggested 'improving existing models or developing new models' that</a:t>
            </a:r>
          </a:p>
          <a:p>
            <a:r>
              <a:t>would provide more valid maps.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43</a:t>
            </a:r>
          </a:p>
          <a:p>
            <a:r>
              <a:t>The importance of the map and spatial approaches to the problem DRASTIC</a:t>
            </a:r>
          </a:p>
          <a:p>
            <a:r>
              <a:t>varied greatly. These approaches could be characterized by a continuum</a:t>
            </a:r>
          </a:p>
          <a:p>
            <a:r>
              <a:t>from aspatial to spatial (Figure 4.); with less reliance on the map defining</a:t>
            </a:r>
          </a:p>
          <a:p>
            <a:r>
              <a:t>the aspatial end and more reliance on the map defining the spatial end of</a:t>
            </a:r>
          </a:p>
          <a:p>
            <a:r>
              <a:t>the continuum. The implicit assumption at the aspatial end of the con</a:t>
            </a:r>
          </a:p>
          <a:p>
            <a:r>
              <a:t>tinuum is that the map is unnecessary. Common sense, unreflective</a:t>
            </a:r>
          </a:p>
          <a:p>
            <a:r>
              <a:t>opinions, or rules-of-thumb fall at the aspatial end of the continuum,</a:t>
            </a:r>
          </a:p>
          <a:p>
            <a:r>
              <a:t>because they often do not explicitly consider local ecological conditions.</a:t>
            </a:r>
          </a:p>
          <a:p>
            <a:r>
              <a:t>For example, "everyone knows that you don't put your well next to your</a:t>
            </a:r>
          </a:p>
          <a:p>
            <a:r>
              <a:t>septic system." While initially these may appear to be spatial approaches,</a:t>
            </a:r>
          </a:p>
          <a:p>
            <a:r>
              <a:t>these approaches do not involve the evaluation of specific site characteris</a:t>
            </a:r>
          </a:p>
          <a:p>
            <a:r>
              <a:t>tics. In certain circumstances, for example, in areas with deep wells, the</a:t>
            </a:r>
          </a:p>
          <a:p>
            <a:r>
              <a:t>'rule' may have little practical meaning. The issue is that one does not</a:t>
            </a:r>
          </a:p>
          <a:p>
            <a:r>
              <a:t>need map-based information to apply the rule. The implicit assumption at</a:t>
            </a:r>
          </a:p>
          <a:p>
            <a:r>
              <a:t>O Hou•e locwon (DRASTIC)</a:t>
            </a:r>
          </a:p>
          <a:p>
            <a:r>
              <a:t>the spatial end of the continuum is that a map is needed, but that the</a:t>
            </a:r>
          </a:p>
          <a:p>
            <a:r>
              <a:t>existing models need to be refined.</a:t>
            </a:r>
          </a:p>
          <a:p>
            <a:r>
              <a:t>SCAM</a:t>
            </a:r>
          </a:p>
          <a:p>
            <a:r>
              <a:t>The question arises, why do people view the utility of maps (and</a:t>
            </a:r>
          </a:p>
          <a:p>
            <a:r>
              <a:t>models) with such divergence? There are many different possible explana</a:t>
            </a:r>
          </a:p>
          <a:p>
            <a:r>
              <a:t>tions. One could be that the participants were drawn from a varied pool of</a:t>
            </a:r>
          </a:p>
          <a:p>
            <a:r>
              <a:t>expertise, and individual differences in background, education, training,</a:t>
            </a:r>
          </a:p>
          <a:p>
            <a:r>
              <a:t>experience, and decision-making roles could account for these variations.</a:t>
            </a:r>
          </a:p>
          <a:p>
            <a:r>
              <a:t>Another possibility is that participants placed different interpretations on</a:t>
            </a:r>
          </a:p>
          <a:p>
            <a:r>
              <a:t>the context of the problem. However, responses from individuals with</a:t>
            </a:r>
          </a:p>
          <a:p>
            <a:r>
              <a:t>similar backgrounds ranged across the full continuum. For example, the</a:t>
            </a:r>
          </a:p>
          <a:p>
            <a:r>
              <a:t>planners made comments that ranged across the continuum in spite of</a:t>
            </a:r>
          </a:p>
          <a:p>
            <a:r>
              <a:t>their similarities in training and decision-making roles. Therefore, it</a:t>
            </a:r>
          </a:p>
          <a:p>
            <a:r>
              <a:t>appears that individual cognitive style, irrespective of training or context,</a:t>
            </a:r>
          </a:p>
          <a:p>
            <a:r>
              <a:t>may be a more significant factor in explaining how people deal with</a:t>
            </a:r>
          </a:p>
          <a:p>
            <a:r>
              <a:t>conflicting cartographic information.</a:t>
            </a:r>
          </a:p>
          <a:p>
            <a:r>
              <a:t>D Howe. Loution (SCAM:</a:t>
            </a:r>
          </a:p>
          <a:p>
            <a:r>
              <a:t>In the broader context of cognitive psychology and human behavior,</a:t>
            </a:r>
          </a:p>
          <a:p>
            <a:r>
              <a:t>Jung (1983, 129) also questioned how individuals could interpret the same WISM</a:t>
            </a:r>
          </a:p>
          <a:p>
            <a:r>
              <a:t>material so differently? Jung concluded that people belonged to different</a:t>
            </a:r>
          </a:p>
          <a:p>
            <a:r>
              <a:t>psychological types and these types accounted for variations in individual</a:t>
            </a:r>
          </a:p>
          <a:p>
            <a:r>
              <a:t>decision-making processes. The basis of Jung's typology consists of four</a:t>
            </a:r>
          </a:p>
          <a:p>
            <a:r>
              <a:t>dichotomous variables: introversion/ extra version, intuition I sensation,</a:t>
            </a:r>
          </a:p>
          <a:p>
            <a:r>
              <a:t>thinking/ feeling, and judging/ perceiving. These variables combine to</a:t>
            </a:r>
          </a:p>
          <a:p>
            <a:r>
              <a:t>form 16 different psychological types. Jung (1983, 132) stated that there are</a:t>
            </a:r>
          </a:p>
          <a:p>
            <a:r>
              <a:t>never pure types and that all individuals exhibit varying degrees of all</a:t>
            </a:r>
          </a:p>
          <a:p>
            <a:r>
              <a:t>characteristics. A type is defined by the predominant mode of behavior.</a:t>
            </a:r>
          </a:p>
          <a:p>
            <a:r>
              <a:t>Readers may be more familiar with the extension of this work on personal</a:t>
            </a:r>
          </a:p>
          <a:p>
            <a:r>
              <a:t>ity types by Myers and Briggs (Myers 1962).</a:t>
            </a:r>
          </a:p>
          <a:p>
            <a:r>
              <a:t>Keirsey and Bates (1984, 23) note that Jung proposed all of the dimen</a:t>
            </a:r>
          </a:p>
          <a:p>
            <a:r>
              <a:t>sions, but never fully developed the judging I perceiving dimension. Jung</a:t>
            </a:r>
          </a:p>
          <a:p>
            <a:r>
              <a:t>emphasized introversion/ extraversion as the predominant distinction</a:t>
            </a:r>
          </a:p>
          <a:p>
            <a:r>
              <a:t>between psychological types. Introverts emphasize the inner world of</a:t>
            </a:r>
          </a:p>
          <a:p>
            <a:r>
              <a:t>concepts and ideas, and extraverts emphasize the outer world of people Fig11re 3. l'v1ost Desirable Locatio11 for a House</a:t>
            </a:r>
          </a:p>
          <a:p>
            <a:r>
              <a:t>and things (Myers 1980, 7). The other psychological functions describe by Map.</a:t>
            </a:r>
          </a:p>
          <a:p>
            <a:r>
              <a:t>how people perceive, come to conclusions, and come to closure. Intuition</a:t>
            </a:r>
          </a:p>
          <a:p>
            <a:r>
              <a:t>and sensing, according to Jung (1983, 144), are "the irrational functions"</a:t>
            </a:r>
          </a:p>
          <a:p>
            <a:r>
              <a:t>and relate to the perception of events or potential events. Intuition in Aspatial Spatial</a:t>
            </a:r>
          </a:p>
          <a:p>
            <a:r>
              <a:t>volves indirect perception, and sensing involves direct perception through</a:t>
            </a:r>
          </a:p>
          <a:p>
            <a:r>
              <a:t>combine</a:t>
            </a:r>
          </a:p>
          <a:p>
            <a:r>
              <a:t>the five senses (sight, sound, smell, touch, and taste). Thinking and feeling</a:t>
            </a:r>
          </a:p>
          <a:p>
            <a:r>
              <a:t>are "the rational functions" and relate to how conclusions are made. polltlcal</a:t>
            </a:r>
          </a:p>
          <a:p>
            <a:r>
              <a:t>process</a:t>
            </a:r>
          </a:p>
          <a:p>
            <a:r>
              <a:t>Thinking involves the use of logical processes aimed at an impersonal</a:t>
            </a:r>
          </a:p>
          <a:p>
            <a:r>
              <a:t>finding, and feeling involves processes based on subjective values (Myers</a:t>
            </a:r>
          </a:p>
          <a:p>
            <a:r>
              <a:t>Fig11re 4. Co11ti11u11111 of approaches for</a:t>
            </a:r>
          </a:p>
          <a:p>
            <a:r>
              <a:t>1980, 3). The final dimension, judging and perceiving, involves preferences ha11d/i11g c01~f]icli11g cartograpl1ic approaches.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44 cartographic perspectives Number 29, Winter 1998</a:t>
            </a:r>
          </a:p>
          <a:p>
            <a:r>
              <a:t>Aspatial Spatial for degrees of closure. Judging types prefer closure using the available</a:t>
            </a:r>
          </a:p>
          <a:p>
            <a:r>
              <a:t>data, and perceiving types defer closure desiring more data.</a:t>
            </a:r>
          </a:p>
          <a:p>
            <a:r>
              <a:t>Returning to the idea of how participants made decisions using the</a:t>
            </a:r>
          </a:p>
          <a:p>
            <a:r>
              <a:t>maps, it is possible to arrange several of the psychological functions along</a:t>
            </a:r>
          </a:p>
          <a:p>
            <a:r>
              <a:t>a continuum from aspatial to spatial (Figure 5.). This provides a potential</a:t>
            </a:r>
          </a:p>
          <a:p>
            <a:r>
              <a:t>Fix11r,· 5. C1&gt;11ti111111111 of p.&lt;_11cl10!.1girnl l!f/'''" a11d framework for explaining the variations in approaches to conflicting</a:t>
            </a:r>
          </a:p>
          <a:p>
            <a:r>
              <a:t>::pnf111/ dl'Ci,;1,111-111nki11s. information on maps. Common sense approaches align with intuition and</a:t>
            </a:r>
          </a:p>
          <a:p>
            <a:r>
              <a:t>feeling and generally appear to be aspatial, whereas modeling approaches</a:t>
            </a:r>
          </a:p>
          <a:p>
            <a:r>
              <a:t>align with sensation and thinking and appear to be spatial. Spatial and</a:t>
            </a:r>
          </a:p>
          <a:p>
            <a:r>
              <a:t>aspatial are defined solely on the basis of whether or not a map is neces</a:t>
            </a:r>
          </a:p>
          <a:p>
            <a:r>
              <a:t>sary to the decision-making process. Furthermore, intuitive types prefer</a:t>
            </a:r>
          </a:p>
          <a:p>
            <a:r>
              <a:t>approaches that are figurative and employ approximations; in contrast,</a:t>
            </a:r>
          </a:p>
          <a:p>
            <a:r>
              <a:t>sensing types prefer approaches that are literal and employ detailed facts</a:t>
            </a:r>
          </a:p>
          <a:p>
            <a:r>
              <a:t>(Kroeger 1992, 33). Common sense involves "unreflective opinions" (G. &amp;</a:t>
            </a:r>
          </a:p>
          <a:p>
            <a:r>
              <a:t>"Spatial and aspatial are defined C. Merriam 1987, 266), rather than careful evaluation of facts. As noted</a:t>
            </a:r>
          </a:p>
          <a:p>
            <a:r>
              <a:t>earlier, since common sense does not rely explicitly on site-specific criteria,</a:t>
            </a:r>
          </a:p>
          <a:p>
            <a:r>
              <a:t>solely on the basis of whether or</a:t>
            </a:r>
          </a:p>
          <a:p>
            <a:r>
              <a:t>the aspatial end of the continuum is defined as being largely intuitive. In</a:t>
            </a:r>
          </a:p>
          <a:p>
            <a:r>
              <a:t>not a map is necessary to the</a:t>
            </a:r>
          </a:p>
          <a:p>
            <a:r>
              <a:t>contrast, the spatial end involves the use of site-specific criteria for evalua</a:t>
            </a:r>
          </a:p>
          <a:p>
            <a:r>
              <a:t>decisio11-111aki11g process."</a:t>
            </a:r>
          </a:p>
          <a:p>
            <a:r>
              <a:t>tion and, therefore, is largely based on sensing.</a:t>
            </a:r>
          </a:p>
          <a:p>
            <a:r>
              <a:t>It is important to note that these psychological dimensions describe a</a:t>
            </a:r>
          </a:p>
          <a:p>
            <a:r>
              <a:t>continuum of approaches to decision-making behavior, and each is valid</a:t>
            </a:r>
          </a:p>
          <a:p>
            <a:r>
              <a:t>in its own right. These define predominant decision-making preferences</a:t>
            </a:r>
          </a:p>
          <a:p>
            <a:r>
              <a:t>and it is possible for people to shift style in some circumstances. The</a:t>
            </a:r>
          </a:p>
          <a:p>
            <a:r>
              <a:t>predominant type of introversion I extra version and the functions of</a:t>
            </a:r>
          </a:p>
          <a:p>
            <a:r>
              <a:t>perceiving/ judging do not appear to play a role in this context.</a:t>
            </a:r>
          </a:p>
          <a:p>
            <a:r>
              <a:t>Variations in psychological types influence group dynamics in decision</a:t>
            </a:r>
          </a:p>
          <a:p>
            <a:r>
              <a:t>making. The interaction of contrasting types has the potential for increas</a:t>
            </a:r>
          </a:p>
          <a:p>
            <a:r>
              <a:t>ing both understanding and misunderstanding. This became apparent in</a:t>
            </a:r>
          </a:p>
          <a:p>
            <a:r>
              <a:t>our focus group discussions where participants expressed a number of</a:t>
            </a:r>
          </a:p>
          <a:p>
            <a:r>
              <a:t>contrasting opinions about the utility and necessity of the maps. In group</a:t>
            </a:r>
          </a:p>
          <a:p>
            <a:r>
              <a:t>decisions, people cannot assume that everyone is perceiving and evaluat</a:t>
            </a:r>
          </a:p>
          <a:p>
            <a:r>
              <a:t>ing the data in the same way and therefore will arrive at the same decision.</a:t>
            </a:r>
          </a:p>
          <a:p>
            <a:r>
              <a:t>In the focus groups, we observed contrasts in psychological types; decision</a:t>
            </a:r>
          </a:p>
          <a:p>
            <a:r>
              <a:t>makers exhibited both aspatial and spatial behaviors as described above.</a:t>
            </a:r>
          </a:p>
          <a:p>
            <a:r>
              <a:t>The fact that the maps presented conflicting information may have rein</a:t>
            </a:r>
          </a:p>
          <a:p>
            <a:r>
              <a:t>forced each participant's preexisting tendencies toward a psychological</a:t>
            </a:r>
          </a:p>
          <a:p>
            <a:r>
              <a:t>"/11 group decisions, people type. Those that tended toward the aspatial end of the continuum readily</a:t>
            </a:r>
          </a:p>
          <a:p>
            <a:r>
              <a:t>cannot ass11111e that eueryone is discounted the validity of the maps and their importance to decision</a:t>
            </a:r>
          </a:p>
          <a:p>
            <a:r>
              <a:t>percei'ui ng and evaluating tile making. In contrast, those that tended toward the spatial end of the</a:t>
            </a:r>
          </a:p>
          <a:p>
            <a:r>
              <a:t>data in tile same way and continuum looked for refinements to the models in order to improve the</a:t>
            </a:r>
          </a:p>
          <a:p>
            <a:r>
              <a:t>maps. In this situation, the discussions were congenial, since no decision</a:t>
            </a:r>
          </a:p>
          <a:p>
            <a:r>
              <a:t>therefore will arrize at the same</a:t>
            </a:r>
          </a:p>
          <a:p>
            <a:r>
              <a:t>1</a:t>
            </a:r>
          </a:p>
          <a:p>
            <a:r>
              <a:t>had to be made. However, the dynamics in groups that need to make a</a:t>
            </a:r>
          </a:p>
          <a:p>
            <a:r>
              <a:t>decision. "</a:t>
            </a:r>
          </a:p>
          <a:p>
            <a:r>
              <a:t>decision are often less congenial.</a:t>
            </a:r>
          </a:p>
          <a:p>
            <a:r>
              <a:t>At the outset of this project, the application of the Jungian typology was</a:t>
            </a:r>
          </a:p>
          <a:p>
            <a:r>
              <a:t>not anticipated, however, this typology provides a way to frame the</a:t>
            </a:r>
          </a:p>
          <a:p>
            <a:r>
              <a:t>problem and provide some explanation. Contrasts in styles have a poten</a:t>
            </a:r>
          </a:p>
          <a:p>
            <a:r>
              <a:t>tial for helping to understand how people process and manage conflicting</a:t>
            </a:r>
          </a:p>
          <a:p>
            <a:r>
              <a:t>information in a cartographic context. In contexts where multiple decision</a:t>
            </a:r>
          </a:p>
          <a:p>
            <a:r>
              <a:t>makers interact to solve a particular problem, in this case policy concern</a:t>
            </a:r>
          </a:p>
          <a:p>
            <a:r>
              <a:t>ing groundwater vulnerability, diverse decision-making styles come into</a:t>
            </a:r>
          </a:p>
          <a:p>
            <a:r>
              <a:t>play. The likely result of varied decision-making styles is multiple out</a:t>
            </a:r>
          </a:p>
          <a:p>
            <a:r>
              <a:t>comes that are internally consistent to the individual decision makers be</a:t>
            </a:r>
          </a:p>
          <a:p>
            <a:r>
              <a:t>cause each person frames the problem context according to her /his psy</a:t>
            </a:r>
          </a:p>
          <a:p>
            <a:r>
              <a:t>chological type. Diverse results should serve as a reminder to those who</a:t>
            </a:r>
          </a:p>
          <a:p>
            <a:r>
              <a:t>are cartographically oriented that not all users approach maps with the</a:t>
            </a:r>
          </a:p>
          <a:p>
            <a:r>
              <a:t>same enthusiasm. This alludes to an issue of how we approach conflicting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45</a:t>
            </a:r>
          </a:p>
          <a:p>
            <a:r>
              <a:t>information as a cartographic problem; the problem is not necessarily a</a:t>
            </a:r>
          </a:p>
          <a:p>
            <a:r>
              <a:t>question of 'how maps work', but instead, 'how people work with maps'.</a:t>
            </a:r>
          </a:p>
          <a:p>
            <a:r>
              <a:t>In this paper, results were presented from an experiment that investigated SUYfMARY AND</a:t>
            </a:r>
          </a:p>
          <a:p>
            <a:r>
              <a:t>how decision-makers respond to conflicting cartographic information CONC lU SIOl\'S</a:t>
            </a:r>
          </a:p>
          <a:p>
            <a:r>
              <a:t>using a series of conflicting groundwater vulnerability maps for one area.</a:t>
            </a:r>
          </a:p>
          <a:p>
            <a:r>
              <a:t>Thirteen local decision-makers participated in the experiment, and input</a:t>
            </a:r>
          </a:p>
          <a:p>
            <a:r>
              <a:t>\·Vas collected from them as to how they would deal with information</a:t>
            </a:r>
          </a:p>
          <a:p>
            <a:r>
              <a:t>conflicts in a planning situation. The decision-makers then discussed the</a:t>
            </a:r>
          </a:p>
          <a:p>
            <a:r>
              <a:t>maps and information conflicts in a group setting to examine how group</a:t>
            </a:r>
          </a:p>
          <a:p>
            <a:r>
              <a:t>dynamics might influence the decision-making process. From this, a</a:t>
            </a:r>
          </a:p>
          <a:p>
            <a:r>
              <a:t>continuum of strategies was developed that ranged from the aspatial</a:t>
            </a:r>
          </a:p>
          <a:p>
            <a:r>
              <a:t>approaches, e.g., discard the maps and use common sense, to spatial</a:t>
            </a:r>
          </a:p>
          <a:p>
            <a:r>
              <a:t>approaches, e.g., build a new spatial model that "works."</a:t>
            </a:r>
          </a:p>
          <a:p>
            <a:r>
              <a:t>When the research was initiated, it was viewed as a problem of carto</a:t>
            </a:r>
          </a:p>
          <a:p>
            <a:r>
              <a:t>graphic visual information processing and it was anticipated that the</a:t>
            </a:r>
          </a:p>
          <a:p>
            <a:r>
              <a:t>participants would discuss methods for representing conflicting informa</a:t>
            </a:r>
          </a:p>
          <a:p>
            <a:r>
              <a:t>tion. Hmvever, the issue turned very quickly away from the original maps "However, the issue turned ztery</a:t>
            </a:r>
          </a:p>
          <a:p>
            <a:r>
              <a:t>to one of how decisions are made using or, in some cases, not using the quickly away from the original</a:t>
            </a:r>
          </a:p>
          <a:p>
            <a:r>
              <a:t>maps. This allowed the development of a continuum of approaches to the</a:t>
            </a:r>
          </a:p>
          <a:p>
            <a:r>
              <a:t>maps to of how decisio11s are</a:t>
            </a:r>
          </a:p>
          <a:p>
            <a:r>
              <a:t>011e</a:t>
            </a:r>
          </a:p>
          <a:p>
            <a:r>
              <a:t>problem and a series of questions as to 'vhy such diverse results \·vere</a:t>
            </a:r>
          </a:p>
          <a:p>
            <a:r>
              <a:t>made using or, i11 some cases,</a:t>
            </a:r>
          </a:p>
          <a:p>
            <a:r>
              <a:t>obtained. It became apparent that very different internal processes were</a:t>
            </a:r>
          </a:p>
          <a:p>
            <a:r>
              <a:t>11ot using the 111aps."</a:t>
            </a:r>
          </a:p>
          <a:p>
            <a:r>
              <a:t>employed by the participants to evaluate the map data. The divergence of</a:t>
            </a:r>
          </a:p>
          <a:p>
            <a:r>
              <a:t>responses suggested that something as fundamental as Jung's psychologi</a:t>
            </a:r>
          </a:p>
          <a:p>
            <a:r>
              <a:t>cal types may play a role in how people evaluate map data.</a:t>
            </a:r>
          </a:p>
          <a:p>
            <a:r>
              <a:t>The results from this study present several avenues for further research.</a:t>
            </a:r>
          </a:p>
          <a:p>
            <a:r>
              <a:t>The first a\·enue deals with how to best represent information conflicts</a:t>
            </a:r>
          </a:p>
          <a:p>
            <a:r>
              <a:t>and uncertainty between multiple maps. With growing reliance on GIS</a:t>
            </a:r>
          </a:p>
          <a:p>
            <a:r>
              <a:t>modeling in environmental decision-making and issues of inter-model</a:t>
            </a:r>
          </a:p>
          <a:p>
            <a:r>
              <a:t>stability, methods need to be developed to spatially represent agreement</a:t>
            </a:r>
          </a:p>
          <a:p>
            <a:r>
              <a:t>and disagreement between models. MacEachren's (1994) suggestions</a:t>
            </a:r>
          </a:p>
          <a:p>
            <a:r>
              <a:t>provide a starting point for such an investigation. The second avenue</a:t>
            </a:r>
          </a:p>
          <a:p>
            <a:r>
              <a:t>deals with the role of individual preferences in decision-making and the</a:t>
            </a:r>
          </a:p>
          <a:p>
            <a:r>
              <a:t>influence of psychological type on how people work with maps. It is</a:t>
            </a:r>
          </a:p>
          <a:p>
            <a:r>
              <a:t>apparent from this research that there are diverse ways in ·which individu</a:t>
            </a:r>
          </a:p>
          <a:p>
            <a:r>
              <a:t>als perceive and understand information and that this may impact the</a:t>
            </a:r>
          </a:p>
          <a:p>
            <a:r>
              <a:t>decisions which the\· ultimate!\· make. Finallv, a third avenue deals with</a:t>
            </a:r>
          </a:p>
          <a:p>
            <a:r>
              <a:t>how groups mal-.e d.ecisions u;ing maps. The' dynamics of individuals and "The role and i111porta11ce of</a:t>
            </a:r>
          </a:p>
          <a:p>
            <a:r>
              <a:t>groups in the decision-making process are markedly different, and little</a:t>
            </a:r>
          </a:p>
          <a:p>
            <a:r>
              <a:t>multiple represe11tatio11s in</a:t>
            </a:r>
          </a:p>
          <a:p>
            <a:r>
              <a:t>cartographic research has addressed this interaction.</a:t>
            </a:r>
          </a:p>
          <a:p>
            <a:r>
              <a:t>visualizing spatial problems is</a:t>
            </a:r>
          </a:p>
          <a:p>
            <a:r>
              <a:t>The role and importance of multiple representations in visualizing</a:t>
            </a:r>
          </a:p>
          <a:p>
            <a:r>
              <a:t>well docu111e11ted, however, there</a:t>
            </a:r>
          </a:p>
          <a:p>
            <a:r>
              <a:t>spatial problems is well documented, however, there needs to be a concern</a:t>
            </a:r>
          </a:p>
          <a:p>
            <a:r>
              <a:t>with the quality of the information that these multiple ,·iews present. The 11eeds to be a co11cem ·with the</a:t>
            </a:r>
          </a:p>
          <a:p>
            <a:r>
              <a:t>potential for conflicting information in cartographic displays becomes quality of the i11for111atio11 that</a:t>
            </a:r>
          </a:p>
          <a:p>
            <a:r>
              <a:t>quite high when multiple data layers are combined in GIS models. The fact</a:t>
            </a:r>
          </a:p>
          <a:p>
            <a:r>
              <a:t>these multiple viezus present."</a:t>
            </a:r>
          </a:p>
          <a:p>
            <a:r>
              <a:t>that the s&lt;1me data layers may produce markedly different maps \·\'hen</a:t>
            </a:r>
          </a:p>
          <a:p>
            <a:r>
              <a:t>combined in different combinations or through different models is coming</a:t>
            </a:r>
          </a:p>
          <a:p>
            <a:r>
              <a:t>to be a real concern for those who deal with environmental data and</a:t>
            </a:r>
          </a:p>
          <a:p>
            <a:r>
              <a:t>decision-making. This concern becomes paramount in situations where</a:t>
            </a:r>
          </a:p>
          <a:p>
            <a:r>
              <a:t>different representations may confuse or obscure understanding rather</a:t>
            </a:r>
          </a:p>
          <a:p>
            <a:r>
              <a:t>than illuminate it.</a:t>
            </a:r>
          </a:p>
          <a:p>
            <a:r>
              <a:t>We thank the three anonymous re,·iewers for their comments and requests ACKt\O\\'LEDGMENTS</a:t>
            </a:r>
          </a:p>
          <a:p>
            <a:r>
              <a:t>for clarification. \Ve also thank Dr. Rik Seefeldt from the Department of</a:t>
            </a:r>
          </a:p>
          <a:p>
            <a:r>
              <a:t>Psychology at the L"niversity of Wisconsin -River Falls for assistance with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46 cartographic perspectives Number 29, Winter 1998</a:t>
            </a:r>
          </a:p>
          <a:p>
            <a:r>
              <a:t>issues pertaining to psychological typology. All omissions and interpreta</a:t>
            </a:r>
          </a:p>
          <a:p>
            <a:r>
              <a:t>tions however remain our responsibility.</a:t>
            </a:r>
          </a:p>
          <a:p>
            <a:r>
              <a:t>REFERENCES Aller, L., T. Bennett, J. Lehr, and R. Petty. 1985. DRASTIC: A Standardized</a:t>
            </a:r>
          </a:p>
          <a:p>
            <a:r>
              <a:t>System for Evaluating Ground Water Pollution Potential Using</a:t>
            </a:r>
          </a:p>
          <a:p>
            <a:r>
              <a:t>Hydrogeologic Settings. Ada, OK: U.S. Environmental Protection Agency.</a:t>
            </a:r>
          </a:p>
          <a:p>
            <a:r>
              <a:t>Armijo, R. et al. 1981 Epidemiology of gastric cancer in Chile: II -Nitrate</a:t>
            </a:r>
          </a:p>
          <a:p>
            <a:r>
              <a:t>exposures and stomach cancer frequency. lntemational journal of Epidemiol</a:t>
            </a:r>
          </a:p>
          <a:p>
            <a:r>
              <a:t>ogy 10(1): 57-62.</a:t>
            </a:r>
          </a:p>
          <a:p>
            <a:r>
              <a:t>Canter, L. 1987. Nitrates and pesticides in groundwater: An analysis of a</a:t>
            </a:r>
          </a:p>
          <a:p>
            <a:r>
              <a:t>computer based literature search. in D. Fairchild (ed.) Gro1111d Water Quality</a:t>
            </a:r>
          </a:p>
          <a:p>
            <a:r>
              <a:t>a11d Agricultural Practices. Chelsea, MI: Lewis Publishers.</a:t>
            </a:r>
          </a:p>
          <a:p>
            <a:r>
              <a:t>DiBiase, D. 1990. Visualization in the earth sciences. Earth and Mineral</a:t>
            </a:r>
          </a:p>
          <a:p>
            <a:r>
              <a:t>Scie11ces, Bulletin of the College of Earth and Mineral Sciences, PSU 59(2):</a:t>
            </a:r>
          </a:p>
          <a:p>
            <a:r>
              <a:t>13-18.</a:t>
            </a:r>
          </a:p>
          <a:p>
            <a:r>
              <a:t>G. &amp; C. Merriam Company. 1987. Webster's Ninth New Collegiate Dictionary.</a:t>
            </a:r>
          </a:p>
          <a:p>
            <a:r>
              <a:t>Springfield, MA: G. &amp; C. Merriam Company.</a:t>
            </a:r>
          </a:p>
          <a:p>
            <a:r>
              <a:t>Geraghty and Miller, Inc. and ICF, Inc. 1990. A Review of Methods for</a:t>
            </a:r>
          </a:p>
          <a:p>
            <a:r>
              <a:t>Assessi11g the Sensitivity of Aquifers to Pesticide Contamination. Prepared for</a:t>
            </a:r>
          </a:p>
          <a:p>
            <a:r>
              <a:t>the U.S. Environmental Protection Agency.</a:t>
            </a:r>
          </a:p>
          <a:p>
            <a:r>
              <a:t>Harley, B. 1989. Deconstructing the map. Cartographica 27(2): 1-23.</a:t>
            </a:r>
          </a:p>
          <a:p>
            <a:r>
              <a:t>Jung, C. 1983. The Essential f1111g: selected a11d introduced by Anthony Storr.</a:t>
            </a:r>
          </a:p>
          <a:p>
            <a:r>
              <a:t>New York, NY: MJF Books.</a:t>
            </a:r>
          </a:p>
          <a:p>
            <a:r>
              <a:t>Keirsey, D. and M. Bates. 1984. Please U11dersta11d Me: Character and Tempera</a:t>
            </a:r>
          </a:p>
          <a:p>
            <a:r>
              <a:t>ment Types. 5th Edition. Del Mar, CA: Prometheus Nemesis Book Com</a:t>
            </a:r>
          </a:p>
          <a:p>
            <a:r>
              <a:t>pany.</a:t>
            </a:r>
          </a:p>
          <a:p>
            <a:r>
              <a:t>Kroeger, 0. 1992. Type Talk at Work. New York, NY: Delacorte Press.</a:t>
            </a:r>
          </a:p>
          <a:p>
            <a:r>
              <a:t>Lee, L. and E. Nielsen. 1987. The extent and costs of groundwater contami</a:t>
            </a:r>
          </a:p>
          <a:p>
            <a:r>
              <a:t>nation by agriculture. Journal of Soil and Water Conservation 42: 243-248.</a:t>
            </a:r>
          </a:p>
          <a:p>
            <a:r>
              <a:t>Lloyd, R. and T. Steinke. 1976. The decisionmaking process for judging the</a:t>
            </a:r>
          </a:p>
          <a:p>
            <a:r>
              <a:t>similarity of choropleth maps. The American Cartographer 3(2): 177-184.</a:t>
            </a:r>
          </a:p>
          <a:p>
            <a:r>
              <a:t>Lukens, J. 1987. Landmark perspective: the legacy of well-water methemo</a:t>
            </a:r>
          </a:p>
          <a:p>
            <a:r>
              <a:t>globinemia. ]AMA: The Journal of the American Medical Associatio11 257(20):</a:t>
            </a:r>
          </a:p>
          <a:p>
            <a:r>
              <a:t>2793-2795.</a:t>
            </a:r>
          </a:p>
          <a:p>
            <a:r>
              <a:t>Lusch, D., C. Rader, L. Barrett, and N. Rader. 1992. Aquifer Vulnernbi/ihJ to</a:t>
            </a:r>
          </a:p>
          <a:p>
            <a:r>
              <a:t>Surface Co11ta111i11ation in Michiga11, Map and Descriptive Information. East</a:t>
            </a:r>
          </a:p>
          <a:p>
            <a:r>
              <a:t>Lansing, MI: Michigan State University, Center for Remote Sensing. (Map)</a:t>
            </a:r>
          </a:p>
          <a:p>
            <a:r>
              <a:t>MacEachren, A. 1994. Some Truth with Maps: A Pri111er on Symbolizntion and</a:t>
            </a:r>
          </a:p>
          <a:p>
            <a:r>
              <a:t>Design. Washington, DC: Association of American Geographers.</a:t>
            </a:r>
          </a:p>
          <a:p>
            <a:r>
              <a:t>MacEachren, A. and J. Ganter. 1990. A pattern identification approach to</a:t>
            </a:r>
          </a:p>
          <a:p>
            <a:r>
              <a:t>cartographic visualization. Cartogrnphica 27(2): 64-81.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47</a:t>
            </a:r>
          </a:p>
          <a:p>
            <a:r>
              <a:t>Merchant, J. 1994. GIS-based groundwater pollution hazard assessment: A</a:t>
            </a:r>
          </a:p>
          <a:p>
            <a:r>
              <a:t>critical review of the DRASTIC model. Pl10togrn111111etric E11gi11eeri11g and</a:t>
            </a:r>
          </a:p>
          <a:p>
            <a:r>
              <a:t>R('lllOtc Sc11si11g 60(9): pp. 1117-1127.</a:t>
            </a:r>
          </a:p>
          <a:p>
            <a:r>
              <a:t>Monmonier, M. 1974. Measures of pattern complexity for choroplethic</a:t>
            </a:r>
          </a:p>
          <a:p>
            <a:r>
              <a:t>maps. The A111erica11 Cartographer 1(2): 159-169.</a:t>
            </a:r>
          </a:p>
          <a:p>
            <a:r>
              <a:t>Monmonier, M. 1991. Ethics and map design: Six strategies for confronting</a:t>
            </a:r>
          </a:p>
          <a:p>
            <a:r>
              <a:t>the traditional one-map solution. Cartographic Perspectives 10: 3-8.</a:t>
            </a:r>
          </a:p>
          <a:p>
            <a:r>
              <a:t>Muehrcke, P. 1990. Cartography and geographic information systems.</a:t>
            </a:r>
          </a:p>
          <a:p>
            <a:r>
              <a:t>Cartography amt Geographic Infor111atio11 Systems 17(1 ): 7-15.</a:t>
            </a:r>
          </a:p>
          <a:p>
            <a:r>
              <a:t>Myers, I. 1962. The Myers-Briggs Type llldicator. Palo Alto, CA: Consulting</a:t>
            </a:r>
          </a:p>
          <a:p>
            <a:r>
              <a:t>Psychologists Press.</a:t>
            </a:r>
          </a:p>
          <a:p>
            <a:r>
              <a:t>Myers, I. 1980. Gifts Differing. Palo Alto, CA: Consulting Psychologists</a:t>
            </a:r>
          </a:p>
          <a:p>
            <a:r>
              <a:t>Press.</a:t>
            </a:r>
          </a:p>
          <a:p>
            <a:r>
              <a:t>Olson, J. 1972. The effects of class interval systems on choropleth map</a:t>
            </a:r>
          </a:p>
          <a:p>
            <a:r>
              <a:t>correlation. Tlte Ca11adia11 Cartographer 9(44-49); 122-131.</a:t>
            </a:r>
          </a:p>
          <a:p>
            <a:r>
              <a:t>Peterson, M. 1985. Evaluating a map's image. The A111erica11 Cartographer</a:t>
            </a:r>
          </a:p>
          <a:p>
            <a:r>
              <a:t>12(1):41-55.</a:t>
            </a:r>
          </a:p>
          <a:p>
            <a:r>
              <a:t>Rader, C. and J. Janke 1995. Methods for assessing groundwater vulner</a:t>
            </a:r>
          </a:p>
          <a:p>
            <a:r>
              <a:t>ability in St. Croix County, Wisconsin. Wisconsin Geographical Society</a:t>
            </a:r>
          </a:p>
          <a:p>
            <a:r>
              <a:t>Annual Meeting, River Falls, Wisconsin.</a:t>
            </a:r>
          </a:p>
          <a:p>
            <a:r>
              <a:t>Schmidt, R. 1987. Groundwater Co11ta111i11atio11 Susceptibility in Wisconsin:</a:t>
            </a:r>
          </a:p>
          <a:p>
            <a:r>
              <a:t>Wisc011si11 's Gro1111d1mter Ma11age111e11t Plan Report No. 5. Madison, WI:</a:t>
            </a:r>
          </a:p>
          <a:p>
            <a:r>
              <a:t>Wisconsin Department of Natural Resources.</a:t>
            </a:r>
          </a:p>
          <a:p>
            <a:r>
              <a:t>Scragg, R. et al. 1982. Birth defects and household ·water supply: Epidemio</a:t>
            </a:r>
          </a:p>
          <a:p>
            <a:r>
              <a:t>logical studies in the Mount Gambier region of South Australia. Medical</a:t>
            </a:r>
          </a:p>
          <a:p>
            <a:r>
              <a:t>foumal of Australia 2 (12): 577-579.</a:t>
            </a:r>
          </a:p>
          <a:p>
            <a:r>
              <a:t>Tufte, E. 1990. Emiisioning Infor111atio11. Cheshire, Connecticut: Graphics</a:t>
            </a:r>
          </a:p>
          <a:p>
            <a:r>
              <a:t>Press.</a:t>
            </a:r>
          </a:p>
          <a:p>
            <a:r>
              <a:t>Wood, D. 1992. The Power of Maps. New York, NY: Guilford Press.</a:t>
            </a:r>
          </a:p>
          <a:p>
            <a:r>
              <a:t>Zaporozec, A. (Ed.) 1985. Groundwater Protection Principles and Alternati7.'es</a:t>
            </a:r>
          </a:p>
          <a:p>
            <a:r>
              <a:t>for Rock Co1111ty, Wisconsin. Madison, WI: Wisconsin Geological and Natu</a:t>
            </a:r>
          </a:p>
          <a:p>
            <a:r>
              <a:t>ral History Survey.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48 cartographic perspectives Number 29, Winter 1998</a:t>
            </a:r>
          </a:p>
          <a:p>
            <a:r>
              <a:t>I</a:t>
            </a:r>
          </a:p>
          <a:p>
            <a:r>
              <a:t>numerous health conditions and of equal size. These graphs show</a:t>
            </a:r>
          </a:p>
          <a:p>
            <a:r>
              <a:t>reviews</a:t>
            </a:r>
          </a:p>
          <a:p>
            <a:r>
              <a:t>diseases. lt may take a generation of not only the degree of dispersion,</a:t>
            </a:r>
          </a:p>
          <a:p>
            <a:r>
              <a:t>medical geographers, epidemiolo but also whether variation is due to</a:t>
            </a:r>
          </a:p>
          <a:p>
            <a:r>
              <a:t>gists and health services research relatively few outliers or is widely</a:t>
            </a:r>
          </a:p>
          <a:p>
            <a:r>
              <a:t>ers to pursue all of the research distributed across the nation. The</a:t>
            </a:r>
          </a:p>
          <a:p>
            <a:r>
              <a:t>The Dartmouth Atlas of Health questions, hypotheses and intuitive text accompanying each map fo</a:t>
            </a:r>
          </a:p>
          <a:p>
            <a:r>
              <a:t>Care. The Center for the Evaluative hunches derived from this single cuses on which hospital referral re</a:t>
            </a:r>
          </a:p>
          <a:p>
            <a:r>
              <a:t>Clinical Sciences, Dartmouth Medi publication. gions had high and low rates, but</a:t>
            </a:r>
          </a:p>
          <a:p>
            <a:r>
              <a:t>cal School. John E. Wennberg, Prin Most of the maps in the atlas dis provides little interpretation of the</a:t>
            </a:r>
          </a:p>
          <a:p>
            <a:r>
              <a:t>cipal Investigator and Series Editor, play variations in health-related data displayed. Some context is</a:t>
            </a:r>
          </a:p>
          <a:p>
            <a:r>
              <a:t>Megan McAndrew Cooper, Editor. phenomena across hospital referral provided elsewhere. For example,</a:t>
            </a:r>
          </a:p>
          <a:p>
            <a:r>
              <a:t>Chicago, Illinois: American Hospi regions. These functional regions prior to the section on spatial pat</a:t>
            </a:r>
          </a:p>
          <a:p>
            <a:r>
              <a:t>tal Publishing, Inc., 1996. Pp. xiv+ are aggregates of 3,436 hospital ser terns in the diagnosis and surgical</a:t>
            </a:r>
          </a:p>
          <a:p>
            <a:r>
              <a:t>230, maps, graphs, tables. $75 (soft vice areas which were defined treatmentofcommonmedicalcon</a:t>
            </a:r>
          </a:p>
          <a:p>
            <a:r>
              <a:t>cover, academicdiscount, without through an intensive analysis of ditions, there is a discussion of</a:t>
            </a:r>
          </a:p>
          <a:p>
            <a:r>
              <a:t>diskettes); S350 (hardcover, with Medicare hospitalization data for "which surgical rate is right?" and</a:t>
            </a:r>
          </a:p>
          <a:p>
            <a:r>
              <a:t>diskettes); Sl,300 (hardcover, with 1992-93 in which five-digit ZIP the issues of underscrvice and the</a:t>
            </a:r>
          </a:p>
          <a:p>
            <a:r>
              <a:t>diskettes, CD-ROM, and all nine re codes were grouped into contigu role of scientific uncertainty in the</a:t>
            </a:r>
          </a:p>
          <a:p>
            <a:r>
              <a:t>gional supplements). ISBN: 1- ous regions based on patterns of delivery of health care services.</a:t>
            </a:r>
          </a:p>
          <a:p>
            <a:r>
              <a:t>556-18-163-2, soft-cover. (Ordering hospital use. A total of 306 hospital While Tlie Dnrt111011t/1 A tins of</a:t>
            </a:r>
          </a:p>
          <a:p>
            <a:r>
              <a:t>information: AHA Services, Inc., referral regions were identified Hen/th Cnre is an impressive</a:t>
            </a:r>
          </a:p>
          <a:p>
            <a:r>
              <a:t>P.O. Box 92683, Chicago IL 60675- through examining where residents achievement, it is not without its</a:t>
            </a:r>
          </a:p>
          <a:p>
            <a:r>
              <a:t>2683, 1-800-AHA-2626). of each hospital service area were shortcomings. Foremost among</a:t>
            </a:r>
          </a:p>
          <a:p>
            <a:r>
              <a:t>referred for major card iovascu la r these is the failure to include a bib</a:t>
            </a:r>
          </a:p>
          <a:p>
            <a:r>
              <a:t>Re1 1 iewed by: surgery and neurosurgery. A series liography would link the methods</a:t>
            </a:r>
          </a:p>
          <a:p>
            <a:r>
              <a:t>Russell S. Kirby, Ph.D., M.S., F.A.C.E., of detail maps show the locations of used to the literature on health ser</a:t>
            </a:r>
          </a:p>
          <a:p>
            <a:r>
              <a:t>Associate Professor each hospital referral region in rela vices research and medical geogra</a:t>
            </a:r>
          </a:p>
          <a:p>
            <a:r>
              <a:t>Depnrt111e11t of0 /1stetrics n11d tion to major centers of health care phy, and would connect each sta</a:t>
            </a:r>
          </a:p>
          <a:p>
            <a:r>
              <a:t>Gy11ecology (p. 25-35). Ha\'ing defined the hos tistical map to its empirical re</a:t>
            </a:r>
          </a:p>
          <a:p>
            <a:r>
              <a:t>Mi/u1n11kee Cli11icn/ Cn111p11s, pital referral regions, successive search base. To aid in interpreting</a:t>
            </a:r>
          </a:p>
          <a:p>
            <a:r>
              <a:t>UW-Mndiso11 Medical Sc/100/ sections of the atlas provide detail the maps \•:ith data across hospital</a:t>
            </a:r>
          </a:p>
          <a:p>
            <a:r>
              <a:t>ed maps of acute care hospital re referral regions, a map showing</a:t>
            </a:r>
          </a:p>
          <a:p>
            <a:r>
              <a:t>Every now and again a revolution sources and expenditures; hospital populations in each region would</a:t>
            </a:r>
          </a:p>
          <a:p>
            <a:r>
              <a:t>ary approach to the processing and capacity, utilization, and outcomes; have been useful. Most of the dis</a:t>
            </a:r>
          </a:p>
          <a:p>
            <a:r>
              <a:t>presentation of information ap health manpm.ver (physicians); di ease and treatment data are derived</a:t>
            </a:r>
          </a:p>
          <a:p>
            <a:r>
              <a:t>pears, changing forever the way in agnosis and surgical treatment of from the Medicare population,</a:t>
            </a:r>
          </a:p>
          <a:p>
            <a:r>
              <a:t>which the subject matter is viewed common medical conditions. which is defined primarily by age</a:t>
            </a:r>
          </a:p>
          <a:p>
            <a:r>
              <a:t>and understood. The publication of There are also sections on and almost universal participation.</a:t>
            </a:r>
          </a:p>
          <a:p>
            <a:r>
              <a:t>The Dnrt111011th Atlas of Hen/th Cnrc benchmarking, tabulations of much Researchers interested in patterns</a:t>
            </a:r>
          </a:p>
          <a:p>
            <a:r>
              <a:t>may be an example of one of these of the data presented in the detailed of health care use among individu</a:t>
            </a:r>
          </a:p>
          <a:p>
            <a:r>
              <a:t>events. In this slender volume (this maps, and the strategies and meth als under the age of 65 will be dis</a:t>
            </a:r>
          </a:p>
          <a:p>
            <a:r>
              <a:t>reviewer examined the soft-cover ods used to develop the information appointed in the minor omission of</a:t>
            </a:r>
          </a:p>
          <a:p>
            <a:r>
              <a:t>academic \·ersion of the atlas; hard and maps in the atlas. Most of the maps for more than 80% of the</a:t>
            </a:r>
          </a:p>
          <a:p>
            <a:r>
              <a:t>CO\'er and electronic versions are maps consist of two facing pages, population. There are no maps</a:t>
            </a:r>
          </a:p>
          <a:p>
            <a:r>
              <a:t>also available), the project team has with a standard layout that in showing patterns of injury or dis</a:t>
            </a:r>
          </a:p>
          <a:p>
            <a:r>
              <a:t>assembled numerous maps and vi cludes a national 1~ap •.vith five in ability, sur\'ival follm.ving specific</a:t>
            </a:r>
          </a:p>
          <a:p>
            <a:r>
              <a:t>gnettes representing statistical sets (San Francisco, Chicago, De treatments, obstetrical procedures</a:t>
            </a:r>
          </a:p>
          <a:p>
            <a:r>
              <a:t>analyses of literally tens of millions troit, Washington-Baltimore, and and outcomes, or spatial variation</a:t>
            </a:r>
          </a:p>
          <a:p>
            <a:r>
              <a:t>of health care services, patients, New York) \·vi th the distribution of in propensity to use inpatient facili</a:t>
            </a:r>
          </a:p>
          <a:p>
            <a:r>
              <a:t>and clinicians in a highly readable values for the phenomenon of inter ties among the non-elderly. This</a:t>
            </a:r>
          </a:p>
          <a:p>
            <a:r>
              <a:t>and interpretable format. The atlas est grouped roughly into quintiles. omission is perhaps understand</a:t>
            </a:r>
          </a:p>
          <a:p>
            <a:r>
              <a:t>portrays the current macro-scale Each discussion also includes a able, given the lack of standardized,</a:t>
            </a:r>
          </a:p>
          <a:p>
            <a:r>
              <a:t>spatial structure of the American distribution graph showing the nationwide population-based data</a:t>
            </a:r>
          </a:p>
          <a:p>
            <a:r>
              <a:t>health care delivery system and dis phenomenon of interest as the verti b,1scs on hospital services other</a:t>
            </a:r>
          </a:p>
          <a:p>
            <a:r>
              <a:t>plays patterns of disease preva cal axis and each hospital referral than Medicare, yet there are some</a:t>
            </a:r>
          </a:p>
          <a:p>
            <a:r>
              <a:t>lence and treatment modalities for region represented as a filled circle datasets (national vital statistics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cartographic perspectives 49</a:t>
            </a:r>
          </a:p>
          <a:p>
            <a:r>
              <a:t>data, for example) which, although British imperial expansion in South of language and religion, social and</a:t>
            </a:r>
          </a:p>
          <a:p>
            <a:r>
              <a:t>not whollv satisfactorv for analvses Asia. Considering recent studies on economic information, mineralogi</a:t>
            </a:r>
          </a:p>
          <a:p>
            <a:r>
              <a:t>at this scaie, could supply data' the duplicitous role of geography in cal, botanical and zoological inven</a:t>
            </a:r>
          </a:p>
          <a:p>
            <a:r>
              <a:t>\·vi th \·vhich to address some of European colonialism, it is not sur tories were predicated on the notion</a:t>
            </a:r>
          </a:p>
          <a:p>
            <a:r>
              <a:t>these issues. The section on prising that Matthew Edney has that the surveyor could achieve a</a:t>
            </a:r>
          </a:p>
          <a:p>
            <a:r>
              <a:t>benchmarking, while interesting, is closely investigated cartography in complete scientific understanding</a:t>
            </a:r>
          </a:p>
          <a:p>
            <a:r>
              <a:t>far too abbreviated to be of use to British India. His contribution to of the landscape through this im</a:t>
            </a:r>
          </a:p>
          <a:p>
            <a:r>
              <a:t>those interested in applying these the study of geography and empire plicitly cartographic and visual</a:t>
            </a:r>
          </a:p>
          <a:p>
            <a:r>
              <a:t>techniques to the planning or is to present a sophisticated expla framework. According to Edney, ob</a:t>
            </a:r>
          </a:p>
          <a:p>
            <a:r>
              <a:t>evaluation of regionill health care nation of mapmaking in British In servation and reason provided a</a:t>
            </a:r>
          </a:p>
          <a:p>
            <a:r>
              <a:t>delivervsvstems. dia as a cultural, political, and his "powerful rhetoric of vision, em</a:t>
            </a:r>
          </a:p>
          <a:p>
            <a:r>
              <a:t>These criticisms notwithstand torical product. Rather than a ubiq piricism, and presence" that but</a:t>
            </a:r>
          </a:p>
          <a:p>
            <a:r>
              <a:t>ing, this atlas is a monumental ac uitous tool for empire, mapmaking tressed the scientific authority of</a:t>
            </a:r>
          </a:p>
          <a:p>
            <a:r>
              <a:t>complishment which all practitio in the divided bureaucratic context imperial cartography (p.75). This</a:t>
            </a:r>
          </a:p>
          <a:p>
            <a:r>
              <a:t>ners of health services research or was confined, often contradictory, cultural and ideological expecta</a:t>
            </a:r>
          </a:p>
          <a:p>
            <a:r>
              <a:t>medical geography will wish to ex and incomplete. The author's nar tion that science must be a rational</a:t>
            </a:r>
          </a:p>
          <a:p>
            <a:r>
              <a:t>amine. Geography and map librar rative brilliantly synthesizes text process of compilation set the</a:t>
            </a:r>
          </a:p>
          <a:p>
            <a:r>
              <a:t>ies should definitelv add this vol and context-map and motive- to ground\"-'Ork for the construction of</a:t>
            </a:r>
          </a:p>
          <a:p>
            <a:r>
              <a:t>ume to their holdings, and will find tell a story of how the British map what Edney names as the geo</a:t>
            </a:r>
          </a:p>
          <a:p>
            <a:r>
              <a:t>the hardcover edition consulted fre ping of India was contingent on a graphical "archive." Th.is "archive"</a:t>
            </a:r>
          </a:p>
          <a:p>
            <a:r>
              <a:t>quently. Spatial data repositories variety of competing practical and includes representations, images,</a:t>
            </a:r>
          </a:p>
          <a:p>
            <a:r>
              <a:t>should consider acquiring the CD ideological interests. Throughout narratives, and maps assembled</a:t>
            </a:r>
          </a:p>
          <a:p>
            <a:r>
              <a:t>ROMs \Vi th the detailed data used this book, Edney deploys a rigorous and ordered that underpinned the</a:t>
            </a:r>
          </a:p>
          <a:p>
            <a:r>
              <a:t>to generate the maps and graphics theoretical analysis on voluminous larger cultural process of colonial</a:t>
            </a:r>
          </a:p>
          <a:p>
            <a:r>
              <a:t>included in the atlas. archival material to illustrate the ism.</a:t>
            </a:r>
          </a:p>
          <a:p>
            <a:r>
              <a:t>This reviewer looks forward to central theme in Mnppi11s n11 E111pire: Scientific expectation also</a:t>
            </a:r>
          </a:p>
          <a:p>
            <a:r>
              <a:t>the linkage of spatial analyses of A tension between Enlightenment framed the conceptual scope, pro</a:t>
            </a:r>
          </a:p>
          <a:p>
            <a:r>
              <a:t>variiltions in health care deliverv to epistemological ideals of obsen·a cess and practice of colonial</a:t>
            </a:r>
          </a:p>
          <a:p>
            <a:r>
              <a:t>decision-making by health care or tion and notions of representation mapmaking. Edney illustrates how</a:t>
            </a:r>
          </a:p>
          <a:p>
            <a:r>
              <a:t>gani,a1tions, insurers, policy-mak were manifested through the actual the British understood vision and</a:t>
            </a:r>
          </a:p>
          <a:p>
            <a:r>
              <a:t>ers and health services researchers, practices of survey and mapmaking observation in the scientific pro</a:t>
            </a:r>
          </a:p>
          <a:p>
            <a:r>
              <a:t>and to expanded and updated fu "on the spot." Moreover, this carto cess. He argues that scientific inves</a:t>
            </a:r>
          </a:p>
          <a:p>
            <a:r>
              <a:t>ture editions of this iltlas. graphic project based on intersect tigation was an exercise of power,</a:t>
            </a:r>
          </a:p>
          <a:p>
            <a:r>
              <a:t>ing ideologies of colonialism and explains how the picturesque land</a:t>
            </a:r>
          </a:p>
          <a:p>
            <a:r>
              <a:t>contradictorv ideals of science was scape aesthetic fashioned images of</a:t>
            </a:r>
          </a:p>
          <a:p>
            <a:r>
              <a:t>mediated through colonial institu South Asia, and outlines how an</a:t>
            </a:r>
          </a:p>
          <a:p>
            <a:r>
              <a:t>Mapping an Empire: The Geo tional negotiation and historical implicit cartographic framework</a:t>
            </a:r>
          </a:p>
          <a:p>
            <a:r>
              <a:t>graphical Construction of British contingencies. structured geographical narratives</a:t>
            </a:r>
          </a:p>
          <a:p>
            <a:r>
              <a:t>India, 1765-1843. Matthew H. The first section of Mappi11g n11 that contributed to the colonial</a:t>
            </a:r>
          </a:p>
          <a:p>
            <a:r>
              <a:t>Edney. Chicago: CniversityofChi Empire, Edney draws from many archive. Emphasizing the cultural</a:t>
            </a:r>
          </a:p>
          <a:p>
            <a:r>
              <a:t>cago Press, 1997. Pp. xv+ 340, empirical examples to outline how and scientific influence of the carto</a:t>
            </a:r>
          </a:p>
          <a:p>
            <a:r>
              <a:t>maps, references, biographical overarching Enlightenment ideas graphic perspective on more gen</a:t>
            </a:r>
          </a:p>
          <a:p>
            <a:r>
              <a:t>notes, and index. $35.00 hardback and cultural expectations of "sci eral imperial information gathering</a:t>
            </a:r>
          </a:p>
          <a:p>
            <a:r>
              <a:t>(ISB\l 0-226-18487-0). ence" influenced colonial practices activities, the author observes that</a:t>
            </a:r>
          </a:p>
          <a:p>
            <a:r>
              <a:t>of mapmaking in the early years of "geographical observation implic</a:t>
            </a:r>
          </a:p>
          <a:p>
            <a:r>
              <a:t>Reuiewcd by: British colonialism in South Asia. itly constructs new knowledge</a:t>
            </a:r>
          </a:p>
          <a:p>
            <a:r>
              <a:t>Dr. W. Elizabeth f epso11 For example, the reports by "peripa based on the spatial and distribu</a:t>
            </a:r>
          </a:p>
          <a:p>
            <a:r>
              <a:t>Dcpnrf11H'11t ofG eosrnplly tetic officers" surveying the Indian tion of phenomena, in which re</a:t>
            </a:r>
          </a:p>
          <a:p>
            <a:r>
              <a:t>U11il1crsif!f of Cnl(tim1in nt Los A11seles landscape, such as Colin spect is firmly rooted in the map</a:t>
            </a:r>
          </a:p>
          <a:p>
            <a:r>
              <a:t>Mackenzie's Sun·ey of Mysore and mapmaking, but observation</a:t>
            </a:r>
          </a:p>
          <a:p>
            <a:r>
              <a:t>Enlightenment ideals, brute colo (1800-1801) and Francis itself is part of the larger knowledge</a:t>
            </a:r>
          </a:p>
          <a:p>
            <a:r>
              <a:t>nial realities, and practical bureau Buchanan's Bengal survey (1807- discourses constituted by texts,</a:t>
            </a:r>
          </a:p>
          <a:p>
            <a:r>
              <a:t>cratic negotiations collide in Mat 1814), attempted to achieve the maps, images, and statistical cen</a:t>
            </a:r>
          </a:p>
          <a:p>
            <a:r>
              <a:t>thew Ednev' s historv of carto ideal of taking a complete inven suses" (p. 46). Through his broad</a:t>
            </a:r>
          </a:p>
          <a:p>
            <a:r>
              <a:t>graphic pr~ctice du~ing late eigh tory. Survey of town locations, land overview of British cartographic</a:t>
            </a:r>
          </a:p>
          <a:p>
            <a:r>
              <a:t>teenth and early nineteenth-century resources, and rivers, descriptions history in South Asia, Edney sup-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50 cartogmpliic perspectives Number 29, Winter 1998</a:t>
            </a:r>
          </a:p>
          <a:p>
            <a:r>
              <a:t>ports the notion that knowledge is framework and set in motion a geo Mackenzie's attempt at a systematic</a:t>
            </a:r>
          </a:p>
          <a:p>
            <a:r>
              <a:t>intimately linked to power, but he graphical certitude that fostered, topographical survey, William</a:t>
            </a:r>
          </a:p>
          <a:p>
            <a:r>
              <a:t>grounds this perspective on de ironically, practical material and Lambton's trigonometrical survey</a:t>
            </a:r>
          </a:p>
          <a:p>
            <a:r>
              <a:t>tailed discussion based on the spe intellectual anarchy that became of India's eastern coast, and the in</a:t>
            </a:r>
          </a:p>
          <a:p>
            <a:r>
              <a:t>cifics of British colonialism in South characteristic of British mapmaking ability of the government to create a</a:t>
            </a:r>
          </a:p>
          <a:p>
            <a:r>
              <a:t>Asia. in India. single cartographic institution to</a:t>
            </a:r>
          </a:p>
          <a:p>
            <a:r>
              <a:t>Edney connects these scientific The scientific and cultural ideals coordinate a comprehensive survey</a:t>
            </a:r>
          </a:p>
          <a:p>
            <a:r>
              <a:t>ideals to imperial realities and of cartography also met financial of southern India. These enlighten</a:t>
            </a:r>
          </a:p>
          <a:p>
            <a:r>
              <a:t>moves his analysis from how geo limits, logistical constraints, institu ing examples illustrate how,</a:t>
            </a:r>
          </a:p>
          <a:p>
            <a:r>
              <a:t>graphical perspectives fashioned tional inertia, and stochastic colo through detailed archival research,</a:t>
            </a:r>
          </a:p>
          <a:p>
            <a:r>
              <a:t>images of South Asia to how sur nial realities. Conditions of the co one can empirically link internal</a:t>
            </a:r>
          </a:p>
          <a:p>
            <a:r>
              <a:t>veys and cartography were used to lonial administration circum administrative conflicts and finan</a:t>
            </a:r>
          </a:p>
          <a:p>
            <a:r>
              <a:t>"discipline" the Indian landscape. scribed all efforts to coherently map cial constraints of cartographic</a:t>
            </a:r>
          </a:p>
          <a:p>
            <a:r>
              <a:t>Statistical, astronomical, and route India. The divided information practice to contested ideas in carto</a:t>
            </a:r>
          </a:p>
          <a:p>
            <a:r>
              <a:t>surveys formed the backbone of co management system, patronage, hi graphic practice. Edney shatters the</a:t>
            </a:r>
          </a:p>
          <a:p>
            <a:r>
              <a:t>lonial cartographic knowledge. erarchical decision-making appara image of the ubiquitous colonial</a:t>
            </a:r>
          </a:p>
          <a:p>
            <a:r>
              <a:t>However, for eighteenth-century co tus, separation between govern state unified in purpose, perspec</a:t>
            </a:r>
          </a:p>
          <a:p>
            <a:r>
              <a:t>lonial administrators, the potential mental departments, lack of re tive, and practice. With sound em</a:t>
            </a:r>
          </a:p>
          <a:p>
            <a:r>
              <a:t>of the survey was only realized sources, and expanding need for pirical evidence, he shows that cul</a:t>
            </a:r>
          </a:p>
          <a:p>
            <a:r>
              <a:t>when it \vas incorporated into a geographical information all con tural expectation of "science" and</a:t>
            </a:r>
          </a:p>
          <a:p>
            <a:r>
              <a:t>larger knowledge base, reconciled tributed to a chaotic practice of social realties within the British co</a:t>
            </a:r>
          </a:p>
          <a:p>
            <a:r>
              <a:t>with multiple geographical sources, mapmaking. Moreover, these struc lonial system had a profound effect</a:t>
            </a:r>
          </a:p>
          <a:p>
            <a:r>
              <a:t>and systematically reconstituted in tural constraints exacerbated the on the construction of geographical</a:t>
            </a:r>
          </a:p>
          <a:p>
            <a:r>
              <a:t>a single encyclopedic cartographic tension between surveyors and knowledge.</a:t>
            </a:r>
          </a:p>
          <a:p>
            <a:r>
              <a:t>archive. Yet, according to scientific Company cartographers in London The territorial expansion of Brit</a:t>
            </a:r>
          </a:p>
          <a:p>
            <a:r>
              <a:t>expectations, the information was offices who eventually compiled the ish rule during the early nine</a:t>
            </a:r>
          </a:p>
          <a:p>
            <a:r>
              <a:t>obtained only through the inchoate multifarious surveys into the single teenth-century demanded a unified</a:t>
            </a:r>
          </a:p>
          <a:p>
            <a:r>
              <a:t>and imperfect vision of the sur vision of India. This permitted a cartographic project to deal with in</a:t>
            </a:r>
          </a:p>
          <a:p>
            <a:r>
              <a:t>veyor. For the cartographic project "mini-hierarchy" of cartographic creased governmental responsibili</a:t>
            </a:r>
          </a:p>
          <a:p>
            <a:r>
              <a:t>to progress scientifically, the sur expertise to form. As Edney writes, ties. As a result, the British insti</a:t>
            </a:r>
          </a:p>
          <a:p>
            <a:r>
              <a:t>veyors needed to find new, more "The surveyors worked at the tuted the Great Trigonometrical</a:t>
            </a:r>
          </a:p>
          <a:p>
            <a:r>
              <a:t>comprehensive and "rational" boundary between the uppermost, Survey to support the publication of</a:t>
            </a:r>
          </a:p>
          <a:p>
            <a:r>
              <a:t>methods of mapping the empire. British portion of the pyramid and the Atlas of India. In the final chap</a:t>
            </a:r>
          </a:p>
          <a:p>
            <a:r>
              <a:t>What Edney emphasizes is that the lower foundations staffed by ters of Mappi11g an Empire, Edney</a:t>
            </a:r>
          </a:p>
          <a:p>
            <a:r>
              <a:t>technological change to triangula Eurasians and Indians; the cartog writes a comprehensive history of</a:t>
            </a:r>
          </a:p>
          <a:p>
            <a:r>
              <a:t>tion concommitantly transformed raphers functioned close to the pin this attempt to map "all of British</a:t>
            </a:r>
          </a:p>
          <a:p>
            <a:r>
              <a:t>the practices of cartography in Brit nacle of the pyramid, collecting India." The Atlas of l11dia was in</a:t>
            </a:r>
          </a:p>
          <a:p>
            <a:r>
              <a:t>ish India. The innovative trigono data and disseminating maps tended to unify disparate topo</a:t>
            </a:r>
          </a:p>
          <a:p>
            <a:r>
              <a:t>metrical survey provided the "tech downward as necessary" (p. 162). graphical surveys based on a com</a:t>
            </a:r>
          </a:p>
          <a:p>
            <a:r>
              <a:t>nological fix" to the acknowledged Edney focuses on the Madras mon "geometrical groundwork" of</a:t>
            </a:r>
          </a:p>
          <a:p>
            <a:r>
              <a:t>imperfect, indirect, often ambiguous surveys (1790-1810) to best illus the Great Trigonometrical Survey of</a:t>
            </a:r>
          </a:p>
          <a:p>
            <a:r>
              <a:t>route surveys, descriptive topogra trate the contingent character of India (GTS). This framework that</a:t>
            </a:r>
          </a:p>
          <a:p>
            <a:r>
              <a:t>phies, and astronometrical observa British cartography as both duplici underpinned the Atlas of J11din</a:t>
            </a:r>
          </a:p>
          <a:p>
            <a:r>
              <a:t>tions. Triangulation created a "rig tous in advancing British claims on "held the promise of a perfect geo</a:t>
            </a:r>
          </a:p>
          <a:p>
            <a:r>
              <a:t>orously structured space" sup indigenous resources and divided graphical panopticon" to combine</a:t>
            </a:r>
          </a:p>
          <a:p>
            <a:r>
              <a:t>ported by more accurately con in its practice. Lack of administra both geodetic science and genera 1</a:t>
            </a:r>
          </a:p>
          <a:p>
            <a:r>
              <a:t>trolled measurements and provided tive unity was the prevailing char geography, thus reducing geo</a:t>
            </a:r>
          </a:p>
          <a:p>
            <a:r>
              <a:t>the framework for more detailed acteristic in the mapping of Ma graphical data to a uniform refer</a:t>
            </a:r>
          </a:p>
          <a:p>
            <a:r>
              <a:t>surveys to be integrated at large dras. Different motives and visions ence (p. 319). The complexity of this</a:t>
            </a:r>
          </a:p>
          <a:p>
            <a:r>
              <a:t>scales. Trigonometrical surveys or of how to make an accurate and section is found within the empiri</a:t>
            </a:r>
          </a:p>
          <a:p>
            <a:r>
              <a:t>dered cartographic space and disci comprehensive map in accordance cal examples of how the unified im</a:t>
            </a:r>
          </a:p>
          <a:p>
            <a:r>
              <a:t>plined the Indian landscape to Eu with scientific and cultural expecta age of India developed historically</a:t>
            </a:r>
          </a:p>
          <a:p>
            <a:r>
              <a:t>ropean science. This new expensive tions characterized this era of within the changing requirements</a:t>
            </a:r>
          </a:p>
          <a:p>
            <a:r>
              <a:t>and time-consuming cartographic mapmaking. otable illustrations of colonial administration to rule</a:t>
            </a:r>
          </a:p>
          <a:p>
            <a:r>
              <a:t>method reduced the Indian land of this cartographic anarchy are their newly acquired territory.</a:t>
            </a:r>
          </a:p>
          <a:p>
            <a:r>
              <a:t>scape to a uniformed mathematical Edney's discussion of Colin Edney's discussion on the Great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cartographic perspectives 51</a:t>
            </a:r>
          </a:p>
          <a:p>
            <a:r>
              <a:t>Trigonometrical Survey and its in interested in the history of geo ing agencies include the National</a:t>
            </a:r>
          </a:p>
          <a:p>
            <a:r>
              <a:t>stitutional development provides graphical thought. Biological Service, Oregon Depart</a:t>
            </a:r>
          </a:p>
          <a:p>
            <a:r>
              <a:t>the reader with fundamental under ment offish and Wildlife (ODFW),</a:t>
            </a:r>
          </a:p>
          <a:p>
            <a:r>
              <a:t>standing how the character of Brit Atlas of Oregon Wildlife: Distribu U.S. Environmental Protection</a:t>
            </a:r>
          </a:p>
          <a:p>
            <a:r>
              <a:t>ish cartography in India was con tion, Habitat, and Natural History. Agency, Oregon Natural Heritage</a:t>
            </a:r>
          </a:p>
          <a:p>
            <a:r>
              <a:t>tingent on cost and, most of a IL Blair Csuti, A. Jon Kimerling, Tho Program, and the Geosciences De</a:t>
            </a:r>
          </a:p>
          <a:p>
            <a:r>
              <a:t>practical and ideological compro mas A. O'Neil, Margaret M. partment at Oregon State Univer</a:t>
            </a:r>
          </a:p>
          <a:p>
            <a:r>
              <a:t>mise. Shaughnessy, Eleanor P. Gaines, sity.</a:t>
            </a:r>
          </a:p>
          <a:p>
            <a:r>
              <a:t>Archival synthesis and lucid and Manuela M. P. Huso. Corvallis: The Atlas is well-organized with</a:t>
            </a:r>
          </a:p>
          <a:p>
            <a:r>
              <a:t>narrative of the ideological, histori Oregon State University Press, an extensive Introduction describ</a:t>
            </a:r>
          </a:p>
          <a:p>
            <a:r>
              <a:t>cal, and technological processes of 1997. 512 pages, 670 maps includ ing Oregon's wildlife and the meth</a:t>
            </a:r>
          </a:p>
          <a:p>
            <a:r>
              <a:t>British mapmaking sets a new em ing full-color map insert, 442 illus ods used in compiling the range in</a:t>
            </a:r>
          </a:p>
          <a:p>
            <a:r>
              <a:t>pirical and theoretical standard for trations. Hardbound, $39.95. (ISBN formation. This section also in</a:t>
            </a:r>
          </a:p>
          <a:p>
            <a:r>
              <a:t>both the history of cartography and 0-87071-395-7) cludes a description of each of the</a:t>
            </a:r>
          </a:p>
          <a:p>
            <a:r>
              <a:t>South Asian colonial studies. Map 30 identified wildlife habitats of Or</a:t>
            </a:r>
          </a:p>
          <a:p>
            <a:r>
              <a:t>ping an Empire takes the analysis of Reviewed by ]a111es E. Meacham egon. Reference maps displaying</a:t>
            </a:r>
          </a:p>
          <a:p>
            <a:r>
              <a:t>maps and pm-ver to a higher level of lnfoGraphics Lab, the major transportation network,</a:t>
            </a:r>
          </a:p>
          <a:p>
            <a:r>
              <a:t>empirical precision and detail. He Depart111e11t of Geography cities, and counties are conve</a:t>
            </a:r>
          </a:p>
          <a:p>
            <a:r>
              <a:t>details cartographic practices and U11 iversi ty ofO rego11 niently located just before the spe</a:t>
            </a:r>
          </a:p>
          <a:p>
            <a:r>
              <a:t>explains these \Ni thin the context of Euge11e, Oregon 97405-1251 cies range maps. The atlas contains</a:t>
            </a:r>
          </a:p>
          <a:p>
            <a:r>
              <a:t>colonial demand and constraint a glossary, an extensive reference</a:t>
            </a:r>
          </a:p>
          <a:p>
            <a:r>
              <a:t>with the accuracy of a historian The Atlas o_f Oregon Wildlife: Distri section, a though index, and three</a:t>
            </a:r>
          </a:p>
          <a:p>
            <a:r>
              <a:t>and precision of a cartographer. bution, Habitat, and Natural History is appendices; (I) Checklist of Terres</a:t>
            </a:r>
          </a:p>
          <a:p>
            <a:r>
              <a:t>The cartographic specialist will ap a comprehensive publication fea trial Breeding Vertebrates, (II)</a:t>
            </a:r>
          </a:p>
          <a:p>
            <a:r>
              <a:t>preciate how Edney brilliantly inte turing information on Oregon's 426 Checklist of Wintering Birds, and</a:t>
            </a:r>
          </a:p>
          <a:p>
            <a:r>
              <a:t>grates a profound understanding of native terrestrial vertebrate species (Ill) Winter Bird Distribution Maps.</a:t>
            </a:r>
          </a:p>
          <a:p>
            <a:r>
              <a:t>the practical process of mapmaking that breed in Oregon and 15 intro The process used for the creation</a:t>
            </a:r>
          </a:p>
          <a:p>
            <a:r>
              <a:t>with voluminous archival material. duced species. In the heart of the at of most of the range maps started</a:t>
            </a:r>
          </a:p>
          <a:p>
            <a:r>
              <a:t>His ability to expose important las there are sections covering Am with the creation of a vegetation</a:t>
            </a:r>
          </a:p>
          <a:p>
            <a:r>
              <a:t>practical details of colonial map phibians, Reptiles, Breeding Birds, cover map derived from Landsat</a:t>
            </a:r>
          </a:p>
          <a:p>
            <a:r>
              <a:t>making-from the problems with and Mammals, with a page dedi image interpretation. These vegeta</a:t>
            </a:r>
          </a:p>
          <a:p>
            <a:r>
              <a:t>manpower, expense, and time lim cated to nearly each of the 441 spe tion cover types were then clustered</a:t>
            </a:r>
          </a:p>
          <a:p>
            <a:r>
              <a:t>its-reinforces the broader theme cies. Each page contains a two into wildlife habitats based on</a:t>
            </a:r>
          </a:p>
          <a:p>
            <a:r>
              <a:t>that cartography is a highly con color, 1 :4,300,000 scale, range map habitation by similar groups of spe</a:t>
            </a:r>
          </a:p>
          <a:p>
            <a:r>
              <a:t>tested process within divided colo with supporting textual informa cies. A full-color 1 :750,000 scale Or</a:t>
            </a:r>
          </a:p>
          <a:p>
            <a:r>
              <a:t>nial administration and limited re tion on Global Range, Habitat, Re egon Wildlife Habitat Map insert</a:t>
            </a:r>
          </a:p>
          <a:p>
            <a:r>
              <a:t>sources. In Mappi11g an E111pire, production, Food Habits, Ecology, displays the habitat types and the</a:t>
            </a:r>
          </a:p>
          <a:p>
            <a:r>
              <a:t>these logistical constraints are su and other relevant facts. Reference</a:t>
            </a:r>
          </a:p>
          <a:p>
            <a:r>
              <a:t>perimposed on the cultural expecta to Order, Family, State and Federal</a:t>
            </a:r>
          </a:p>
          <a:p>
            <a:r>
              <a:t>tions of science to show how the Status, Global and State Rank and</a:t>
            </a:r>
          </a:p>
          <a:p>
            <a:r>
              <a:t>very fabric of geographical knowl Species Length are also listed. Each</a:t>
            </a:r>
          </a:p>
          <a:p>
            <a:r>
              <a:t>edge-the map-is socially and po page contains a finely created line</a:t>
            </a:r>
          </a:p>
          <a:p>
            <a:r>
              <a:t>litically constituted. For the colonial drawing of the featured animal. The</a:t>
            </a:r>
          </a:p>
          <a:p>
            <a:r>
              <a:t>historian or cultural geographer in maps display the probable ranges</a:t>
            </a:r>
          </a:p>
          <a:p>
            <a:r>
              <a:t>terested in questions of empire and where each wildlife species could</a:t>
            </a:r>
          </a:p>
          <a:p>
            <a:r>
              <a:t>geography, Edney demystifies the be found, using shaded relief and</a:t>
            </a:r>
          </a:p>
          <a:p>
            <a:r>
              <a:t>colonial state in the process of im county boundaries as spatial refer</a:t>
            </a:r>
          </a:p>
          <a:p>
            <a:r>
              <a:t>perial expansion and brings into ence. Csuti states," The maps pre</a:t>
            </a:r>
          </a:p>
          <a:p>
            <a:r>
              <a:t>focus the role of individuals and co sented here serve as a guide to habi</a:t>
            </a:r>
          </a:p>
          <a:p>
            <a:r>
              <a:t>lonial institutions that have pro tats and general distribution of</a:t>
            </a:r>
          </a:p>
          <a:p>
            <a:r>
              <a:t>found effects on how the British each species." The breadth and</a:t>
            </a:r>
          </a:p>
          <a:p>
            <a:r>
              <a:t>proceeded to map India. Mapping depth of the information on wildlife</a:t>
            </a:r>
          </a:p>
          <a:p>
            <a:r>
              <a:t>a11 Empire is both a monumental presented in this atlas is evidence</a:t>
            </a:r>
          </a:p>
          <a:p>
            <a:r>
              <a:t>contribution to the history of British of a major collaborative effort. Many</a:t>
            </a:r>
          </a:p>
          <a:p>
            <a:r>
              <a:t>colonialism and a necessary addi organizations are listed in the ac</a:t>
            </a:r>
          </a:p>
          <a:p>
            <a:r>
              <a:t>tion to the libraries of geographers knowledgments. Thekeycontribut- Figure 1. Great Blue Heron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52 cartographic perspectives Number 29, Winter 1998</a:t>
            </a:r>
          </a:p>
          <a:p>
            <a:r>
              <a:t>\'egetation CO\'er boundaries. This through each page uncomplicated.</a:t>
            </a:r>
          </a:p>
          <a:p>
            <a:r>
              <a:t>mapping effort was part of the Or The complementary use of range</a:t>
            </a:r>
          </a:p>
          <a:p>
            <a:r>
              <a:t>egon Wildlife Habitat Gap analysis maps, species drawings, and de</a:t>
            </a:r>
          </a:p>
          <a:p>
            <a:r>
              <a:t>project. The habitat types were then scriptive text of micro-habitat con</a:t>
            </a:r>
          </a:p>
          <a:p>
            <a:r>
              <a:t>overlaid with geographic units of ditions on a single page to commu</a:t>
            </a:r>
          </a:p>
          <a:p>
            <a:r>
              <a:t>county, physiographic division, nicate probable places where a spe</a:t>
            </a:r>
          </a:p>
          <a:p>
            <a:r>
              <a:t>and a network of .+4 l equal-sized cies could be found, work very well</a:t>
            </a:r>
          </a:p>
          <a:p>
            <a:r>
              <a:t>Environmental Monitoring and As together. The species drawings re</a:t>
            </a:r>
          </a:p>
          <a:p>
            <a:r>
              <a:t>sessment Program (E:vtAP) hexa ally help bring to life the atlas</a:t>
            </a:r>
          </a:p>
          <a:p>
            <a:r>
              <a:t>gons covering the state. The geo pages. With a little, or for some a lot</a:t>
            </a:r>
          </a:p>
          <a:p>
            <a:r>
              <a:t>graphic units contained informa of, imagination a reader can close</a:t>
            </a:r>
          </a:p>
          <a:p>
            <a:r>
              <a:t>tion on presence or absence of the Fis11rc 3. Wc&lt;ft&gt;m Po11d Turtle their eyes and actually see a belted</a:t>
            </a:r>
          </a:p>
          <a:p>
            <a:r>
              <a:t>species based on biological studies, kingfisher perched on a branch</a:t>
            </a:r>
          </a:p>
          <a:p>
            <a:r>
              <a:t>museum records, and historical ob horn sheep and wild turkey -are over the quick-moving upper Des</a:t>
            </a:r>
          </a:p>
          <a:p>
            <a:r>
              <a:t>servations dating back to the jour based on maps directly from the chutes River, watching and waiting</a:t>
            </a:r>
          </a:p>
          <a:p>
            <a:r>
              <a:t>nals of Lewis and Clark (180-1- ODFW using no GIS modeling. for its next meal, or possibly a west</a:t>
            </a:r>
          </a:p>
          <a:p>
            <a:r>
              <a:t>1806). This overlay process pro Other species ranges were modified ern pond turtle basking in the sun</a:t>
            </a:r>
          </a:p>
          <a:p>
            <a:r>
              <a:t>\'ided resultant range maps that with elevation data, for example, on a mud bank above a small pond</a:t>
            </a:r>
          </a:p>
          <a:p>
            <a:r>
              <a:t>were then reviewed by biologists, Townsend's mole was eliminated in the Willamette Valley.</a:t>
            </a:r>
          </a:p>
          <a:p>
            <a:r>
              <a:t>and whose input was used in carto from the Coast Range. Some of the Interesting but less inspiring</a:t>
            </a:r>
          </a:p>
          <a:p>
            <a:r>
              <a:t>graphic fine-tuning of the final rare species are represented as than the drawing and range map of</a:t>
            </a:r>
          </a:p>
          <a:p>
            <a:r>
              <a:t>range maps. point symbols plotted at known lo the western pond turtle is the tie the</a:t>
            </a:r>
          </a:p>
          <a:p>
            <a:r>
              <a:t>calities, the solitary sandpiper has atlas designers make between the</a:t>
            </a:r>
          </a:p>
          <a:p>
            <a:r>
              <a:t>one location. The mule deer and atlas pages and the large-format</a:t>
            </a:r>
          </a:p>
          <a:p>
            <a:r>
              <a:t>black-tailed deer are the onlv two Wildlife Habitat insert map. Stating</a:t>
            </a:r>
          </a:p>
          <a:p>
            <a:r>
              <a:t>subspecies that were mapp~d in the which habitat type specifically is</a:t>
            </a:r>
          </a:p>
          <a:p>
            <a:r>
              <a:t>Atlas. The authors handled this related to each species would have</a:t>
            </a:r>
          </a:p>
          <a:p>
            <a:r>
              <a:t>problem by using two different val made a stronger connection. Even</a:t>
            </a:r>
          </a:p>
          <a:p>
            <a:r>
              <a:t>ues of ink, darker for east of the though the data represented on the</a:t>
            </a:r>
          </a:p>
          <a:p>
            <a:r>
              <a:t>Cascades Range (mule deer) and insert map is the basis for most of</a:t>
            </a:r>
          </a:p>
          <a:p>
            <a:r>
              <a:t>figun• 2 . .\ 'ortha11 l~il't'r Oller lighter for west of the Cascades the range maps in the atlas, its pub</a:t>
            </a:r>
          </a:p>
          <a:p>
            <a:r>
              <a:t>Range (black-tailed deer). lication with the Atlas appears to</a:t>
            </a:r>
          </a:p>
          <a:p>
            <a:r>
              <a:t>Because of the characteristics of The authors of this atlas truly need be an afterthought. Unlike the maps</a:t>
            </a:r>
          </a:p>
          <a:p>
            <a:r>
              <a:t>the species habitat or the a\·ailable to be congratulated on successfully on the Atlas pages, the insert map</a:t>
            </a:r>
          </a:p>
          <a:p>
            <a:r>
              <a:t>data, several methodologies were publishing in an easy-to-access and could be characteriL:ed as a GIS</a:t>
            </a:r>
          </a:p>
          <a:p>
            <a:r>
              <a:t>de,·eloped to crea tc selected species easy-to-use format a tremendous analysis product, produced on a</a:t>
            </a:r>
          </a:p>
          <a:p>
            <a:r>
              <a:t>maps by either modifying the amount of geographic information medium-resolution inkjet plotter.</a:t>
            </a:r>
          </a:p>
          <a:p>
            <a:r>
              <a:t>ranges derived from the modeling system data on a subject of great The 1:750,000 map design is lack</a:t>
            </a:r>
          </a:p>
          <a:p>
            <a:r>
              <a:t>method mentioned '1bovc or by us interest to the Oregon public. In the ing in reference information, only</a:t>
            </a:r>
          </a:p>
          <a:p>
            <a:r>
              <a:t>ing an entirely different approach. introduction, Csuti touches on this displaying the county boundaries</a:t>
            </a:r>
          </a:p>
          <a:p>
            <a:r>
              <a:t>Some of the resultant maps from the basic function of the atlas, "While in addition to the habitat and veg</a:t>
            </a:r>
          </a:p>
          <a:p>
            <a:r>
              <a:t>modeling received C1dditional atten the information gathered for GAP etation types. This map could have</a:t>
            </a:r>
          </a:p>
          <a:p>
            <a:r>
              <a:t>tion by including major hydro Analysis is maintained as digital been a great addition in helping</a:t>
            </a:r>
          </a:p>
          <a:p>
            <a:r>
              <a:t>graphic features for species, like the data in a geographic information meet one of the purposes the au</a:t>
            </a:r>
          </a:p>
          <a:p>
            <a:r>
              <a:t>northern ri,·er otter, that are closely system, this atlas provides a larger thors state: "They (the maps) can</a:t>
            </a:r>
          </a:p>
          <a:p>
            <a:r>
              <a:t>associated with water, \•,:ith the h\; audience 1,vith access to current direct you to areas where field stud</a:t>
            </a:r>
          </a:p>
          <a:p>
            <a:r>
              <a:t>drograph~· printed in '1 higher - knowledgcaboutOregon'swild ies can determine if a species has</a:t>
            </a:r>
          </a:p>
          <a:p>
            <a:r>
              <a:t>\'&lt;liue ink. Other species such as life." The OSU Press is already found the right combination of</a:t>
            </a:r>
          </a:p>
          <a:p>
            <a:r>
              <a:t>the mallard duck or western pond gearing up for a second printing, habitat elements that enable it to es</a:t>
            </a:r>
          </a:p>
          <a:p>
            <a:r>
              <a:t>turtle have a verv discontinuous attesting to the popularity of the tablish and maintain a popula</a:t>
            </a:r>
          </a:p>
          <a:p>
            <a:r>
              <a:t>h&lt;lbitat which is-denoted with a subject matter and the quick tion." Having little or no spatial ref</a:t>
            </a:r>
          </a:p>
          <a:p>
            <a:r>
              <a:t>stippled area pattern for the range acceptance of the Atlas. erences diminishes its effective use</a:t>
            </a:r>
          </a:p>
          <a:p>
            <a:r>
              <a:t>symbology. For marine birds a not The lc1yout and design of the as a location tool. Base GIS themes</a:t>
            </a:r>
          </a:p>
          <a:p>
            <a:r>
              <a:t>to-scale buffer off the coast Ii ne was pages is clean and easy to read. The of major transportation, populated</a:t>
            </a:r>
          </a:p>
          <a:p>
            <a:r>
              <a:t>gencrnted to displ&lt;ly their h&lt;lbitat. use of teal-colored ink for the title places and hydrography and eleva</a:t>
            </a:r>
          </a:p>
          <a:p>
            <a:r>
              <a:t>Two introduced species-the big and subtitle makes navigating tion including shaded relief are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cartographic perspectives 53</a:t>
            </a:r>
          </a:p>
          <a:p>
            <a:r>
              <a:t>readily a\·ailable from the Oregon ized research and planning project. primary options offered to trans</a:t>
            </a:r>
          </a:p>
          <a:p>
            <a:r>
              <a:t>StateSer\'ice Center forGISand The citizens of Oregon are \'ery form GIS data into a computer for</a:t>
            </a:r>
          </a:p>
          <a:p>
            <a:r>
              <a:t>could ha\'e been added as a subtle lucky to be the recipient of this com mat for the production of high-qual</a:t>
            </a:r>
          </a:p>
          <a:p>
            <a:r>
              <a:t>background to help with location. prehensive book. This atlas is an ity map products. Most cartography</a:t>
            </a:r>
          </a:p>
          <a:p>
            <a:r>
              <a:t>As mentioned above there were educational tool that could lead to a labs adopted the use of graphic arts</a:t>
            </a:r>
          </a:p>
          <a:p>
            <a:r>
              <a:t>actually several methods of compi greater awareness and sensitivity applications such as Adobe Illus</a:t>
            </a:r>
          </a:p>
          <a:p>
            <a:r>
              <a:t>lation for the range maps. The need among Oregon's human popula trator or .\1acromedia Freehand'</a:t>
            </a:r>
          </a:p>
          <a:p>
            <a:r>
              <a:t>for a legend on each map to help tion of the other inhabitants in their as digital tools for map production.</a:t>
            </a:r>
          </a:p>
          <a:p>
            <a:r>
              <a:t>clarify these different compilation state. Even though these software pack</a:t>
            </a:r>
          </a:p>
          <a:p>
            <a:r>
              <a:t>methods would have been an aid in Note: To view the range map of ages were fully capable of import</a:t>
            </a:r>
          </a:p>
          <a:p>
            <a:r>
              <a:t>understanding the meaning of the the northern river otter you can go ing the points, lines, and polygons</a:t>
            </a:r>
          </a:p>
          <a:p>
            <a:r>
              <a:t>different symbologies used. For ex to the website &lt;http: I I from the GIS, these programs could</a:t>
            </a:r>
          </a:p>
          <a:p>
            <a:r>
              <a:t>ample, the difference in the point bufo.geo.orst.edu I brc/ temp&gt; and not take ad vantage of the useful at</a:t>
            </a:r>
          </a:p>
          <a:p>
            <a:r>
              <a:t>symbols used in the solitary sand open 111·ottrnap.g~f. It is also possible tribute information that is main</a:t>
            </a:r>
          </a:p>
          <a:p>
            <a:r>
              <a:t>piper (location from a scientific re to obtain a copy of the map image tained in the GIS database.</a:t>
            </a:r>
          </a:p>
          <a:p>
            <a:r>
              <a:t>port) and the smooth general through the ftp site At the &gt;JACIS XVI annual meet</a:t>
            </a:r>
          </a:p>
          <a:p>
            <a:r>
              <a:t>boundaries used for the big horn &lt;bufo.geo.orst.edu&gt;, and log on as ing in San Antonio, many attendees</a:t>
            </a:r>
          </a:p>
          <a:p>
            <a:r>
              <a:t>sheep (ODFW non-modeled range) anonymous. Change directories to were introduced to Avenza Soft</a:t>
            </a:r>
          </a:p>
          <a:p>
            <a:r>
              <a:t>in comparison to the \'erv detailed pub, and "get" either the com ware, Inc.'s \1APublisher through</a:t>
            </a:r>
          </a:p>
          <a:p>
            <a:r>
              <a:t>range boundaries gener~ted by the pressed tiff-format files, a workshop. The \1.APublisher</a:t>
            </a:r>
          </a:p>
          <a:p>
            <a:r>
              <a:t>GIS modeling for the pronghorn are nrottmap.zip for PC users, or software de\'elopers addressed the</a:t>
            </a:r>
          </a:p>
          <a:p>
            <a:r>
              <a:t>all very different in appearance but nrottmap.tif.gz for U:'-JIX users. issue of maintaining the \'aluable</a:t>
            </a:r>
          </a:p>
          <a:p>
            <a:r>
              <a:t>there is no legend to clarify the dif attribute data and manipulation</a:t>
            </a:r>
          </a:p>
          <a:p>
            <a:r>
              <a:t>ferences. By studying the introduc power of a GIS within Freehand or</a:t>
            </a:r>
          </a:p>
          <a:p>
            <a:r>
              <a:t>I</a:t>
            </a:r>
          </a:p>
          <a:p>
            <a:r>
              <a:t>tory text, an explanation of the Illustrator. \1APublisher version</a:t>
            </a:r>
          </a:p>
          <a:p>
            <a:r>
              <a:t>cartographic techniques</a:t>
            </a:r>
          </a:p>
          <a:p>
            <a:r>
              <a:t>,·ariation in symbology becomes 2.1incorporated38 filters designed</a:t>
            </a:r>
          </a:p>
          <a:p>
            <a:r>
              <a:t>clearer. to import \'ector and raster data</a:t>
            </a:r>
          </a:p>
          <a:p>
            <a:r>
              <a:t>I feel there is a need to point out with complete attribute tables intact</a:t>
            </a:r>
          </a:p>
          <a:p>
            <a:r>
              <a:t>a minor issue in the citation regard GIS Data Made Manageable for for several major mapping software</a:t>
            </a:r>
          </a:p>
          <a:p>
            <a:r>
              <a:t>ing the first delineation of the Cartographic Production file formats: ESRI Arc View shape,</a:t>
            </a:r>
          </a:p>
          <a:p>
            <a:r>
              <a:t>physiographic di visions of Oregon. ESRI ARC I INFO generate, Maplnfo</a:t>
            </a:r>
          </a:p>
          <a:p>
            <a:r>
              <a:t>The author writes that" The physi Lo11is Cross II f mid/mif, USGSDLGandSDTS,</a:t>
            </a:r>
          </a:p>
          <a:p>
            <a:r>
              <a:t>ographic provinces of Oregon were Florida Rcsourn.?s &amp; £1rl'iro11111e11tal AutoCAD DXF and geo-referenced</a:t>
            </a:r>
          </a:p>
          <a:p>
            <a:r>
              <a:t>first delineated by Franklin and A11alysis Cotter TIFF and JPEG. In addition to basic</a:t>
            </a:r>
          </a:p>
          <a:p>
            <a:r>
              <a:t>Dyrness (1973 ). .. ".Further search Florida Stnte U11iversity import capabilities, MA Publisher</a:t>
            </a:r>
          </a:p>
          <a:p>
            <a:r>
              <a:t>ing reveals that Franklin and C220U U11iPersity Center enabled the user to change the na</a:t>
            </a:r>
          </a:p>
          <a:p>
            <a:r>
              <a:t>Dyrness Vcgctntio11 ofO rego11 a11d Tallalinssee, FL 32306-2641 tive projection of the imported fi Jes</a:t>
            </a:r>
          </a:p>
          <a:p>
            <a:r>
              <a:t>\ Va~/1i11gto11 (1969) cite Baldwin (850) 6.J.J-7361 and create supplementary graphic</a:t>
            </a:r>
          </a:p>
          <a:p>
            <a:r>
              <a:t>(1964) and Baldwin in Geology of /cross@111a iler fsu .ed 11 databases.</a:t>
            </a:r>
          </a:p>
          <a:p>
            <a:r>
              <a:t>Orcgo11 (1964) cites Dicken's Orcgo11 In April of 1995, the Florida Re</a:t>
            </a:r>
          </a:p>
          <a:p>
            <a:r>
              <a:t>GeogrnpliJt ''. .. The geology is dis Background: sources &amp; Environmental Analysis</a:t>
            </a:r>
          </a:p>
          <a:p>
            <a:r>
              <a:t>cussed regionally following physi Center (FREAC) began the second</a:t>
            </a:r>
          </a:p>
          <a:p>
            <a:r>
              <a:t>tf</a:t>
            </a:r>
          </a:p>
          <a:p>
            <a:r>
              <a:t>ographic diYisions outlined by The widespread adoption of Geo Water Resources Atlas Florida</a:t>
            </a:r>
          </a:p>
          <a:p>
            <a:r>
              <a:t>Dicken (1955) ... "I hope future edi graphic Information Systems (GIS) (WRAFJ. The editors and cartogra</a:t>
            </a:r>
          </a:p>
          <a:p>
            <a:r>
              <a:t>tions address this point. technology by government agencies phers found that most of the data</a:t>
            </a:r>
          </a:p>
          <a:p>
            <a:r>
              <a:t>Beyond the few weak points just and the private sector has made previously submitted by the au</a:t>
            </a:r>
          </a:p>
          <a:p>
            <a:r>
              <a:t>con?red the atlas is a great success. \'ast quantities of digital data thors via hard-copy maps and</a:t>
            </a:r>
          </a:p>
          <a:p>
            <a:r>
              <a:t>This atlas can be held up high as readily available to cartographers. tables were now maintained in ex</a:t>
            </a:r>
          </a:p>
          <a:p>
            <a:r>
              <a:t>an e\.ample to many cartographers Initially, the high cost of hardware tensive GIS data sets. MA Publisher</a:t>
            </a:r>
          </a:p>
          <a:p>
            <a:r>
              <a:t>contemplating assembling a state and software, Im...-to medium qual performed beyond expectation</a:t>
            </a:r>
          </a:p>
          <a:p>
            <a:r>
              <a:t>\Vi Id life atlas. In a broader context, ity graphic output, and limited data when addressing these new data</a:t>
            </a:r>
          </a:p>
          <a:p>
            <a:r>
              <a:t>this atlas serves GIS professionals sets made GIS less attractive to car formats. All GIS points, lines, and</a:t>
            </a:r>
          </a:p>
          <a:p>
            <a:r>
              <a:t>as an excellent example of making tographers. The practice of scan polygons were imported with their</a:t>
            </a:r>
          </a:p>
          <a:p>
            <a:r>
              <a:t>accessible to a large audience a ning and tracing output from GIS accompanying geographic accu</a:t>
            </a:r>
          </a:p>
          <a:p>
            <a:r>
              <a:t>complex GIS database that was plots or importing vector line work racy and attribute tables without</a:t>
            </a:r>
          </a:p>
          <a:p>
            <a:r>
              <a:t>originally generated for a special- into graphics programs were the error. However, some obstacles be-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54 cartographic perspectives Number 29, Winter 1998</a:t>
            </a:r>
          </a:p>
          <a:p>
            <a:r>
              <a:t>yond MAPublisher's control were ter Management District's plan files. It is good practice to keep the</a:t>
            </a:r>
          </a:p>
          <a:p>
            <a:r>
              <a:t>discovered while importing GIS ning/GIS division for a combined component parts of the shapefile</a:t>
            </a:r>
          </a:p>
          <a:p>
            <a:r>
              <a:t>data. map. The files included a south (.shp, .shx, and .dbf) together as</a:t>
            </a:r>
          </a:p>
          <a:p>
            <a:r>
              <a:t>Often the data were far too de Florida coastline (sf_shoreline), MAPublisher's built-in routines</a:t>
            </a:r>
          </a:p>
          <a:p>
            <a:r>
              <a:t>tailed for use within the atlas. The 1996-water quality data by hydro search for them when importing.</a:t>
            </a:r>
          </a:p>
          <a:p>
            <a:r>
              <a:t>level of precision and number of Iogic basin (complete_wq96) and Importing data through</a:t>
            </a:r>
          </a:p>
          <a:p>
            <a:r>
              <a:t>points originally created in the GIS point locations of hazardous waste MAPublisher into Freehand was</a:t>
            </a:r>
          </a:p>
          <a:p>
            <a:r>
              <a:t>caused difficulty when importing sites (hazard) (FIGURE 1). lluite straightforward. The import</a:t>
            </a:r>
          </a:p>
          <a:p>
            <a:r>
              <a:t>files. Freehand Ts internal limit of Once imported into Arc View, the menu [Xtms!MAP11blisher/1111port ... ]</a:t>
            </a:r>
          </a:p>
          <a:p>
            <a:r>
              <a:t>32,000 points, for example, restrict coverages were converted to shape- offers the options in logical pull</a:t>
            </a:r>
          </a:p>
          <a:p>
            <a:r>
              <a:t>ed larger ARC I INFO coverages down menus (FIGURE 2). In addi</a:t>
            </a:r>
          </a:p>
          <a:p>
            <a:r>
              <a:t>from being imported. The coastline tion to file format and feature type,</a:t>
            </a:r>
          </a:p>
          <a:p>
            <a:r>
              <a:t>files often required considerable the user must specify scale and</a:t>
            </a:r>
          </a:p>
          <a:p>
            <a:r>
              <a:t>simplification as the base maps in page location for the element that is</a:t>
            </a:r>
          </a:p>
          <a:p>
            <a:r>
              <a:t>the WRAF were much more general being imported. Within the pull</a:t>
            </a:r>
          </a:p>
          <a:p>
            <a:r>
              <a:t>ized. MAPublisherenabled queries down fields the interface offers con</a:t>
            </a:r>
          </a:p>
          <a:p>
            <a:r>
              <a:t>to be performed separating data venient browsing capabilities to lo</a:t>
            </a:r>
          </a:p>
          <a:p>
            <a:r>
              <a:t>into useful groups. Attribute tables cate files. In order to maximize the</a:t>
            </a:r>
          </a:p>
          <a:p>
            <a:r>
              <a:t>were created or edited within Free image, the default scale can be se</a:t>
            </a:r>
          </a:p>
          <a:p>
            <a:r>
              <a:t>hand without having to edit in an lected and the resulting image will</a:t>
            </a:r>
          </a:p>
          <a:p>
            <a:r>
              <a:t>external spreadsheet or database. fill the current page. for visual pur</a:t>
            </a:r>
          </a:p>
          <a:p>
            <a:r>
              <a:t>Once the points, lines, and poly poses, this was found most useful</a:t>
            </a:r>
          </a:p>
          <a:p>
            <a:r>
              <a:t>gons were imported, Free-hand's in the WRAF, as the graphics were</a:t>
            </a:r>
          </a:p>
          <a:p>
            <a:r>
              <a:t>simplify [Xtrns!Cleanup!S.implifi;. .. ] to be re-scaled to standard</a:t>
            </a:r>
          </a:p>
          <a:p>
            <a:r>
              <a:t>routine was applied to remove un basemaps.</a:t>
            </a:r>
          </a:p>
          <a:p>
            <a:r>
              <a:t>necessary points. The [A 111ou n t: To begin map construction, the</a:t>
            </a:r>
          </a:p>
          <a:p>
            <a:r>
              <a:t>0.25] was realized as the optimal Figure 1. Ar&lt;Virn• Dis11la.11 shapefile of south Florida's coast-</a:t>
            </a:r>
          </a:p>
          <a:p>
            <a:r>
              <a:t>level of simplification, eliminating</a:t>
            </a:r>
          </a:p>
          <a:p>
            <a:r>
              <a:t>£l</a:t>
            </a:r>
          </a:p>
          <a:p>
            <a:r>
              <a:t>the most points while maintaining MAPublisher I mporl</a:t>
            </a:r>
          </a:p>
          <a:p>
            <a:r>
              <a:t>path shape. MAPublisher's func</a:t>
            </a:r>
          </a:p>
          <a:p>
            <a:r>
              <a:t>tionality provided a means of</a:t>
            </a:r>
          </a:p>
          <a:p>
            <a:r>
              <a:t>streamlining the large GIS data set</a:t>
            </a:r>
          </a:p>
          <a:p>
            <a:r>
              <a:t>and making final maps more attrac</a:t>
            </a:r>
          </a:p>
          <a:p>
            <a:r>
              <a:t>tive and accurate.</a:t>
            </a:r>
          </a:p>
          <a:p>
            <a:r>
              <a:t>r.'" Line</a:t>
            </a:r>
          </a:p>
          <a:p>
            <a:r>
              <a:t>The follmving example illus</a:t>
            </a:r>
          </a:p>
          <a:p>
            <a:r>
              <a:t>trates how ~APublisher assisted in Area</a:t>
            </a:r>
          </a:p>
          <a:p>
            <a:r>
              <a:t>the construction of a graphic for the</a:t>
            </a:r>
          </a:p>
          <a:p>
            <a:r>
              <a:t>WRAF. The production was done AutoCC..D DXF</a:t>
            </a:r>
          </a:p>
          <a:p>
            <a:r>
              <a:t>Maplnfo mid/mif</a:t>
            </a:r>
          </a:p>
          <a:p>
            <a:r>
              <a:t>using a 200 MHz Pentium Pro</a:t>
            </a:r>
          </a:p>
          <a:p>
            <a:r>
              <a:t>USGS DLG</a:t>
            </a:r>
          </a:p>
          <a:p>
            <a:r>
              <a:t>workstation "vi th 64MB RAM run Select</a:t>
            </a:r>
          </a:p>
          <a:p>
            <a:r>
              <a:t>USGS SOTS</a:t>
            </a:r>
          </a:p>
          <a:p>
            <a:r>
              <a:t>ning Microsoft Windows NYE 4.0</a:t>
            </a:r>
          </a:p>
          <a:p>
            <a:r>
              <a:t>opera ting system software, ESRI</a:t>
            </a:r>
          </a:p>
          <a:p>
            <a:r>
              <a:t>ArcV iew' 3.0a, Macromedia Free</a:t>
            </a:r>
          </a:p>
          <a:p>
            <a:r>
              <a:t>hand 7.02, and A venza MAP ub</a:t>
            </a:r>
          </a:p>
          <a:p>
            <a:r>
              <a:t>1</a:t>
            </a:r>
          </a:p>
          <a:p>
            <a:r>
              <a:t>lisher 2.1 application programs. Scaling 1 to J Defaults</a:t>
            </a:r>
          </a:p>
          <a:p>
            <a:r>
              <a:t>~---</a:t>
            </a:r>
          </a:p>
          <a:p>
            <a:r>
              <a:t>Method: MapAnchor: Page Anchor:</a:t>
            </a:r>
          </a:p>
          <a:p>
            <a:r>
              <a:t>X: r X:</a:t>
            </a:r>
          </a:p>
          <a:p>
            <a:r>
              <a:t>Note: all kevboard shortcuts are r</a:t>
            </a:r>
          </a:p>
          <a:p>
            <a:r>
              <a:t>Y: Y:</a:t>
            </a:r>
          </a:p>
          <a:p>
            <a:r>
              <a:t>shown for the Windows I PC OS. Angle:</a:t>
            </a:r>
          </a:p>
          <a:p>
            <a:r>
              <a:t>for Mac OS use simply substitute</a:t>
            </a:r>
          </a:p>
          <a:p>
            <a:r>
              <a:t>J</a:t>
            </a:r>
          </a:p>
          <a:p>
            <a:r>
              <a:t>the Command key for the Control Set</a:t>
            </a:r>
          </a:p>
          <a:p>
            <a:r>
              <a:t>key(Ctrl).</a:t>
            </a:r>
          </a:p>
          <a:p>
            <a:r>
              <a:t>For this example, three ARC/</a:t>
            </a:r>
          </a:p>
          <a:p>
            <a:r>
              <a:t>INFO export files (.eOO) were ac</a:t>
            </a:r>
          </a:p>
          <a:p>
            <a:r>
              <a:t>quired from the South Florida Wa- Figure 2. A.-IAP11/1/isl1cr Import Me1111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cartographic perspectives 55</a:t>
            </a:r>
          </a:p>
          <a:p>
            <a:r>
              <a:t>line was imported first for registra down menus give access to 119 dif With the three shapefiles im</a:t>
            </a:r>
          </a:p>
          <a:p>
            <a:r>
              <a:t>tion purposes and the establish ferent projections and 42 ellipsoids ported, it was determined that the</a:t>
            </a:r>
          </a:p>
          <a:p>
            <a:r>
              <a:t>ment of default values (FIGURE3). contained in the filter (FIGURE 4). individual types of waste sites and</a:t>
            </a:r>
          </a:p>
          <a:p>
            <a:r>
              <a:t>A search button complements the This feature was not used because water quality values for the final</a:t>
            </a:r>
          </a:p>
          <a:p>
            <a:r>
              <a:t>filename field of the menu making it the files in the sample were all pro map needed to be extracted. When</a:t>
            </a:r>
          </a:p>
          <a:p>
            <a:r>
              <a:t>jected to state plane coordinates. the attribute tables of the imported</a:t>
            </a:r>
          </a:p>
          <a:p>
            <a:r>
              <a:t>Default values were chosen for the shape files were examined, legend</a:t>
            </a:r>
          </a:p>
          <a:p>
            <a:r>
              <a:t>scale, page and map anchor fea categories were established. The</a:t>
            </a:r>
          </a:p>
          <a:p>
            <a:r>
              <a:t>tures so the data would be bound to waste site coverage included three</a:t>
            </a:r>
          </a:p>
          <a:p>
            <a:r>
              <a:t>the current page size. MAPublisher types of facilities: National Priority</a:t>
            </a:r>
          </a:p>
          <a:p>
            <a:r>
              <a:t>creates and labels the new layer the List (Superfund), state-funded, and</a:t>
            </a:r>
          </a:p>
          <a:p>
            <a:r>
              <a:t>filename of the import by default. landfills. Water quality was desig</a:t>
            </a:r>
          </a:p>
          <a:p>
            <a:r>
              <a:t>This can be modified, but it was nated as either good, fair, poor or</a:t>
            </a:r>
          </a:p>
          <a:p>
            <a:r>
              <a:t>found that for file management pur unknown. NlAPublisher'squery</a:t>
            </a:r>
          </a:p>
          <a:p>
            <a:r>
              <a:t>poses, the default was preferred. features [Xtms I MAP Select by At</a:t>
            </a:r>
          </a:p>
          <a:p>
            <a:r>
              <a:t>For the waste site layer, the shnpefile tribute ... ] enable the userto create</a:t>
            </a:r>
          </a:p>
          <a:p>
            <a:r>
              <a:t>format and paint feature type were selections using SQL type logic</a:t>
            </a:r>
          </a:p>
          <a:p>
            <a:r>
              <a:t>specified. Once a file has been im statements (FIGURES). Because</a:t>
            </a:r>
          </a:p>
          <a:p>
            <a:r>
              <a:t>ported, the scale in which it was this was the first query for the layer,</a:t>
            </a:r>
          </a:p>
          <a:p>
            <a:r>
              <a:t>brought in becomes an option from lllitinl Selectio11 ... was chosen. AJ-</a:t>
            </a:r>
          </a:p>
          <a:p>
            <a:r>
              <a:t>F1x111-r 3. lmpMtcd Sliap,filc the pull-down field. Selecting Same</a:t>
            </a:r>
          </a:p>
          <a:p>
            <a:r>
              <a:t>as: sf_sl10reline commits the succes</a:t>
            </a:r>
          </a:p>
          <a:p>
            <a:r>
              <a:t>unnecessary to commit the "8-dot- sive layers to the scale of that layer.</a:t>
            </a:r>
          </a:p>
          <a:p>
            <a:r>
              <a:t>3" GIS filenames to memory. It is ef This step is repeated until all of the</a:t>
            </a:r>
          </a:p>
          <a:p>
            <a:r>
              <a:t>ficient to have each layer projected shapefiles have been imported. It is</a:t>
            </a:r>
          </a:p>
          <a:p>
            <a:r>
              <a:t>to the same coordinate system. recommended that all of the files be</a:t>
            </a:r>
          </a:p>
          <a:p>
            <a:r>
              <a:t>Ho\·vever, re-projection of the data imported before any manipulation</a:t>
            </a:r>
          </a:p>
          <a:p>
            <a:r>
              <a:t>is possible using MAPublisher's takes place. Premature resizing of</a:t>
            </a:r>
          </a:p>
          <a:p>
            <a:r>
              <a:t>projection editor [Ktras I MAPub an image or individual layer can</a:t>
            </a:r>
          </a:p>
          <a:p>
            <a:r>
              <a:t>lisher!Projectio11 Editor ... ]. Pull- result in inaccuracy.</a:t>
            </a:r>
          </a:p>
          <a:p>
            <a:r>
              <a:t>Fig11re 5. Attribute Selectio11 Me1111</a:t>
            </a:r>
          </a:p>
          <a:p>
            <a:r>
              <a:t>£i</a:t>
            </a:r>
          </a:p>
          <a:p>
            <a:r>
              <a:t>MAPublisher Projection Editor</a:t>
            </a:r>
          </a:p>
          <a:p>
            <a:r>
              <a:t>though the user may enter an ex</a:t>
            </a:r>
          </a:p>
          <a:p>
            <a:r>
              <a:t>Input Parameters pression directly, pull-down fields</a:t>
            </a:r>
          </a:p>
          <a:p>
            <a:r>
              <a:t>simplify the task of creating an ex</a:t>
            </a:r>
          </a:p>
          <a:p>
            <a:r>
              <a:t>Projection Custom Elpsoid Parallels</a:t>
            </a:r>
          </a:p>
          <a:p>
            <a:r>
              <a:t>pression by using the attributes at</a:t>
            </a:r>
          </a:p>
          <a:p>
            <a:r>
              <a:t>Projection: tached to the imported file. Once</a:t>
            </a:r>
          </a:p>
          <a:p>
            <a:r>
              <a:t>the C11rre11t Expression: included the</a:t>
            </a:r>
          </a:p>
          <a:p>
            <a:r>
              <a:t>E~soict</a:t>
            </a:r>
          </a:p>
          <a:p>
            <a:r>
              <a:t>necessary equation, INSERT was</a:t>
            </a:r>
          </a:p>
          <a:p>
            <a:r>
              <a:t>False Easting:</a:t>
            </a:r>
          </a:p>
          <a:p>
            <a:r>
              <a:t>chosen transferring the formula to</a:t>
            </a:r>
          </a:p>
          <a:p>
            <a:r>
              <a:t>False Northing: the recessed "expression area."</a:t>
            </a:r>
          </a:p>
          <a:p>
            <a:r>
              <a:t>Central Meridian: Clicking OK completed the opera</a:t>
            </a:r>
          </a:p>
          <a:p>
            <a:r>
              <a:t>Central Paralet: tion and returned the user to the</a:t>
            </a:r>
          </a:p>
          <a:p>
            <a:r>
              <a:t>document with the specified items</a:t>
            </a:r>
          </a:p>
          <a:p>
            <a:r>
              <a:t>selected (FIGURE 6 ).</a:t>
            </a:r>
          </a:p>
          <a:p>
            <a:r>
              <a:t>For map construction, these</a:t>
            </a:r>
          </a:p>
          <a:p>
            <a:r>
              <a:t>lected elements can be modified for</a:t>
            </a:r>
          </a:p>
          <a:p>
            <a:r>
              <a:t>the cartographic presentation. It</a:t>
            </a:r>
          </a:p>
          <a:p>
            <a:r>
              <a:t>was found that cloning and moving</a:t>
            </a:r>
          </a:p>
          <a:p>
            <a:r>
              <a:t>the selection to a new layer allowed</a:t>
            </a:r>
          </a:p>
          <a:p>
            <a:r>
              <a:t>the user to keep the original im</a:t>
            </a:r>
          </a:p>
          <a:p>
            <a:r>
              <a:t>ported file unaltered for further que</a:t>
            </a:r>
          </a:p>
          <a:p>
            <a:r>
              <a:t>ries and created a buffer for unfore</a:t>
            </a:r>
          </a:p>
          <a:p>
            <a:r>
              <a:t>seen error (FIGURE 7). Once the</a:t>
            </a:r>
          </a:p>
          <a:p>
            <a:r>
              <a:t>map was completed, the original</a:t>
            </a:r>
          </a:p>
          <a:p>
            <a:r>
              <a:t>Figure 4. i'v!AP11l1/1sher Pn1iccticm Editor Mc1111 layer was deleted. In addition to the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56 cartographic perspecti-ves Number 29, Winter 1998</a:t>
            </a:r>
          </a:p>
          <a:p>
            <a:r>
              <a:t>verted plus sign shape into the</a:t>
            </a:r>
          </a:p>
          <a:p>
            <a:r>
              <a:t>white box. Return to the document</a:t>
            </a:r>
          </a:p>
          <a:p>
            <a:r>
              <a:t>leaving the £i11d A11d Replace menu</a:t>
            </a:r>
          </a:p>
          <a:p>
            <a:r>
              <a:t>open by clicking anywhere in the</a:t>
            </a:r>
          </a:p>
          <a:p>
            <a:r>
              <a:t>_,._,</a:t>
            </a:r>
          </a:p>
          <a:p>
            <a:r>
              <a:t>document window. Create a path</a:t>
            </a:r>
          </a:p>
          <a:p>
            <a:r>
              <a:t>..</a:t>
            </a:r>
          </a:p>
          <a:p>
            <a:r>
              <a:t>Io,9w shape (a closed path circle polygon</a:t>
            </a:r>
          </a:p>
          <a:p>
            <a:r>
              <a:t>, was used for this example) on a</a:t>
            </a:r>
          </a:p>
          <a:p>
            <a:r>
              <a:t>••P' ... ~-..-;~</a:t>
            </a:r>
          </a:p>
          <a:p>
            <a:r>
              <a:t>,... .•.•.•. . ....:.,-,t_'d-@ ' new layer and copy it to the clip</a:t>
            </a:r>
          </a:p>
          <a:p>
            <a:r>
              <a:t>..... ju::Jit board. Return to the Eind And Re</a:t>
            </a:r>
          </a:p>
          <a:p>
            <a:r>
              <a:t>··•fo·f')!M"·~</a:t>
            </a:r>
          </a:p>
          <a:p>
            <a:r>
              <a:t>••llillBx•·llllJl'.-f place menu and E.aste 111: the path</a:t>
            </a:r>
          </a:p>
          <a:p>
            <a:r>
              <a:t>Figure 8. Find and Replace</a:t>
            </a:r>
          </a:p>
          <a:p>
            <a:r>
              <a:t>shape for the To: field. Clicking on</a:t>
            </a:r>
          </a:p>
          <a:p>
            <a:r>
              <a:t>Qiangeexecutes the replacement</a:t>
            </a:r>
          </a:p>
          <a:p>
            <a:r>
              <a:t>(FIGURE 8). Note: any unlocked layer</a:t>
            </a:r>
          </a:p>
          <a:p>
            <a:r>
              <a:t>co11tai11i11g the element to be cha11ged</a:t>
            </a:r>
          </a:p>
          <a:p>
            <a:r>
              <a:t>will be affected. The registration point</a:t>
            </a:r>
          </a:p>
          <a:p>
            <a:r>
              <a:t>for these e/e111e11ts is different i11 Free</a:t>
            </a:r>
          </a:p>
          <a:p>
            <a:r>
              <a:t>f1g11n' 6. Text Elements Sl'ic&lt;"ft'd . - ... ·· . . hand a11d Illustrator. 111 Freehand, it is</a:t>
            </a:r>
          </a:p>
          <a:p>
            <a:r>
              <a:t>......~</a:t>
            </a:r>
          </a:p>
          <a:p>
            <a:r>
              <a:t>~</a:t>
            </a:r>
          </a:p>
          <a:p>
            <a:r>
              <a:t>. ~..•..:. !,_. .. ,,,._, .</a:t>
            </a:r>
          </a:p>
          <a:p>
            <a:r>
              <a:t>the upper-left corner, while Illustrator</a:t>
            </a:r>
          </a:p>
          <a:p>
            <a:r>
              <a:t>....... ..a.:•1."'•··</a:t>
            </a:r>
          </a:p>
          <a:p>
            <a:r>
              <a:t>:::~::-~.·~;-~· uses the lower-left corner .</a:t>
            </a:r>
          </a:p>
          <a:p>
            <a:r>
              <a:t>.... r!] ~'-t-Oi&lt;t,_'</a:t>
            </a:r>
          </a:p>
          <a:p>
            <a:r>
              <a:t>....... -:--.-r· • .L The above steps were repeated</a:t>
            </a:r>
          </a:p>
          <a:p>
            <a:r>
              <a:t>··~'&gt;$.:~ for both imported coverages resu !t</a:t>
            </a:r>
          </a:p>
          <a:p>
            <a:r>
              <a:t>·..·.•. '•"'Q ..';.-." '_!.I. .;l&gt;</a:t>
            </a:r>
          </a:p>
          <a:p>
            <a:r>
              <a:t>••K•••1 ..-..i ing in eight layers of discrete data</a:t>
            </a:r>
          </a:p>
          <a:p>
            <a:r>
              <a:t>(FIGURE 9). Once satisfied with the</a:t>
            </a:r>
          </a:p>
          <a:p>
            <a:r>
              <a:t>. . . . .. . .... . . . .. . . · ~~ " ;: · ; · _ - '! &gt; . i: l : _ l . f . ' . . import, polygons were filled, line</a:t>
            </a:r>
          </a:p>
          <a:p>
            <a:r>
              <a:t>••• (~~-tl:f-': weights were changed and all of</a:t>
            </a:r>
          </a:p>
          <a:p>
            <a:r>
              <a:t>, •·•· !·!!.I'"B"~ IZ'-•I</a:t>
            </a:r>
          </a:p>
          <a:p>
            <a:r>
              <a:t>the layers grouped in preparation</a:t>
            </a:r>
          </a:p>
          <a:p>
            <a:r>
              <a:t>• • · •l l l! l llF f· , - .. 1 ,, .; , . _ , , ,u J for refit to the atlas basemap. Due to</a:t>
            </a:r>
          </a:p>
          <a:p>
            <a:r>
              <a:t>the close fit of the imported layers to</a:t>
            </a:r>
          </a:p>
          <a:p>
            <a:r>
              <a:t>f1g11re 9 Co111pleted Import</a:t>
            </a:r>
          </a:p>
          <a:p>
            <a:r>
              <a:t>•.</a:t>
            </a:r>
          </a:p>
          <a:p>
            <a:r>
              <a:t>.,,...;.i-:. ~- . Water Quality and Hazardous Waste Sites</a:t>
            </a:r>
          </a:p>
          <a:p>
            <a:r>
              <a:t>Figure 7. Ct&gt;m&gt;erkd Pn//1 Slrnpc,;</a:t>
            </a:r>
          </a:p>
          <a:p>
            <a:r>
              <a:t>above technique, the efficient MAP</a:t>
            </a:r>
          </a:p>
          <a:p>
            <a:r>
              <a:t>Lcge11d feature can separate ele</a:t>
            </a:r>
          </a:p>
          <a:p>
            <a:r>
              <a:t>ments while assigning legend infor</a:t>
            </a:r>
          </a:p>
          <a:p>
            <a:r>
              <a:t>mation and color based on at</a:t>
            </a:r>
          </a:p>
          <a:p>
            <a:r>
              <a:t>tributes. watEf Quality</a:t>
            </a:r>
          </a:p>
          <a:p>
            <a:r>
              <a:t>L~sl</a:t>
            </a:r>
          </a:p>
          <a:p>
            <a:r>
              <a:t>MAPublisher imports GIS lines ouni.nolflln I,.0. -p-tl-o-ns-</a:t>
            </a:r>
          </a:p>
          <a:p>
            <a:r>
              <a:t>directly as vector line work; how 0Poor</a:t>
            </a:r>
          </a:p>
          <a:p>
            <a:r>
              <a:t>.... a~ -.</a:t>
            </a:r>
          </a:p>
          <a:p>
            <a:r>
              <a:t>ever, point symbols are imported as -,:Air "'•a ~MAP...ti•she1 Import</a:t>
            </a:r>
          </a:p>
          <a:p>
            <a:r>
              <a:t>- Good</a:t>
            </a:r>
          </a:p>
          <a:p>
            <a:r>
              <a:t>text plus signs. Freehand 7 can eas .... a Guides</a:t>
            </a:r>
          </a:p>
          <a:p>
            <a:r>
              <a:t>ily change the text to path shapes if Type of Site</a:t>
            </a:r>
          </a:p>
          <a:p>
            <a:r>
              <a:t>• L.1ndfill</a:t>
            </a:r>
          </a:p>
          <a:p>
            <a:r>
              <a:t>these steps are followed:</a:t>
            </a:r>
          </a:p>
          <a:p>
            <a:r>
              <a:t>• SU1~funded</a:t>
            </a:r>
          </a:p>
          <a:p>
            <a:r>
              <a:t>Select all of the text [Ctr/ A] and • tbbl)nal Pr1onty Ltsl</a:t>
            </a:r>
          </a:p>
          <a:p>
            <a:r>
              <a:t>(Sup•nund)</a:t>
            </a:r>
          </a:p>
          <a:p>
            <a:r>
              <a:t>convert to paths [Ctr/ Shift P]. Select</a:t>
            </a:r>
          </a:p>
          <a:p>
            <a:r>
              <a:t>one of the converted path shapes</a:t>
            </a:r>
          </a:p>
          <a:p>
            <a:r>
              <a:t>and copy it to the clipboard [Ctr/ CJ. .YJ 50MI</a:t>
            </a:r>
          </a:p>
          <a:p>
            <a:r>
              <a:t>From the f.dit menu select £i11d A11d</a:t>
            </a:r>
          </a:p>
          <a:p>
            <a:r>
              <a:t>Replace, then choose Graphics ...</a:t>
            </a:r>
          </a:p>
          <a:p>
            <a:r>
              <a:t>[Cir/ Alt E]. The Attril111te: should be</a:t>
            </a:r>
          </a:p>
          <a:p>
            <a:r>
              <a:t>set to Path Shape and C/1a11ge /11:</a:t>
            </a:r>
          </a:p>
          <a:p>
            <a:r>
              <a:t>shou Id be set to Docu111c11t. Clicking</a:t>
            </a:r>
          </a:p>
          <a:p>
            <a:r>
              <a:t>E.astc 111: under Fro111: inserts the con- Fis111·,· /0. Finni lvfnp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cartographic perspectives 57</a:t>
            </a:r>
          </a:p>
          <a:p>
            <a:r>
              <a:t>the standard basemap for the both a broad scope of current schol</a:t>
            </a:r>
          </a:p>
          <a:p>
            <a:r>
              <a:t>WRAF, it was milnually resized. map library arship and the rich seventy-year</a:t>
            </a:r>
          </a:p>
          <a:p>
            <a:r>
              <a:t>Title, scale and legend were added ulletin board history of geoscience research at</a:t>
            </a:r>
          </a:p>
          <a:p>
            <a:r>
              <a:t>to the map to com plcte the graphic LSU. The DepartmentofGeography</a:t>
            </a:r>
          </a:p>
          <a:p>
            <a:r>
              <a:t>(FIGURE 10). -~- &amp; Anthropology collection reflects</a:t>
            </a:r>
          </a:p>
          <a:p>
            <a:r>
              <a:t>the department's teaching and re</a:t>
            </a:r>
          </a:p>
          <a:p>
            <a:r>
              <a:t>Conclusion: The Louisiana State University search focus by concentrating on</a:t>
            </a:r>
          </a:p>
          <a:p>
            <a:r>
              <a:t>Cartographic Information Center acquiring maps depicting historical</a:t>
            </a:r>
          </a:p>
          <a:p>
            <a:r>
              <a:t>While MAPublisherdid not directly and current Louisiana, the Gulf</a:t>
            </a:r>
          </a:p>
          <a:p>
            <a:r>
              <a:t>affect the final look of the published /0'111 M. A11derso11 South, Latin America (with particu</a:t>
            </a:r>
          </a:p>
          <a:p>
            <a:r>
              <a:t>maps in the atlas, it proved to be in Mnp Librnrin11 mrd Director lar emphasis on Mexico), East Asia,</a:t>
            </a:r>
          </a:p>
          <a:p>
            <a:r>
              <a:t>valuable in converting the large Cnrtogrnphic l11for111ntio11 Ce11ter and Europe. The specific research</a:t>
            </a:r>
          </a:p>
          <a:p>
            <a:r>
              <a:t>quantities of data received for the Dept. ofG eogrnplry &amp; A11tlrropology subjects supported by the collection</a:t>
            </a:r>
          </a:p>
          <a:p>
            <a:r>
              <a:t>preparation of maps into a useable Lo11isin11a Stale U11ivcrsity include historical, cultural, eco</a:t>
            </a:r>
          </a:p>
          <a:p>
            <a:r>
              <a:t>form. The final maps are primarily (504) 388-6247 nomic and physical geography, an</a:t>
            </a:r>
          </a:p>
          <a:p>
            <a:r>
              <a:t>the result of cartographic design de jm1ders@ls11t 1 111.s11cc.ls11.ed 11 thropology, coastal and fluvial geo</a:t>
            </a:r>
          </a:p>
          <a:p>
            <a:r>
              <a:t>cisions and the functions of the Ir ttp:llwww.cadgis.ls11.ed 11/cic! morphology, and geology. The re</a:t>
            </a:r>
          </a:p>
          <a:p>
            <a:r>
              <a:t>graphics software, but MAPub gionally unique materials in the De</a:t>
            </a:r>
          </a:p>
          <a:p>
            <a:r>
              <a:t>lishcr contributed significantly in The Louisiana State University Car partment collection include the</a:t>
            </a:r>
          </a:p>
          <a:p>
            <a:r>
              <a:t>several \.vays. First, the final printed tographic Information Center (CIC) largest collection of original Louisi</a:t>
            </a:r>
          </a:p>
          <a:p>
            <a:r>
              <a:t>maps are much more accurate in is a significant research resource in ana Sanborn Fire Insurance maps</a:t>
            </a:r>
          </a:p>
          <a:p>
            <a:r>
              <a:t>the geographic location of features the Gulf South region. The Center's outside of Washington, DC the</a:t>
            </a:r>
          </a:p>
          <a:p>
            <a:r>
              <a:t>due to the use of detailed GIS data. collection containing over 280,000 most complete set of historic U .5.</a:t>
            </a:r>
          </a:p>
          <a:p>
            <a:r>
              <a:t>Second, the ability to take data sets maps and 81,000 aerial photo Coast&amp; Geodetic Survey hydro</a:t>
            </a:r>
          </a:p>
          <a:p>
            <a:r>
              <a:t>from multiple sources and re graphs makes it the largest map col graphic and topographic charts of</a:t>
            </a:r>
          </a:p>
          <a:p>
            <a:r>
              <a:t>project them to a common projec lection in Louisiana and ranks it the Louisiana Gulf Coast housed in</a:t>
            </a:r>
          </a:p>
          <a:p>
            <a:r>
              <a:t>tion allows the cartographer to among the larger academic map li the region, copies of historic maps</a:t>
            </a:r>
          </a:p>
          <a:p>
            <a:r>
              <a:t>combine Javers and create custom braries in the Cnited States. In ad depicting Louisiana, and historic</a:t>
            </a:r>
          </a:p>
          <a:p>
            <a:r>
              <a:t>maps. Finally, the timeand cost dition to the many maps and aerial aerial photographs of Louisiana</a:t>
            </a:r>
          </a:p>
          <a:p>
            <a:r>
              <a:t>savings from using this alternative photographs, the collection in dating from the 1930s to the 1980s.</a:t>
            </a:r>
          </a:p>
          <a:p>
            <a:r>
              <a:t>method were esscntia I to the cludes several regionally unique Among the unique materials cov</a:t>
            </a:r>
          </a:p>
          <a:p>
            <a:r>
              <a:t>completion of the project in a timely cartographic resources which are ering areas outside of Louisiana is</a:t>
            </a:r>
          </a:p>
          <a:p>
            <a:r>
              <a:t>manner. In many instances, the al available to the University commu a nearly complete set of original</a:t>
            </a:r>
          </a:p>
          <a:p>
            <a:r>
              <a:t>ternative \·1.:ould have been to take nity, state and local agencies, busi U.S. Geological Survey topographic</a:t>
            </a:r>
          </a:p>
          <a:p>
            <a:r>
              <a:t>printed output from theGIS, manu ness and private patrons, as well as quadrangle maps printed before</a:t>
            </a:r>
          </a:p>
          <a:p>
            <a:r>
              <a:t>ally trace the line work in a more patrons from around the world. 1940. In addition to maps of the</a:t>
            </a:r>
          </a:p>
          <a:p>
            <a:r>
              <a:t>generalized form, scan the image, The Cartographic Information United States, the scope of geo</a:t>
            </a:r>
          </a:p>
          <a:p>
            <a:r>
              <a:t>and retrace the line work in Free Cen-ter is funded and staffed by the science research at LSU O\'er the</a:t>
            </a:r>
          </a:p>
          <a:p>
            <a:r>
              <a:t>hand. De-partmentofGeography&amp;An past seventy years has brought ma</a:t>
            </a:r>
          </a:p>
          <a:p>
            <a:r>
              <a:t>The utilization of MAPublisher thropology and is administratively terials depicting areas outside of</a:t>
            </a:r>
          </a:p>
          <a:p>
            <a:r>
              <a:t>for this project and the techniques and physically separate from the the U.S. to the CIC. One example is</a:t>
            </a:r>
          </a:p>
          <a:p>
            <a:r>
              <a:t>that were developed that led to the LSU Libraries. The CIC collection is a collection of over 3000 large scale</a:t>
            </a:r>
          </a:p>
          <a:p>
            <a:r>
              <a:t>production of final printed color comprised of materials in two cate (1 :50,000) topographic maps of</a:t>
            </a:r>
          </a:p>
          <a:p>
            <a:r>
              <a:t>maps has enhanced the ability of gories distinguished by ownership. Mexico "·hich provides over 96%</a:t>
            </a:r>
          </a:p>
          <a:p>
            <a:r>
              <a:t>FREAC cartographers to produce The majority of the material in the coverage of the country. In addition</a:t>
            </a:r>
          </a:p>
          <a:p>
            <a:r>
              <a:t>high-quality maps for publication collection was acquired by LSU to cartographic materials, the CIC</a:t>
            </a:r>
          </a:p>
          <a:p>
            <a:r>
              <a:t>that are more accurate and more geoscience departments and is now houses the Dr. Robert C. West Latin</a:t>
            </a:r>
          </a:p>
          <a:p>
            <a:r>
              <a:t>cost effective. More information owned by the Department of Ge American photograph collection</a:t>
            </a:r>
          </a:p>
          <a:p>
            <a:r>
              <a:t>about MAPublishcr can be found ography &amp; Anthropology. Addi containing over 6,000 black &amp; white</a:t>
            </a:r>
          </a:p>
          <a:p>
            <a:r>
              <a:t>on the website: bliJ2.;.il tionally, the CIC houses materials photographs and the Dr. Robert C.</a:t>
            </a:r>
          </a:p>
          <a:p>
            <a:r>
              <a:t>w\vw.avenza.com. deposited by the Army Mapping West Slide Collection of over 10,000</a:t>
            </a:r>
          </a:p>
          <a:p>
            <a:r>
              <a:t>Service and the Federal Depository slides from around the world.</a:t>
            </a:r>
          </a:p>
          <a:p>
            <a:r>
              <a:t>Note: Full screc111 1 crsicms of the graph Library Program. Complementing the material</a:t>
            </a:r>
          </a:p>
          <a:p>
            <a:r>
              <a:t>ics cn11 liefo1111d nt http:!! Although the Cartographic Infor amassed by the geoscience depart</a:t>
            </a:r>
          </a:p>
          <a:p>
            <a:r>
              <a:t>128.186.177.25/nrt iclc.'11111! mation Center dates its founding to ments are the Army Mapping Ser</a:t>
            </a:r>
          </a:p>
          <a:p>
            <a:r>
              <a:t>1960, the collection is the product of vice depository material from the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58 cartographic perspectives Number 29, Winter 1998</a:t>
            </a:r>
          </a:p>
          <a:p>
            <a:r>
              <a:t>1950s and 1960s and the current In general, access to collection In addition to the daily map li</a:t>
            </a:r>
          </a:p>
          <a:p>
            <a:r>
              <a:t>Government Printing Office Federal materials is primarily provided brary duties of patron service and</a:t>
            </a:r>
          </a:p>
          <a:p>
            <a:r>
              <a:t>Depository Library Program through index maps for series, processing acquisitions, and the</a:t>
            </a:r>
          </a:p>
          <a:p>
            <a:r>
              <a:t>(FDLP). The current FDPL material while other local finding aides are long term rehousing, retrospective</a:t>
            </a:r>
          </a:p>
          <a:p>
            <a:r>
              <a:t>is located in the CIC as provided in consulted for individual maps. In cataloging, and preservation efforts,</a:t>
            </a:r>
          </a:p>
          <a:p>
            <a:r>
              <a:t>the Separate Housing Agreement addition, the FDLP materials are the CIC staff is promoting aware</a:t>
            </a:r>
          </a:p>
          <a:p>
            <a:r>
              <a:t>with the Regional Depository Li piece-level cataloged in the LSU Li ness of the Cartographic Informa</a:t>
            </a:r>
          </a:p>
          <a:p>
            <a:r>
              <a:t>brary located in the LSU main li braries LOLA online catalog avail tion Center's collection through</a:t>
            </a:r>
          </a:p>
          <a:p>
            <a:r>
              <a:t>brary. The combination of the able at http:/ /www.lib.lsu.edu/da tours, class presentations, and the</a:t>
            </a:r>
          </a:p>
          <a:p>
            <a:r>
              <a:t>Army Mapping Service maps and tabases/ Iola.html. The Department World Wide Web. The Center's</a:t>
            </a:r>
          </a:p>
          <a:p>
            <a:r>
              <a:t>the current FDLP arrivals provides of Geography &amp; Anthropology col web site, www.cndgis.lsu .edrilcicl,</a:t>
            </a:r>
          </a:p>
          <a:p>
            <a:r>
              <a:t>world wide medium scale topo lection materials are classified and was established in November 1995</a:t>
            </a:r>
          </a:p>
          <a:p>
            <a:r>
              <a:t>graphic map coverage as well as filed using a locally developed sys to provide an overview of the hold</a:t>
            </a:r>
          </a:p>
          <a:p>
            <a:r>
              <a:t>small to large scale map coverage of tem. An effort is underway to create ings. Although the majority of the</a:t>
            </a:r>
          </a:p>
          <a:p>
            <a:r>
              <a:t>the United States. electronic databases to improve ac CIC holdings are not in an online</a:t>
            </a:r>
          </a:p>
          <a:p>
            <a:r>
              <a:t>The Cartographic Information cess to the departmental material. catalog, the web site does list the</a:t>
            </a:r>
          </a:p>
          <a:p>
            <a:r>
              <a:t>Center operates as a closed-stacks Completed databases are available CIC's significant special collections</a:t>
            </a:r>
          </a:p>
          <a:p>
            <a:r>
              <a:t>library. The staff consists of one full locally for the Dr. Robert C. West and map series. When the map da</a:t>
            </a:r>
          </a:p>
          <a:p>
            <a:r>
              <a:t>time professional assisted by a 1 Latin American Photograph Collec tabase for a specific area is comple</a:t>
            </a:r>
          </a:p>
          <a:p>
            <a:r>
              <a:t>Full Time Equivalent student staff tion, as well as for the map hold ted, a paragraph describing the</a:t>
            </a:r>
          </a:p>
          <a:p>
            <a:r>
              <a:t>who retrieve materials in response ings depicting Louisiana, :vlexico, map holdings is added to the web</a:t>
            </a:r>
          </a:p>
          <a:p>
            <a:r>
              <a:t>to patron requests. In calendar year and the West Indies. The work on site. In addition to the descriptive</a:t>
            </a:r>
          </a:p>
          <a:p>
            <a:r>
              <a:t>1997 the staff served 723 walk-in databases for the Dr. Robert C. West paragraphs and map series listings,</a:t>
            </a:r>
          </a:p>
          <a:p>
            <a:r>
              <a:t>patrons who requested the retrieval Slide Collection, and for maps de a complete list of Louisiana historic</a:t>
            </a:r>
          </a:p>
          <a:p>
            <a:r>
              <a:t>of a total of 1120 maps and 658 picting the United States is under aerial photographic coverage by</a:t>
            </a:r>
          </a:p>
          <a:p>
            <a:r>
              <a:t>aerial photographs. Other patron \vay. The pre-1940 U.S. Geological parish and year is provided. A com</a:t>
            </a:r>
          </a:p>
          <a:p>
            <a:r>
              <a:t>services include locating and rec Survey topographic quadrangle panion list of the CIC's holdings of</a:t>
            </a:r>
          </a:p>
          <a:p>
            <a:r>
              <a:t>ommending digital data sources, map indexes were completed in aerial photomosaics by county and</a:t>
            </a:r>
          </a:p>
          <a:p>
            <a:r>
              <a:t>geographic names research, and 1997. year depicting states other than</a:t>
            </a:r>
          </a:p>
          <a:p>
            <a:r>
              <a:t>suggesting map vendors for private Because the material in the De Louisiana is also available. Finally,</a:t>
            </a:r>
          </a:p>
          <a:p>
            <a:r>
              <a:t>purchases. These service requests partment of Geography &amp; Anthro in order to illustrate the aerial pho</a:t>
            </a:r>
          </a:p>
          <a:p>
            <a:r>
              <a:t>are received from walk-in patrons pology collection results from the tograph collection's scope, six rep</a:t>
            </a:r>
          </a:p>
          <a:p>
            <a:r>
              <a:t>as well as via telephone, fax, mail, long history of LSC geoscience resentative aerial photos taken of</a:t>
            </a:r>
          </a:p>
          <a:p>
            <a:r>
              <a:t>and e-mail. teaching and research, these materi the LSU campus from the 1930s to</a:t>
            </a:r>
          </a:p>
          <a:p>
            <a:r>
              <a:t>In addition to providing daily als are often old, fragile, and require the 1980s are on the web site.</a:t>
            </a:r>
          </a:p>
          <a:p>
            <a:r>
              <a:t>patron service, the Cartographic In preservation. In the past, original The Cartographic Information</a:t>
            </a:r>
          </a:p>
          <a:p>
            <a:r>
              <a:t>formation Center staff is working to maps as well as copies of historic Center is located in room313</a:t>
            </a:r>
          </a:p>
          <a:p>
            <a:r>
              <a:t>overcome problems common to maps were acquired. As a result, Howe-Russell Geoscience Complex,</a:t>
            </a:r>
          </a:p>
          <a:p>
            <a:r>
              <a:t>many map libraries such as inad map materials in the collection LSU Campus, Baton Rouge, LA</a:t>
            </a:r>
          </a:p>
          <a:p>
            <a:r>
              <a:t>equate space, the need for retro range from acetate-based film nega 70803 and is open to the public</a:t>
            </a:r>
          </a:p>
          <a:p>
            <a:r>
              <a:t>spective cataloging, and preserva tives to fragile newsprint. Addition from8:00 a.m. to4:30 p.m. week</a:t>
            </a:r>
          </a:p>
          <a:p>
            <a:r>
              <a:t>tion. As with other map libraries, ally, the bulk of the collection is days except University holidays.</a:t>
            </a:r>
          </a:p>
          <a:p>
            <a:r>
              <a:t>the most pressing problem is inad housed in acidic containers. A re</a:t>
            </a:r>
          </a:p>
          <a:p>
            <a:r>
              <a:t>equate space. The recently imple cently completed major preserva</a:t>
            </a:r>
          </a:p>
          <a:p>
            <a:r>
              <a:t>mented weeding program designed tion project involved the transfer of</a:t>
            </a:r>
          </a:p>
          <a:p>
            <a:r>
              <a:t>to remove duplicate out-of-scope historic U.S. Coast &amp; Geodetic Sur The University of Iowa's Map</a:t>
            </a:r>
          </a:p>
          <a:p>
            <a:r>
              <a:t>materials has barely kept pace with vey chart images from decomposing Collection</a:t>
            </a:r>
          </a:p>
          <a:p>
            <a:r>
              <a:t>normal acquisitions. I\'aturally, acetate film negatives to stable</a:t>
            </a:r>
          </a:p>
          <a:p>
            <a:r>
              <a:t>once the weeding is completed, nor mylar. Currently, an ongoing pres Mary Mel 11 roy</a:t>
            </a:r>
          </a:p>
          <a:p>
            <a:r>
              <a:t>mal acquisitions \viii soon fill the ervation effort is underway to pre Gouem 111en t Pu/11 icntio11s Dcpart111e11t</a:t>
            </a:r>
          </a:p>
          <a:p>
            <a:r>
              <a:t>recently available space. Addition vent daily wear on fragile maps by and Map Co/lectio11</a:t>
            </a:r>
          </a:p>
          <a:p>
            <a:r>
              <a:t>ally, the acquisition of several large removing the maps from the general U11 iversi ty of Imm Libraries</a:t>
            </a:r>
          </a:p>
          <a:p>
            <a:r>
              <a:t>research collections is pending un collection, rehousing them in pH Iowa City, IA 52242-1420</a:t>
            </a:r>
          </a:p>
          <a:p>
            <a:r>
              <a:t>til additional space is available. It buffered containers, and placing (319)335-6247 or (319)335-5926</a:t>
            </a:r>
          </a:p>
          <a:p>
            <a:r>
              <a:t>is hoped that additional space will them in less trafficked drawers. FAX: (319)335-5900</a:t>
            </a:r>
          </a:p>
          <a:p>
            <a:r>
              <a:t>be acquired in the next three years. e-mail: 111ary-111ci11 roy@uiowa.cd11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cartographic perspectives 59</a:t>
            </a:r>
          </a:p>
          <a:p>
            <a:r>
              <a:t>The University of Iowa's Map Col from another library on campus, As you can see, the path to get</a:t>
            </a:r>
          </a:p>
          <a:p>
            <a:r>
              <a:t>lection is the largest map collection and were able to purchase very ad ting the three machines was not</a:t>
            </a:r>
          </a:p>
          <a:p>
            <a:r>
              <a:t>in Iowa, with more than 176,000 equate hardware to run Arc View 3. clear-cut, the results came to us in</a:t>
            </a:r>
          </a:p>
          <a:p>
            <a:r>
              <a:t>sheet maps, as well as: copies of At that point, ArcV iew was relo phases, but the focus audience was</a:t>
            </a:r>
          </a:p>
          <a:p>
            <a:r>
              <a:t>Sanborn fire insurance maps for cated from documents to the Map always the same. The administra</a:t>
            </a:r>
          </a:p>
          <a:p>
            <a:r>
              <a:t>more than 1,000 Iowa cities from Collection to run on the new ma tors at the University Libraries are</a:t>
            </a:r>
          </a:p>
          <a:p>
            <a:r>
              <a:t>the 1870's through the 1930's, either chine. Lastly, the Map Collection very supportive of having desktop</a:t>
            </a:r>
          </a:p>
          <a:p>
            <a:r>
              <a:t>on paper or microfiche; Iowa obtained funding in late 1997 for mapping capabilities in the Map</a:t>
            </a:r>
          </a:p>
          <a:p>
            <a:r>
              <a:t>county atlases for the period from two more desktop mapping work Collection. We had earlier made</a:t>
            </a:r>
          </a:p>
          <a:p>
            <a:r>
              <a:t>the 1870's to the l 930's on micro stations through funds designated larger requests to university offices</a:t>
            </a:r>
          </a:p>
          <a:p>
            <a:r>
              <a:t>film; over 600 Iowa plat books; and by the University's Office of the Pro for machinery and software for this</a:t>
            </a:r>
          </a:p>
          <a:p>
            <a:r>
              <a:t>more than 100,000 aerial photos of \'OSt for instructional technology service and had always been re</a:t>
            </a:r>
          </a:p>
          <a:p>
            <a:r>
              <a:t>Iowa counties, for various vears enhancements. Thus, by the end of jected. Thus, the piece-meal ap</a:t>
            </a:r>
          </a:p>
          <a:p>
            <a:r>
              <a:t>since the 19-lO's. Although-stron 1998, the Map Collection will be proach was begun, and it paid off.</a:t>
            </a:r>
          </a:p>
          <a:p>
            <a:r>
              <a:t>gest in Iowa and Mid'vvestern mate running desktop mapping software !'\ow time must be devoted to writ</a:t>
            </a:r>
          </a:p>
          <a:p>
            <a:r>
              <a:t>rials, the collection is international on three networked machines in the ing policies, creating templates and</a:t>
            </a:r>
          </a:p>
          <a:p>
            <a:r>
              <a:t>in scope and ~ubject coverage is Map Collection-92s reading room. pre-designed maps, hunting for tu</a:t>
            </a:r>
          </a:p>
          <a:p>
            <a:r>
              <a:t>broad, excluding only geologic Because of the networked environ torials, grappling with levels of ser</a:t>
            </a:r>
          </a:p>
          <a:p>
            <a:r>
              <a:t>maps, \vhich are collected at the Ge ment, the machines \-vill be linked to vice, finding staff time for this new</a:t>
            </a:r>
          </a:p>
          <a:p>
            <a:r>
              <a:t>ology Library. each other and to a color laser service, and even figuring out how</a:t>
            </a:r>
          </a:p>
          <a:p>
            <a:r>
              <a:t>Until ,1pproximately three years printer also purchased with the these large machines will fit into the</a:t>
            </a:r>
          </a:p>
          <a:p>
            <a:r>
              <a:t>ago, there were no electronic carto technology enhancement funding. space available. But had we not</a:t>
            </a:r>
          </a:p>
          <a:p>
            <a:r>
              <a:t>graphic products in the Map Col We can also explore additional li been willing to pre-define our audi</a:t>
            </a:r>
          </a:p>
          <a:p>
            <a:r>
              <a:t>lection. When l joined the collection brary access for ArcView, since we ence and to advance our cause</a:t>
            </a:r>
          </a:p>
          <a:p>
            <a:r>
              <a:t>in 1995 as half-time Map Librarian, have a library site license for gradually, I believe we would still</a:t>
            </a:r>
          </a:p>
          <a:p>
            <a:r>
              <a:t>I brought with me an interest in ArcView. be waiting for our first desktop</a:t>
            </a:r>
          </a:p>
          <a:p>
            <a:r>
              <a:t>desk-top mapping capabilities. I I have consciously used the mapping station in the Map Collec</a:t>
            </a:r>
          </a:p>
          <a:p>
            <a:r>
              <a:t>had worked with federal docu phrase "desktop mapping," rather tion.</a:t>
            </a:r>
          </a:p>
          <a:p>
            <a:r>
              <a:t>ments for manv \'ears and knew of than GIS in this article. At this</a:t>
            </a:r>
          </a:p>
          <a:p>
            <a:r>
              <a:t>the wealth of r{u~eric data in the point, the goal of placing these ma</a:t>
            </a:r>
          </a:p>
          <a:p>
            <a:r>
              <a:t>documents department. I had also chines and software in the Map</a:t>
            </a:r>
          </a:p>
          <a:p>
            <a:r>
              <a:t>received training in 1992 on Collection is to give patrons access</a:t>
            </a:r>
          </a:p>
          <a:p>
            <a:r>
              <a:t>NACISn~</a:t>
            </a:r>
          </a:p>
          <a:p>
            <a:r>
              <a:t>ArcView as part of the ARL/GIS to higher-end mapping tools to [_</a:t>
            </a:r>
          </a:p>
          <a:p>
            <a:r>
              <a:t>Literacy Project, and had been us which they otherwise \-Vould not</a:t>
            </a:r>
          </a:p>
          <a:p>
            <a:r>
              <a:t>ing a stand-alone copy of ArcV iew have had access. The University of</a:t>
            </a:r>
          </a:p>
          <a:p>
            <a:r>
              <a:t>in the Government Publications De Iowa has several true GIS labor~to­</a:t>
            </a:r>
          </a:p>
          <a:p>
            <a:r>
              <a:t>1997-98 NACIS OFFICERS AND</a:t>
            </a:r>
          </a:p>
          <a:p>
            <a:r>
              <a:t>partment. Thus, the Map Collection ries on campus, located in aca</a:t>
            </a:r>
          </a:p>
          <a:p>
            <a:r>
              <a:t>BOARD OF DIRECTORS</a:t>
            </a:r>
          </a:p>
          <a:p>
            <a:r>
              <a:t>began acquiring cast-off CD-ROM demic departments, where students</a:t>
            </a:r>
          </a:p>
          <a:p>
            <a:r>
              <a:t>d ri vcs from other 1i brary depart enrolled in genernl education/ in</a:t>
            </a:r>
          </a:p>
          <a:p>
            <a:r>
              <a:t>NACIS OFFICERS:</a:t>
            </a:r>
          </a:p>
          <a:p>
            <a:r>
              <a:t>ments and some fairly simple CD troductory classes can utilize vari</a:t>
            </a:r>
          </a:p>
          <a:p>
            <a:r>
              <a:t>ROM mapping products (e.g., Map ous GIS software products. When</a:t>
            </a:r>
          </a:p>
          <a:p>
            <a:r>
              <a:t>President: Patricia Gilmartin</a:t>
            </a:r>
          </a:p>
          <a:p>
            <a:r>
              <a:t>Expert, Pro,imity). The Map Collec many of these students finish tak</a:t>
            </a:r>
          </a:p>
          <a:p>
            <a:r>
              <a:t>tion still did not have anv hard ing these types of courses in geogra Department of Geography</a:t>
            </a:r>
          </a:p>
          <a:p>
            <a:r>
              <a:t>ware to run higher end mapping phy, etc., they will not have access University of South Carolina</a:t>
            </a:r>
          </a:p>
          <a:p>
            <a:r>
              <a:t>Columbia, SC 29208</a:t>
            </a:r>
          </a:p>
          <a:p>
            <a:r>
              <a:t>programs, until a series of events to the departmental labs and to</a:t>
            </a:r>
          </a:p>
          <a:p>
            <a:r>
              <a:t>(803)777-2989 fax: (803)777-4972</a:t>
            </a:r>
          </a:p>
          <a:p>
            <a:r>
              <a:t>changed our situation for the better. electronic mapping capabilities in</a:t>
            </a:r>
          </a:p>
          <a:p>
            <a:r>
              <a:t>First, the libr&lt;H\' was "wired" in general. After speaking with profes e-mail: gilmartin-pat@sc.edu</a:t>
            </a:r>
          </a:p>
          <a:p>
            <a:r>
              <a:t>the spring of 1997, enabling Map sors, students, and other librarians Term ex pi res: October 98</a:t>
            </a:r>
          </a:p>
          <a:p>
            <a:r>
              <a:t>Collection machines to access the at ALA and elsewhere, it seemed</a:t>
            </a:r>
          </a:p>
          <a:p>
            <a:r>
              <a:t>outside world. Then with the assis more useful to focus this beginning Vice President: Cynthia Brewer</a:t>
            </a:r>
          </a:p>
          <a:p>
            <a:r>
              <a:t>tance of supportive library adminis service in the Map Collection to Department of Geography</a:t>
            </a:r>
          </a:p>
          <a:p>
            <a:r>
              <a:t>trators, we utiliLed library develop ward those students (and faculty) Pennsylvania State Uni\'ersity</a:t>
            </a:r>
          </a:p>
          <a:p>
            <a:r>
              <a:t>ment funds, money from the library- whose main needs can be met by University Park, PA 16802-5011</a:t>
            </a:r>
          </a:p>
          <a:p>
            <a:r>
              <a:t>92s collection development general mapping programs such as (81-1)863-5072 fax: (814)863-7943</a:t>
            </a:r>
          </a:p>
          <a:p>
            <a:r>
              <a:t>fund, some of my own map collec ArcV iew and Maptitude. email: cbrewer@essc.psu.edu</a:t>
            </a:r>
          </a:p>
          <a:p>
            <a:r>
              <a:t>tion funds, plus" donated CPU Term expires: October 98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60 cartographic perspectives Number 29, Winter 1998</a:t>
            </a:r>
          </a:p>
          <a:p>
            <a:r>
              <a:t>Secretary:JamesO. \!linton Jeremy Crampton (10 /99) NACIS Board Meeting</a:t>
            </a:r>
          </a:p>
          <a:p>
            <a:r>
              <a:t>Map Library Department of Geography January 10, 1998</a:t>
            </a:r>
          </a:p>
          <a:p>
            <a:r>
              <a:t>University of Tennessee George Mason University Lexington, KY</a:t>
            </a:r>
          </a:p>
          <a:p>
            <a:r>
              <a:t>15 Hoskins Fairfax, VA 22030-4444</a:t>
            </a:r>
          </a:p>
          <a:p>
            <a:r>
              <a:t>Knoxville, TN 37996-4066 (703)993-1217 Present: Andrews, Baruth, Brewer,</a:t>
            </a:r>
          </a:p>
          <a:p>
            <a:r>
              <a:t>(423)97-l-4315 fax: (..+23)974-0560 email: jcrampto@gmu.edu Chu, Crampton, Gilmartin, Krejcie,</a:t>
            </a:r>
          </a:p>
          <a:p>
            <a:r>
              <a:t>email: jim-minton@utk.edu Meacham, Minton, Nelson,</a:t>
            </a:r>
          </a:p>
          <a:p>
            <a:r>
              <a:t>Term expires: October 99 Valerie Krejcie (10 I 98) Patterson, Peschel, Peterson, Stoll,</a:t>
            </a:r>
          </a:p>
          <a:p>
            <a:r>
              <a:t>4020 Kirk St. and Thorne.</a:t>
            </a:r>
          </a:p>
          <a:p>
            <a:r>
              <a:t>Treasurer: Sona Andrews Skokie, IL 60076</a:t>
            </a:r>
          </a:p>
          <a:p>
            <a:r>
              <a:t>Univ. of Wisconsin-Milwaukee (847)677-1881 Michael Peterson recognized Pat</a:t>
            </a:r>
          </a:p>
          <a:p>
            <a:r>
              <a:t>P.O. Box 413 email: t-krejcie@nwu.edu Gilmartin as the newly-elected</a:t>
            </a:r>
          </a:p>
          <a:p>
            <a:r>
              <a:t>Milwaukee, WI 53201 President of ACIS and turned</a:t>
            </a:r>
          </a:p>
          <a:p>
            <a:r>
              <a:t>(-ll-1)229-6057 fax: (414)229-2-181 James E. Meacham (10/99) over the meeting to her. Gilmartin</a:t>
            </a:r>
          </a:p>
          <a:p>
            <a:r>
              <a:t>email: sona@csd.uwm.edu Department of Geography called the Board to order and wel</a:t>
            </a:r>
          </a:p>
          <a:p>
            <a:r>
              <a:t>Term expires: October98 1251 L'niversity of Oregon comed the newly-elected officers:</a:t>
            </a:r>
          </a:p>
          <a:p>
            <a:r>
              <a:t>Eugene, OR 97403-1251 Cynthia Brewer (Vice President),</a:t>
            </a:r>
          </a:p>
          <a:p>
            <a:r>
              <a:t>Past-President: Michael Peterson (541 )346-4870 fax: (541 )346-2067 and James Minton (Secretary) and</a:t>
            </a:r>
          </a:p>
          <a:p>
            <a:r>
              <a:t>Dept. of Geography /Geology jmeacham@oregon.uoregon.edu new Board members: Greg Chu,</a:t>
            </a:r>
          </a:p>
          <a:p>
            <a:r>
              <a:t>University of Nebraska-Omaha Elizabeth !'\elson, Jim Meacham,</a:t>
            </a:r>
          </a:p>
          <a:p>
            <a:r>
              <a:t>Omaha, NE 68182 Elizabeth elson (10/99) and Jeremy Crampton. Continuing</a:t>
            </a:r>
          </a:p>
          <a:p>
            <a:r>
              <a:t>(402)554-..+805 fax: (-102)55-l-3518 DepartmentofGeography Board members are: Peterson,</a:t>
            </a:r>
          </a:p>
          <a:p>
            <a:r>
              <a:t>email: geolib@cwis.unomaha.edu San Diego State University Thorne, Patterson, Krejcie, and</a:t>
            </a:r>
          </a:p>
          <a:p>
            <a:r>
              <a:t>Term expires: October98 San Diego, CA 92182-4..+93 Stoll. Sona Andrews continues as</a:t>
            </a:r>
          </a:p>
          <a:p>
            <a:r>
              <a:t>(6 19 )594-8560 Treasurer. Gilmartin also thanked</a:t>
            </a:r>
          </a:p>
          <a:p>
            <a:r>
              <a:t>NACIS EXECUTIVE OFFICERS: email: nelson16@mail.sdsu.edu Peterson for his hard work as im</a:t>
            </a:r>
          </a:p>
          <a:p>
            <a:r>
              <a:t>mediate past President, Craig</a:t>
            </a:r>
          </a:p>
          <a:p>
            <a:r>
              <a:t>Christopher Baruth Thomas Patterson (10/98) Remington for his work as Secre</a:t>
            </a:r>
          </a:p>
          <a:p>
            <a:r>
              <a:t>A GS Collection :\lational Park Service tary and the out-going Board mem</a:t>
            </a:r>
          </a:p>
          <a:p>
            <a:r>
              <a:t>P.O. Box 399 Harpers Ferry Center bers for their service: Jim Anderson,</a:t>
            </a:r>
          </a:p>
          <a:p>
            <a:r>
              <a:t>Milwaukee, WI 53201 P.O. Box 50, Publications Barbara Buttenfield, and Glen</a:t>
            </a:r>
          </a:p>
          <a:p>
            <a:r>
              <a:t>(800)558-8993 fax: (-11-1)229-3624 Harpers Ferry, WV 25425 Pawclski. NACISexecutiveofficers</a:t>
            </a:r>
          </a:p>
          <a:p>
            <a:r>
              <a:t>FAX: (-l14) 229-3624 (304 )535-6020 FAX: (304 )535-6144 are: Sona Andrews, Susan Peschel,</a:t>
            </a:r>
          </a:p>
          <a:p>
            <a:r>
              <a:t>email: cmb@csd.uwm.edu email: t_patterson@nps.gov and Chris Baruth.</a:t>
            </a:r>
          </a:p>
          <a:p>
            <a:r>
              <a:t>Sona Andrews Joseph Stoll (10/98) Cartographic Perspectives</a:t>
            </a:r>
          </a:p>
          <a:p>
            <a:r>
              <a:t>L'niv. of Wisconsin-Milwaukee Dept. of Geog. &amp; Planning CP Editorial Board reported on</a:t>
            </a:r>
          </a:p>
          <a:p>
            <a:r>
              <a:t>P.O. Box 413 University of Akron the progress of searching for a new</a:t>
            </a:r>
          </a:p>
          <a:p>
            <a:r>
              <a:t>\!lilwaukee, WI 53201 306 Carroll Hall editor. They recommended dis</a:t>
            </a:r>
          </a:p>
          <a:p>
            <a:r>
              <a:t>(..+14)229-6057 fax: (414)229-2-181 Akron, OH 44325-5005 banding the three-year rotation. A</a:t>
            </a:r>
          </a:p>
          <a:p>
            <a:r>
              <a:t>email:sona@csd.uwm.edu (330)972-7621 guest editor would be responsible</a:t>
            </a:r>
          </a:p>
          <a:p>
            <a:r>
              <a:t>email: joestoll@uakron.edu for one issue per year. Mike</a:t>
            </a:r>
          </a:p>
          <a:p>
            <a:r>
              <a:t>Susan Peschel Peterson volunteered his name as</a:t>
            </a:r>
          </a:p>
          <a:p>
            <a:r>
              <a:t>AGS Collection, P.O. Box 399 Kathryn Thorne (10/98) editor for a threevearterm effective</a:t>
            </a:r>
          </a:p>
          <a:p>
            <a:r>
              <a:t>Milwaukee, WI 53201 Dept. of Geography &amp; Geology Fall/Winter1998. With Peterson</a:t>
            </a:r>
          </a:p>
          <a:p>
            <a:r>
              <a:t>(800)558-8993 fax: (-114)229-362-l Belknap Hall absent, the Board moved, seconded,</a:t>
            </a:r>
          </a:p>
          <a:p>
            <a:r>
              <a:t>email:sqp@gml.lib.uwm.edu Mansfield University and discussed the appointment.</a:t>
            </a:r>
          </a:p>
          <a:p>
            <a:r>
              <a:t>Mansfield, PA 16901 The vote was unanimous in sup</a:t>
            </a:r>
          </a:p>
          <a:p>
            <a:r>
              <a:t>NACIS BOARD Of DIRECTORS: (717)662-4612 fax: (717)662-4612 port of Peterson to assume the role</a:t>
            </a:r>
          </a:p>
          <a:p>
            <a:r>
              <a:t>email: kthorne@mnsfld.edu of Editor.</a:t>
            </a:r>
          </a:p>
          <a:p>
            <a:r>
              <a:t>Gregory H. Chu (10/99) FurtherCP Ne.,,vs: Jim Ackerman</a:t>
            </a:r>
          </a:p>
          <a:p>
            <a:r>
              <a:t>Dept. of Geog. and Earth Science and Jeremy Crampton have already</a:t>
            </a:r>
          </a:p>
          <a:p>
            <a:r>
              <a:t>Univ. of Wisconsin-La Crosse volunteered tobefutureguestedi</a:t>
            </a:r>
          </a:p>
          <a:p>
            <a:r>
              <a:t>LaCrosse, 'NI 54601 tors. Joanne Perry will assume role</a:t>
            </a:r>
          </a:p>
          <a:p>
            <a:r>
              <a:t>(608)785-6675 fa"&lt;: (608)785-8332 of Book Review Editor with assis</a:t>
            </a:r>
          </a:p>
          <a:p>
            <a:r>
              <a:t>email:chu@mail.uwlax.edu tance. Several names were sug-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cartograpllic perspectives 61</a:t>
            </a:r>
          </a:p>
          <a:p>
            <a:r>
              <a:t>gested for CP Editorial Board. Spring Board Meeting tinuity and e'\perience provided by</a:t>
            </a:r>
          </a:p>
          <a:p>
            <a:r>
              <a:t>Buttenfield offered to send flyers to Peterson noted that the experience Chris, Sona, and Susan form a</a:t>
            </a:r>
          </a:p>
          <a:p>
            <a:r>
              <a:t>encourage contributions to CP. Mo with a telephone conference call for strong infrastructure for ;\IACJS</a:t>
            </a:r>
          </a:p>
          <a:p>
            <a:r>
              <a:t>tion was made, seconded, dis the Board meeting did not work which is invaluable to its officers,</a:t>
            </a:r>
          </a:p>
          <a:p>
            <a:r>
              <a:t>cussed and appron?d by the Board. well. Gilmartin asked for suggested board members, and membership.</a:t>
            </a:r>
          </a:p>
          <a:p>
            <a:r>
              <a:t>It was noted that CP is getting meeting sites. Atlanta, Chicago, Las After a well-attended and infor</a:t>
            </a:r>
          </a:p>
          <a:p>
            <a:r>
              <a:t>very close to the page limits for con Vegas, and Da Il as were offered. mative annual meeting in Lexing</a:t>
            </a:r>
          </a:p>
          <a:p>
            <a:r>
              <a:t>sideration of moving to Perfect Gilmartin will determine best site ton last fall, we are looking forward</a:t>
            </a:r>
          </a:p>
          <a:p>
            <a:r>
              <a:t>Binding. This move \Nould cost an and notify members in early 1998. to getting together again this year in</a:t>
            </a:r>
          </a:p>
          <a:p>
            <a:r>
              <a:t>additional $120.00 for every addi Milwaukee (October 7 -10). Dr.</a:t>
            </a:r>
          </a:p>
          <a:p>
            <a:r>
              <a:t>tional four pages. New Business Cvnthia Brewer is Vice President</a:t>
            </a:r>
          </a:p>
          <a:p>
            <a:r>
              <a:t>Rowles mentioned an idea of giving a~d Program Chair this year. If you</a:t>
            </a:r>
          </a:p>
          <a:p>
            <a:r>
              <a:t>Meeting Site For Year 2000 plaques to students who assist in have questions or suggestions</a:t>
            </a:r>
          </a:p>
          <a:p>
            <a:r>
              <a:t>An open discussion was held the annual conference. She also about the annual conference, you</a:t>
            </a:r>
          </a:p>
          <a:p>
            <a:r>
              <a:t>proposing se,·eral potential sites for noted that AAG meets March 24th- can reach Cindy at</a:t>
            </a:r>
          </a:p>
          <a:p>
            <a:r>
              <a:t>I\ ACIS 2000. Members are encour 29th, 1998. cbrewer@essc.psu.edu (or at the De</a:t>
            </a:r>
          </a:p>
          <a:p>
            <a:r>
              <a:t>aged to propose host institutions partment of Geography, Penn State</a:t>
            </a:r>
          </a:p>
          <a:p>
            <a:r>
              <a:t>and sites and offer them to the Sub111itted, University, University Park, PA</a:t>
            </a:r>
          </a:p>
          <a:p>
            <a:r>
              <a:t>Board for consideration. Submitting f i111 MillfOll 16802). The usual Call for Papers</a:t>
            </a:r>
          </a:p>
          <a:p>
            <a:r>
              <a:t>sites should consider a host depart NACISSccretnry and details of the meeting will be</a:t>
            </a:r>
          </a:p>
          <a:p>
            <a:r>
              <a:t>ment such as geology, geography, mailed out later this spring, but it is</a:t>
            </a:r>
          </a:p>
          <a:p>
            <a:r>
              <a:t>or GIS lab. Other issues to consider not too early to be thinking about</a:t>
            </a:r>
          </a:p>
          <a:p>
            <a:r>
              <a:t>are hotel and air fare costs. Cities attending and participating in the</a:t>
            </a:r>
          </a:p>
          <a:p>
            <a:r>
              <a:t>suggested were: Las Vegas, Cleve fro111 tlic N ACIS Prcside11t meeting.</a:t>
            </a:r>
          </a:p>
          <a:p>
            <a:r>
              <a:t>land, Omaha, Kansas City, Port co11ti1111edfro111pnge1 This year's annual meeting will</a:t>
            </a:r>
          </a:p>
          <a:p>
            <a:r>
              <a:t>land or Eugene, OR, San Diego, be preceded by a full-day sympo</a:t>
            </a:r>
          </a:p>
          <a:p>
            <a:r>
              <a:t>KnoX\'ille, and Saratoga Springs, board. In reality, Mike had been an sium on the topic of "Maps and</a:t>
            </a:r>
          </a:p>
          <a:p>
            <a:r>
              <a:t>l\Y. obvious choice all along, but it just Minds: A History of Cartography in</a:t>
            </a:r>
          </a:p>
          <a:p>
            <a:r>
              <a:t>took a little time to convince him. Geography Education." Organized</a:t>
            </a:r>
          </a:p>
          <a:p>
            <a:r>
              <a:t>Membership Committee Mike has done an outstanding job by James R. Ackerman of the</a:t>
            </a:r>
          </a:p>
          <a:p>
            <a:r>
              <a:t>Issue was rabed concerning "regu for a number of years as chair of the Hermon Dunlap Smith Center for</a:t>
            </a:r>
          </a:p>
          <a:p>
            <a:r>
              <a:t>lar student," "subscription," and editorial board, and I have no doubt the History of Cartography at</a:t>
            </a:r>
          </a:p>
          <a:p>
            <a:r>
              <a:t>"affiliate" memberships. Other is that he will continue his exemplary Chicago's :\lewberry Library, the</a:t>
            </a:r>
          </a:p>
          <a:p>
            <a:r>
              <a:t>sues relating to membership: The work as editor. I would like to symposium will feature si" to eight</a:t>
            </a:r>
          </a:p>
          <a:p>
            <a:r>
              <a:t>establishment of a Bulletin Board thank Mike for accepting this re invited speakers who will examine</a:t>
            </a:r>
          </a:p>
          <a:p>
            <a:r>
              <a:t>(electronic), mailings to GIS, carto sponsibility and to remind every the de\'elopment and use of maps</a:t>
            </a:r>
          </a:p>
          <a:p>
            <a:r>
              <a:t>special interest groups (such as one else that we can make his life in Western education and publica</a:t>
            </a:r>
          </a:p>
          <a:p>
            <a:r>
              <a:t>URJSA). as-editor easier by sending him tions from the sixteenth through the</a:t>
            </a:r>
          </a:p>
          <a:p>
            <a:r>
              <a:t>more good manuscripts to consider twentieth centuries. This sympo</a:t>
            </a:r>
          </a:p>
          <a:p>
            <a:r>
              <a:t>WEB Committee for publication in CP. sium, which has been several years</a:t>
            </a:r>
          </a:p>
          <a:p>
            <a:r>
              <a:t>Jeremy Crampton offered tochaira The next reason I can enjoy serv in the planning, constitutes a rare</a:t>
            </a:r>
          </a:p>
          <a:p>
            <a:r>
              <a:t>Web(\\'\\'W-type)Committee.Such ing as president of \JACIS is the tre opportunity to reflect on the interac</a:t>
            </a:r>
          </a:p>
          <a:p>
            <a:r>
              <a:t>a site would cost about 525 per mendous job done by our E"ecutive tion between cartographic publica</a:t>
            </a:r>
          </a:p>
          <a:p>
            <a:r>
              <a:t>month. Crampton and the Board Officers at CW-Milwaukee: Chris tion and societies' educational pri</a:t>
            </a:r>
          </a:p>
          <a:p>
            <a:r>
              <a:t>will explore this issue further. Baruth, Sona Andrews, and Susan orities. Look for details in the Call</a:t>
            </a:r>
          </a:p>
          <a:p>
            <a:r>
              <a:t>Baruth offered to work '"'·ith the Peschel. ACIS members may get for Papers for the annual meeting</a:t>
            </a:r>
          </a:p>
          <a:p>
            <a:r>
              <a:t>Committee and the possibility of tired of hearing this same refrain and on our website at</a:t>
            </a:r>
          </a:p>
          <a:p>
            <a:r>
              <a:t>moving UWM's "LeMdo" to the from every president, but the reason www.nacis.org.</a:t>
            </a:r>
          </a:p>
          <a:p>
            <a:r>
              <a:t>Web. Parts of the pages could in we sound like a broken record is be Yes, 1998 is a good year to be</a:t>
            </a:r>
          </a:p>
          <a:p>
            <a:r>
              <a:t>clude: NACISorgani1ation/ offic cause these three make the presi president of NACIS, mainly be</a:t>
            </a:r>
          </a:p>
          <a:p>
            <a:r>
              <a:t>er.</a:t>
            </a:r>
          </a:p>
          <a:p>
            <a:r>
              <a:t>ers, annual meetings, parts of dent's job such a ... \veil, ... a~ cause of the admirable support pro</a:t>
            </a:r>
          </a:p>
          <a:p>
            <a:r>
              <a:t>The Boa rd wi 11 re-assess at the sure. They maintain our records vided by current and past officers of</a:t>
            </a:r>
          </a:p>
          <a:p>
            <a:r>
              <a:t>spring meeting. and mailing lists, collect dues, man the organization. I invite you to join</a:t>
            </a:r>
          </a:p>
          <a:p>
            <a:r>
              <a:t>age many of the arrangements for ACIS (if you are not already a</a:t>
            </a:r>
          </a:p>
          <a:p>
            <a:r>
              <a:t>the annual conference, and handle member), renew your membership</a:t>
            </a:r>
          </a:p>
          <a:p>
            <a:r>
              <a:t>innumerable other details. The con- (if you are late with your dues), and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62 cartograpl1ic perspectives Number 29, Winter 1998</a:t>
            </a:r>
          </a:p>
          <a:p>
            <a:r>
              <a:t>participate (if you have been lurk perryj@ccmail.orst.edu. Reviews of Material should be submitted in</a:t>
            </a:r>
          </a:p>
          <a:p>
            <a:r>
              <a:t>ing in the wings). I can assure you maps and mapping software will digital form on 3.5" diskettes. Please</a:t>
            </a:r>
          </a:p>
          <a:p>
            <a:r>
              <a:t>that you will enjoy the results. be solicited by the Editor of CP. Pro send a paper copy along with the</a:t>
            </a:r>
          </a:p>
          <a:p>
            <a:r>
              <a:t>spective reviewers are invited to disk. Text documents processed</a:t>
            </a:r>
          </a:p>
          <a:p>
            <a:r>
              <a:t>Pat Grl111nrti11 contact the Editor directly at with \1acintosh or Windows soft</a:t>
            </a:r>
          </a:p>
          <a:p>
            <a:r>
              <a:t>Presidc11t, NACIS geolib@unomaha.edu. ware, such as WordPerfect or MS</a:t>
            </a:r>
          </a:p>
          <a:p>
            <a:r>
              <a:t>Word, are preferred.</a:t>
            </a:r>
          </a:p>
          <a:p>
            <a:r>
              <a:t>CARTOGRAPHICTECHNIQUES PostScript graphics generated</a:t>
            </a:r>
          </a:p>
          <a:p>
            <a:r>
              <a:t>L Articles that concern all aspects of with Adobe ll/ 11strntor or Mncromcdin</a:t>
            </a:r>
          </a:p>
          <a:p>
            <a:r>
              <a:t>submissions map design and production are so frceHn11d for the Macintosh I Win</a:t>
            </a:r>
          </a:p>
          <a:p>
            <a:r>
              <a:t>licited by the Cartographic Tech dows or Corel Draw for Windows</a:t>
            </a:r>
          </a:p>
          <a:p>
            <a:r>
              <a:t>niques Editor, James E. Yleacham, computersarepreferred, butge</a:t>
            </a:r>
          </a:p>
          <a:p>
            <a:r>
              <a:t>Director, lnfoGraphics Lab, Depart neric PICT or TIFF format graphics</a:t>
            </a:r>
          </a:p>
          <a:p>
            <a:r>
              <a:t>ment of Geography, University of files are usually compatible as well.</a:t>
            </a:r>
          </a:p>
          <a:p>
            <a:r>
              <a:t>The editors of Cnrtogrnp/1ic Per~pcc­ Oregon, Eugene, OR 97403-1251 or EPS format graphics should in</a:t>
            </a:r>
          </a:p>
          <a:p>
            <a:r>
              <a:t>ti7.1e.;; welcome manuscript submis jmeacha m@oregon.uoregon.cd u. clude only the graphic with no fig</a:t>
            </a:r>
          </a:p>
          <a:p>
            <a:r>
              <a:t>sions. Please follow these guide ure caption. Graphics may be sub</a:t>
            </a:r>
          </a:p>
          <a:p>
            <a:r>
              <a:t>lines. MAP LIBRARY BULLETIN mitted on disk, placed on an FTP</a:t>
            </a:r>
          </a:p>
          <a:p>
            <a:r>
              <a:t>BOARD site, or sent to ftpnt.freac.fsu.edu.</a:t>
            </a:r>
          </a:p>
          <a:p>
            <a:r>
              <a:t>FEATURED PAPERS The \1ap Library Bulletin Board Manually produced graphics</a:t>
            </a:r>
          </a:p>
          <a:p>
            <a:r>
              <a:t>Each issue of Cnrtogrnplric Perspl'C Editor, Melissa Lamont, solicits re should be no larger than 11by17</a:t>
            </a:r>
          </a:p>
          <a:p>
            <a:r>
              <a:t>tii.•es includes featured papers, ports on the current status of map inches, designed for scanning at</a:t>
            </a:r>
          </a:p>
          <a:p>
            <a:r>
              <a:t>which are refereed articles report libraries. Submission~ are to be sent 600 dpi resolution (avoid fine</a:t>
            </a:r>
          </a:p>
          <a:p>
            <a:r>
              <a:t>ing original work of interest to directly to Melissa Lamont, Data Li grained tint screens). Continuous</a:t>
            </a:r>
          </a:p>
          <a:p>
            <a:r>
              <a:t>NACIS'sdiversemembcrship. Pa brary, Mclean Laboratory, Woods tone photographs will also be</a:t>
            </a:r>
          </a:p>
          <a:p>
            <a:r>
              <a:t>pers ranging from theoretical to ap Hole Oceanographic Institution, scanned.</a:t>
            </a:r>
          </a:p>
          <a:p>
            <a:r>
              <a:t>plied topics arc welcome. Prospec \.VHOI Mail Stop 8, Woods Hole, Text and graphic files should be</a:t>
            </a:r>
          </a:p>
          <a:p>
            <a:r>
              <a:t>ti\·e authors are encouraged to sub MA 025-13 or mlamont@whoi.edu. sent to: \1 r. Jam es R. Anderson,</a:t>
            </a:r>
          </a:p>
          <a:p>
            <a:r>
              <a:t>mit manuscripts to the Editor. Pa Asst. Editor, FREAC, UCC 2200,</a:t>
            </a:r>
          </a:p>
          <a:p>
            <a:r>
              <a:t>pers may also be solicited by the TECHNICAL GUIDELINES Florida State University, Tallahas</a:t>
            </a:r>
          </a:p>
          <a:p>
            <a:r>
              <a:t>Editor from presenters at the an FOR SUBMISSION see, FL 32306-2641; (850) 644-2883,</a:t>
            </a:r>
          </a:p>
          <a:p>
            <a:r>
              <a:t>nual meeting and from other Literature cited should conform to fax: (850) 644-7360;</a:t>
            </a:r>
          </a:p>
          <a:p>
            <a:r>
              <a:t>sources. Ideas for special issues on the Chicago Manual of Style, 14th email: janderso@mailer.fsu.edu</a:t>
            </a:r>
          </a:p>
          <a:p>
            <a:r>
              <a:t>a single topic arc also encouraged. ed., University of Chicago Press,</a:t>
            </a:r>
          </a:p>
          <a:p>
            <a:r>
              <a:t>Papers should be prepared c'clu Chapter 16, style "B." Examples of</a:t>
            </a:r>
          </a:p>
          <a:p>
            <a:r>
              <a:t>sively for publication in CP, with the correct citation form appear in</a:t>
            </a:r>
          </a:p>
          <a:p>
            <a:r>
              <a:t>no major portion previously pub the feature articles of this issue.</a:t>
            </a:r>
          </a:p>
          <a:p>
            <a:r>
              <a:t>lished elsewhere. All contributions Authors of Featured Papers should Special thanks to the following</a:t>
            </a:r>
          </a:p>
          <a:p>
            <a:r>
              <a:t>will be reviewed by the Editorial submit four printed copies of their individuals who have made</a:t>
            </a:r>
          </a:p>
          <a:p>
            <a:r>
              <a:t>Board, whose members will advise manuscript for review directly to donations to c.artographic Per</a:t>
            </a:r>
          </a:p>
          <a:p>
            <a:r>
              <a:t>the Editor as to \vhethcr a manu Michael Peterson, Editor of Cnrto spectives.</a:t>
            </a:r>
          </a:p>
          <a:p>
            <a:r>
              <a:t>script ic; appropriate for publica grnplric Perspectil'es, Department of</a:t>
            </a:r>
          </a:p>
          <a:p>
            <a:r>
              <a:t>tion. Final publication decisions Geography /Geology, University of Kevin Byrne</a:t>
            </a:r>
          </a:p>
          <a:p>
            <a:r>
              <a:t>rest with the Editor, who reserves Nebraska at Omaha, Omaha, Ne William Gennetti</a:t>
            </a:r>
          </a:p>
          <a:p>
            <a:r>
              <a:t>the right to make editorial changes braska 68182. Manuscripts are re John Hutchinson</a:t>
            </a:r>
          </a:p>
          <a:p>
            <a:r>
              <a:t>to ensure clarity and consistency of viewed by three referees. The Editor E.L. Lanzer</a:t>
            </a:r>
          </a:p>
          <a:p>
            <a:r>
              <a:t>stvle. will contact all authors to notify</a:t>
            </a:r>
          </a:p>
          <a:p>
            <a:r>
              <a:t>Joseph Poracsky</a:t>
            </a:r>
          </a:p>
          <a:p>
            <a:r>
              <a:t>them if their paper has been ac</a:t>
            </a:r>
          </a:p>
          <a:p>
            <a:r>
              <a:t>David Woodward</a:t>
            </a:r>
          </a:p>
          <a:p>
            <a:r>
              <a:t>)</a:t>
            </a:r>
          </a:p>
          <a:p>
            <a:r>
              <a:t>REVIEWS cepted for publication and if revi</a:t>
            </a:r>
          </a:p>
          <a:p>
            <a:r>
              <a:t>The Book Review Editor, Joanne M. sions are necessary prior to publi</a:t>
            </a:r>
          </a:p>
          <a:p>
            <a:r>
              <a:t>Perry, will solicit reviews of books cation. The following technical</a:t>
            </a:r>
          </a:p>
          <a:p>
            <a:r>
              <a:t>and atlases. Publications are to be guidelines should be followed for</a:t>
            </a:r>
          </a:p>
          <a:p>
            <a:r>
              <a:t>sent directly to Joanne M. Perry, all accepted manuscripts (these</a:t>
            </a:r>
          </a:p>
          <a:p>
            <a:r>
              <a:t>Map Librarian, The Valley Library- guidelines also apply to book, map, NEW NACIS WEB SITE</a:t>
            </a:r>
          </a:p>
          <a:p>
            <a:r>
              <a:t>121, Oregon State University, and software reviews).</a:t>
            </a:r>
          </a:p>
          <a:p>
            <a:r>
              <a:t>www.nacis.org __/</a:t>
            </a:r>
          </a:p>
          <a:p>
            <a:r>
              <a:t>Corvallis, Oregon 97331-4501 or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29, Winter 1998 cartographic perspectives 63</a:t>
            </a:r>
          </a:p>
          <a:p>
            <a:r>
              <a:t>NACIS membership form</a:t>
            </a:r>
          </a:p>
          <a:p>
            <a:r>
              <a:t>North American Cartographic Information Society</a:t>
            </a:r>
          </a:p>
          <a:p>
            <a:r>
              <a:t>Sociedad de Informacion Cartografica Norte Americana</a:t>
            </a:r>
          </a:p>
          <a:p>
            <a:r>
              <a:t>Name I Nombre:</a:t>
            </a:r>
          </a:p>
          <a:p>
            <a:r>
              <a:t>Address/ Direcci6n:</a:t>
            </a:r>
          </a:p>
          <a:p>
            <a:r>
              <a:t>Organization I Afiliaci6n profesional:</a:t>
            </a:r>
          </a:p>
          <a:p>
            <a:r>
              <a:t>Your position/ Posici6n:</a:t>
            </a:r>
          </a:p>
          <a:p>
            <a:r>
              <a:t>Ca rto graphic interests I In te reses ca rtog ra ficos:</a:t>
            </a:r>
          </a:p>
          <a:p>
            <a:r>
              <a:t>Professional memberships I Socio de organizaci6n:</a:t>
            </a:r>
          </a:p>
          <a:p>
            <a:r>
              <a:t>Membership Fees for the Calendar Year*/</a:t>
            </a:r>
          </a:p>
          <a:p>
            <a:r>
              <a:t>Valor de n6mina de socios para el afio:</a:t>
            </a:r>
          </a:p>
          <a:p>
            <a:r>
              <a:t>Individual/Regular: $42.00 U.S./E.U.</a:t>
            </a:r>
          </a:p>
          <a:p>
            <a:r>
              <a:t>Students I Estudiantes: $20.00 U.S. IE. U.</a:t>
            </a:r>
          </a:p>
          <a:p>
            <a:r>
              <a:t>Institutional I Miembros institucionales:</a:t>
            </a:r>
          </a:p>
          <a:p>
            <a:r>
              <a:t>$72.00 U.S./E.U.</a:t>
            </a:r>
          </a:p>
          <a:p>
            <a:r>
              <a:t>Make all checks payable to/</a:t>
            </a:r>
          </a:p>
          <a:p>
            <a:r>
              <a:t>Manden sus cheques a:</a:t>
            </a:r>
          </a:p>
          <a:p>
            <a:r>
              <a:t>NACIS</a:t>
            </a:r>
          </a:p>
          <a:p>
            <a:r>
              <a:t>AGS Collection</a:t>
            </a:r>
          </a:p>
          <a:p>
            <a:r>
              <a:t>P.O. Box 399</a:t>
            </a:r>
          </a:p>
          <a:p>
            <a:r>
              <a:t>Milwaukee, Wisconsin 53201</a:t>
            </a:r>
          </a:p>
          <a:p>
            <a:r>
              <a:t>*Membership fees include subscription to Cartograpltic Perspectives.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 - -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North American Cartographic Information Society</a:t>
            </a:r>
          </a:p>
          <a:p>
            <a:r>
              <a:t>(NACIS) was founded in 1980 in response to the need for a multidisciplinary</a:t>
            </a:r>
          </a:p>
          <a:p>
            <a:r>
              <a:t>organization to facilitate communication in the map information commu</a:t>
            </a:r>
          </a:p>
          <a:p>
            <a:r>
              <a:t>nity. Principal objectives of NACIS are:</a:t>
            </a:r>
          </a:p>
          <a:p>
            <a:r>
              <a:t>§ to promote communication, coordination, and cooperation</a:t>
            </a:r>
          </a:p>
          <a:p>
            <a:r>
              <a:t>among the producers, disseminators, curators,</a:t>
            </a:r>
          </a:p>
          <a:p>
            <a:r>
              <a:t>and users of cartographic information;</a:t>
            </a:r>
          </a:p>
          <a:p>
            <a:r>
              <a:t>§ to support and coordinate activities with other professional</a:t>
            </a:r>
          </a:p>
          <a:p>
            <a:r>
              <a:t>organizations and institutions involved with</a:t>
            </a:r>
          </a:p>
          <a:p>
            <a:r>
              <a:t>cartographic information;</a:t>
            </a:r>
          </a:p>
          <a:p>
            <a:r>
              <a:t>§ to improve the use of cartographic materials through</a:t>
            </a:r>
          </a:p>
          <a:p>
            <a:r>
              <a:t>education and to promote graphicacy;</a:t>
            </a:r>
          </a:p>
          <a:p>
            <a:r>
              <a:t>§ to promote and coordinate the acquisition, preservation,</a:t>
            </a:r>
          </a:p>
          <a:p>
            <a:r>
              <a:t>and automated retrieval of all types of cartographic material;</a:t>
            </a:r>
          </a:p>
          <a:p>
            <a:r>
              <a:t>§ to influence government policy</a:t>
            </a:r>
          </a:p>
          <a:p>
            <a:r>
              <a:t>on cartographic information.</a:t>
            </a:r>
          </a:p>
          <a:p>
            <a:r>
              <a:t>NACIS is a professional society open to specialists from private, academic,</a:t>
            </a:r>
          </a:p>
          <a:p>
            <a:r>
              <a:t>and government organizations throughout North America. The society</a:t>
            </a:r>
          </a:p>
          <a:p>
            <a:r>
              <a:t>provides an opportunity for Map Makers, Map Keepers, Map Users, Map</a:t>
            </a:r>
          </a:p>
          <a:p>
            <a:r>
              <a:t>Educators, and Map Distributors to exchange ideas, coordinate activities,</a:t>
            </a:r>
          </a:p>
          <a:p>
            <a:r>
              <a:t>and improve map materials and map use. Cartographic Perspectives, the</a:t>
            </a:r>
          </a:p>
          <a:p>
            <a:r>
              <a:t>organization's Journal, provides a mechanism to facilitate timely dissemina</a:t>
            </a:r>
          </a:p>
          <a:p>
            <a:r>
              <a:t>tion of cartographic information to this diverse constituency. It includes</a:t>
            </a:r>
          </a:p>
          <a:p>
            <a:r>
              <a:t>solicited feature articles, synopses of articles appearing in obscure or non</a:t>
            </a:r>
          </a:p>
          <a:p>
            <a:r>
              <a:t>cartographic publications, software reviews, news features, reports (confer</a:t>
            </a:r>
          </a:p>
          <a:p>
            <a:r>
              <a:t>ences, map exhibits, new map series, government policy, new degree pro</a:t>
            </a:r>
          </a:p>
          <a:p>
            <a:r>
              <a:t>grams, etc.), and listings of published maps and atlases, new computer</a:t>
            </a:r>
          </a:p>
          <a:p>
            <a:r>
              <a:t>software, and software reviews.</a:t>
            </a:r>
          </a:p>
          <a:p>
            <a:r>
              <a:t>FREAC NONPROFIT ORG.</a:t>
            </a:r>
          </a:p>
          <a:p>
            <a:r>
              <a:t>Florida State University U.S. POSTAGE</a:t>
            </a:r>
          </a:p>
          <a:p>
            <a:r>
              <a:t>Tallahassee, FL 32306-2641 PAID</a:t>
            </a:r>
          </a:p>
          <a:p>
            <a:r>
              <a:t>TALLAHASSEE, FL</a:t>
            </a:r>
          </a:p>
          <a:p>
            <a:r>
              <a:t>PERMIT NO. 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